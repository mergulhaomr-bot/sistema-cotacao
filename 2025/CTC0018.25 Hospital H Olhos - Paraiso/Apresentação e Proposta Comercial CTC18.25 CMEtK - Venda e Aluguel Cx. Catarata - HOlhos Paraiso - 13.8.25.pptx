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2" r:id="rId11"/>
  </p:sldIdLst>
  <p:sldSz cx="6858000" cy="9144000" type="screen4x3"/>
  <p:notesSz cx="6858000" cy="9144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43FE87-E04D-40E7-911E-A49A0FD1E2F6}" v="9" dt="2025-04-27T15:39:57.09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0" d="100"/>
          <a:sy n="110" d="100"/>
        </p:scale>
        <p:origin x="4218" y="-8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4350" y="2834640"/>
            <a:ext cx="5829300" cy="192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28700" y="5120640"/>
            <a:ext cx="48006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" dirty="0"/>
              <a:t>CMEtK</a:t>
            </a:r>
            <a:r>
              <a:rPr spc="-35" dirty="0"/>
              <a:t> </a:t>
            </a:r>
            <a:r>
              <a:rPr spc="-10" dirty="0"/>
              <a:t>Soluções</a:t>
            </a:r>
            <a:r>
              <a:rPr spc="-25" dirty="0"/>
              <a:t> </a:t>
            </a:r>
            <a:r>
              <a:rPr spc="-10" dirty="0"/>
              <a:t>Hospitalares</a:t>
            </a:r>
            <a:r>
              <a:rPr spc="-5" dirty="0"/>
              <a:t> </a:t>
            </a:r>
            <a:r>
              <a:rPr spc="-10" dirty="0"/>
              <a:t>Ltda</a:t>
            </a:r>
            <a:r>
              <a:rPr spc="-20" dirty="0"/>
              <a:t> </a:t>
            </a:r>
            <a:r>
              <a:rPr spc="-10" dirty="0"/>
              <a:t>-</a:t>
            </a:r>
            <a:r>
              <a:rPr spc="-30" dirty="0"/>
              <a:t> </a:t>
            </a:r>
            <a:r>
              <a:rPr spc="-10" dirty="0"/>
              <a:t>Confidencial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056379" y="5080000"/>
            <a:ext cx="2801620" cy="121920"/>
          </a:xfrm>
          <a:custGeom>
            <a:avLst/>
            <a:gdLst/>
            <a:ahLst/>
            <a:cxnLst/>
            <a:rect l="l" t="t" r="r" b="b"/>
            <a:pathLst>
              <a:path w="2801620" h="121920">
                <a:moveTo>
                  <a:pt x="2801620" y="0"/>
                </a:moveTo>
                <a:lnTo>
                  <a:pt x="0" y="0"/>
                </a:lnTo>
                <a:lnTo>
                  <a:pt x="0" y="121920"/>
                </a:lnTo>
                <a:lnTo>
                  <a:pt x="2801620" y="121920"/>
                </a:lnTo>
                <a:lnTo>
                  <a:pt x="2801620" y="0"/>
                </a:lnTo>
                <a:close/>
              </a:path>
            </a:pathLst>
          </a:custGeom>
          <a:solidFill>
            <a:srgbClr val="4380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058920" y="5196840"/>
            <a:ext cx="2799080" cy="254000"/>
          </a:xfrm>
          <a:custGeom>
            <a:avLst/>
            <a:gdLst/>
            <a:ahLst/>
            <a:cxnLst/>
            <a:rect l="l" t="t" r="r" b="b"/>
            <a:pathLst>
              <a:path w="2799079" h="254000">
                <a:moveTo>
                  <a:pt x="2799079" y="0"/>
                </a:moveTo>
                <a:lnTo>
                  <a:pt x="0" y="0"/>
                </a:lnTo>
                <a:lnTo>
                  <a:pt x="0" y="254000"/>
                </a:lnTo>
                <a:lnTo>
                  <a:pt x="2799079" y="254000"/>
                </a:lnTo>
                <a:lnTo>
                  <a:pt x="2799079" y="0"/>
                </a:lnTo>
                <a:close/>
              </a:path>
            </a:pathLst>
          </a:custGeom>
          <a:solidFill>
            <a:srgbClr val="438085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058920" y="5486400"/>
            <a:ext cx="2799080" cy="12700"/>
          </a:xfrm>
          <a:custGeom>
            <a:avLst/>
            <a:gdLst/>
            <a:ahLst/>
            <a:cxnLst/>
            <a:rect l="l" t="t" r="r" b="b"/>
            <a:pathLst>
              <a:path w="2799079" h="12700">
                <a:moveTo>
                  <a:pt x="2799079" y="0"/>
                </a:moveTo>
                <a:lnTo>
                  <a:pt x="0" y="0"/>
                </a:lnTo>
                <a:lnTo>
                  <a:pt x="0" y="12700"/>
                </a:lnTo>
                <a:lnTo>
                  <a:pt x="2799079" y="12700"/>
                </a:lnTo>
                <a:lnTo>
                  <a:pt x="2799079" y="0"/>
                </a:lnTo>
                <a:close/>
              </a:path>
            </a:pathLst>
          </a:custGeom>
          <a:solidFill>
            <a:srgbClr val="438085">
              <a:alpha val="650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056380" y="5283200"/>
            <a:ext cx="2674620" cy="180340"/>
          </a:xfrm>
          <a:custGeom>
            <a:avLst/>
            <a:gdLst/>
            <a:ahLst/>
            <a:cxnLst/>
            <a:rect l="l" t="t" r="r" b="b"/>
            <a:pathLst>
              <a:path w="2674620" h="180339">
                <a:moveTo>
                  <a:pt x="2296160" y="2667"/>
                </a:moveTo>
                <a:lnTo>
                  <a:pt x="2293493" y="0"/>
                </a:lnTo>
                <a:lnTo>
                  <a:pt x="2667" y="0"/>
                </a:lnTo>
                <a:lnTo>
                  <a:pt x="0" y="2667"/>
                </a:lnTo>
                <a:lnTo>
                  <a:pt x="0" y="32893"/>
                </a:lnTo>
                <a:lnTo>
                  <a:pt x="2667" y="35560"/>
                </a:lnTo>
                <a:lnTo>
                  <a:pt x="2293493" y="35560"/>
                </a:lnTo>
                <a:lnTo>
                  <a:pt x="2296160" y="32893"/>
                </a:lnTo>
                <a:lnTo>
                  <a:pt x="2296160" y="2667"/>
                </a:lnTo>
                <a:close/>
              </a:path>
              <a:path w="2674620" h="180339">
                <a:moveTo>
                  <a:pt x="2674620" y="133350"/>
                </a:moveTo>
                <a:lnTo>
                  <a:pt x="2670810" y="129540"/>
                </a:lnTo>
                <a:lnTo>
                  <a:pt x="1477010" y="129540"/>
                </a:lnTo>
                <a:lnTo>
                  <a:pt x="1473200" y="133350"/>
                </a:lnTo>
                <a:lnTo>
                  <a:pt x="1473200" y="176530"/>
                </a:lnTo>
                <a:lnTo>
                  <a:pt x="1477010" y="180340"/>
                </a:lnTo>
                <a:lnTo>
                  <a:pt x="2670810" y="180340"/>
                </a:lnTo>
                <a:lnTo>
                  <a:pt x="2674620" y="176530"/>
                </a:lnTo>
                <a:lnTo>
                  <a:pt x="2674620" y="1333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0" y="5087620"/>
            <a:ext cx="6858000" cy="104139"/>
          </a:xfrm>
          <a:custGeom>
            <a:avLst/>
            <a:gdLst/>
            <a:ahLst/>
            <a:cxnLst/>
            <a:rect l="l" t="t" r="r" b="b"/>
            <a:pathLst>
              <a:path w="6858000" h="104139">
                <a:moveTo>
                  <a:pt x="6858000" y="0"/>
                </a:moveTo>
                <a:lnTo>
                  <a:pt x="0" y="0"/>
                </a:lnTo>
                <a:lnTo>
                  <a:pt x="0" y="104139"/>
                </a:lnTo>
                <a:lnTo>
                  <a:pt x="6858000" y="104139"/>
                </a:lnTo>
                <a:lnTo>
                  <a:pt x="6858000" y="0"/>
                </a:lnTo>
                <a:close/>
              </a:path>
            </a:pathLst>
          </a:custGeom>
          <a:solidFill>
            <a:srgbClr val="438085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4935245"/>
            <a:ext cx="6858000" cy="254000"/>
          </a:xfrm>
          <a:custGeom>
            <a:avLst/>
            <a:gdLst/>
            <a:ahLst/>
            <a:cxnLst/>
            <a:rect l="l" t="t" r="r" b="b"/>
            <a:pathLst>
              <a:path w="6858000" h="254000">
                <a:moveTo>
                  <a:pt x="6858000" y="0"/>
                </a:moveTo>
                <a:lnTo>
                  <a:pt x="0" y="0"/>
                </a:lnTo>
                <a:lnTo>
                  <a:pt x="0" y="152400"/>
                </a:lnTo>
                <a:lnTo>
                  <a:pt x="4810760" y="152400"/>
                </a:lnTo>
                <a:lnTo>
                  <a:pt x="4810760" y="254000"/>
                </a:lnTo>
                <a:lnTo>
                  <a:pt x="6858000" y="254000"/>
                </a:lnTo>
                <a:lnTo>
                  <a:pt x="6858000" y="152400"/>
                </a:lnTo>
                <a:lnTo>
                  <a:pt x="6858000" y="0"/>
                </a:lnTo>
                <a:close/>
              </a:path>
            </a:pathLst>
          </a:custGeom>
          <a:solidFill>
            <a:srgbClr val="4380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0" y="0"/>
            <a:ext cx="6858000" cy="4935220"/>
          </a:xfrm>
          <a:custGeom>
            <a:avLst/>
            <a:gdLst/>
            <a:ahLst/>
            <a:cxnLst/>
            <a:rect l="l" t="t" r="r" b="b"/>
            <a:pathLst>
              <a:path w="6858000" h="4935220">
                <a:moveTo>
                  <a:pt x="6858000" y="0"/>
                </a:moveTo>
                <a:lnTo>
                  <a:pt x="0" y="0"/>
                </a:lnTo>
                <a:lnTo>
                  <a:pt x="0" y="4935220"/>
                </a:lnTo>
                <a:lnTo>
                  <a:pt x="6858000" y="4935220"/>
                </a:lnTo>
                <a:lnTo>
                  <a:pt x="6858000" y="0"/>
                </a:lnTo>
                <a:close/>
              </a:path>
            </a:pathLst>
          </a:custGeom>
          <a:solidFill>
            <a:srgbClr val="42445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bg 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4439" y="1833879"/>
            <a:ext cx="4567171" cy="805430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5539" y="3863352"/>
            <a:ext cx="4734810" cy="470139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87879" y="4259592"/>
            <a:ext cx="2850121" cy="470127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4058920" y="5549900"/>
            <a:ext cx="1473200" cy="25400"/>
          </a:xfrm>
          <a:custGeom>
            <a:avLst/>
            <a:gdLst/>
            <a:ahLst/>
            <a:cxnLst/>
            <a:rect l="l" t="t" r="r" b="b"/>
            <a:pathLst>
              <a:path w="1473200" h="25400">
                <a:moveTo>
                  <a:pt x="1473200" y="0"/>
                </a:moveTo>
                <a:lnTo>
                  <a:pt x="0" y="0"/>
                </a:lnTo>
                <a:lnTo>
                  <a:pt x="0" y="25120"/>
                </a:lnTo>
                <a:lnTo>
                  <a:pt x="1473200" y="25120"/>
                </a:lnTo>
                <a:lnTo>
                  <a:pt x="1473200" y="0"/>
                </a:lnTo>
                <a:close/>
              </a:path>
            </a:pathLst>
          </a:custGeom>
          <a:solidFill>
            <a:srgbClr val="438085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058920" y="5595124"/>
            <a:ext cx="1473200" cy="12700"/>
          </a:xfrm>
          <a:custGeom>
            <a:avLst/>
            <a:gdLst/>
            <a:ahLst/>
            <a:cxnLst/>
            <a:rect l="l" t="t" r="r" b="b"/>
            <a:pathLst>
              <a:path w="1473200" h="12700">
                <a:moveTo>
                  <a:pt x="1473200" y="0"/>
                </a:moveTo>
                <a:lnTo>
                  <a:pt x="0" y="0"/>
                </a:lnTo>
                <a:lnTo>
                  <a:pt x="0" y="12560"/>
                </a:lnTo>
                <a:lnTo>
                  <a:pt x="1473200" y="12560"/>
                </a:lnTo>
                <a:lnTo>
                  <a:pt x="1473200" y="0"/>
                </a:lnTo>
                <a:close/>
              </a:path>
            </a:pathLst>
          </a:custGeom>
          <a:solidFill>
            <a:srgbClr val="438085">
              <a:alpha val="650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bg object 2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52805" y="6939280"/>
            <a:ext cx="2725699" cy="1849118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931920" y="7303148"/>
            <a:ext cx="2542942" cy="1247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" dirty="0"/>
              <a:t>CMEtK</a:t>
            </a:r>
            <a:r>
              <a:rPr spc="-35" dirty="0"/>
              <a:t> </a:t>
            </a:r>
            <a:r>
              <a:rPr spc="-10" dirty="0"/>
              <a:t>Soluções</a:t>
            </a:r>
            <a:r>
              <a:rPr spc="-25" dirty="0"/>
              <a:t> </a:t>
            </a:r>
            <a:r>
              <a:rPr spc="-10" dirty="0"/>
              <a:t>Hospitalares</a:t>
            </a:r>
            <a:r>
              <a:rPr spc="-5" dirty="0"/>
              <a:t> </a:t>
            </a:r>
            <a:r>
              <a:rPr spc="-10" dirty="0"/>
              <a:t>Ltda</a:t>
            </a:r>
            <a:r>
              <a:rPr spc="-20" dirty="0"/>
              <a:t> </a:t>
            </a:r>
            <a:r>
              <a:rPr spc="-10" dirty="0"/>
              <a:t>-</a:t>
            </a:r>
            <a:r>
              <a:rPr spc="-30" dirty="0"/>
              <a:t> </a:t>
            </a:r>
            <a:r>
              <a:rPr spc="-10" dirty="0"/>
              <a:t>Confidencial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42900" y="2103120"/>
            <a:ext cx="298323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531870" y="2103120"/>
            <a:ext cx="298323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" dirty="0"/>
              <a:t>CMEtK</a:t>
            </a:r>
            <a:r>
              <a:rPr spc="-35" dirty="0"/>
              <a:t> </a:t>
            </a:r>
            <a:r>
              <a:rPr spc="-10" dirty="0"/>
              <a:t>Soluções</a:t>
            </a:r>
            <a:r>
              <a:rPr spc="-25" dirty="0"/>
              <a:t> </a:t>
            </a:r>
            <a:r>
              <a:rPr spc="-10" dirty="0"/>
              <a:t>Hospitalares</a:t>
            </a:r>
            <a:r>
              <a:rPr spc="-5" dirty="0"/>
              <a:t> </a:t>
            </a:r>
            <a:r>
              <a:rPr spc="-10" dirty="0"/>
              <a:t>Ltda</a:t>
            </a:r>
            <a:r>
              <a:rPr spc="-20" dirty="0"/>
              <a:t> </a:t>
            </a:r>
            <a:r>
              <a:rPr spc="-10" dirty="0"/>
              <a:t>-</a:t>
            </a:r>
            <a:r>
              <a:rPr spc="-30" dirty="0"/>
              <a:t> </a:t>
            </a:r>
            <a:r>
              <a:rPr spc="-10" dirty="0"/>
              <a:t>Confidencial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" dirty="0"/>
              <a:t>CMEtK</a:t>
            </a:r>
            <a:r>
              <a:rPr spc="-35" dirty="0"/>
              <a:t> </a:t>
            </a:r>
            <a:r>
              <a:rPr spc="-10" dirty="0"/>
              <a:t>Soluções</a:t>
            </a:r>
            <a:r>
              <a:rPr spc="-25" dirty="0"/>
              <a:t> </a:t>
            </a:r>
            <a:r>
              <a:rPr spc="-10" dirty="0"/>
              <a:t>Hospitalares</a:t>
            </a:r>
            <a:r>
              <a:rPr spc="-5" dirty="0"/>
              <a:t> </a:t>
            </a:r>
            <a:r>
              <a:rPr spc="-10" dirty="0"/>
              <a:t>Ltda</a:t>
            </a:r>
            <a:r>
              <a:rPr spc="-20" dirty="0"/>
              <a:t> </a:t>
            </a:r>
            <a:r>
              <a:rPr spc="-10" dirty="0"/>
              <a:t>-</a:t>
            </a:r>
            <a:r>
              <a:rPr spc="-30" dirty="0"/>
              <a:t> </a:t>
            </a:r>
            <a:r>
              <a:rPr spc="-10" dirty="0"/>
              <a:t>Confidencial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" dirty="0"/>
              <a:t>CMEtK</a:t>
            </a:r>
            <a:r>
              <a:rPr spc="-35" dirty="0"/>
              <a:t> </a:t>
            </a:r>
            <a:r>
              <a:rPr spc="-10" dirty="0"/>
              <a:t>Soluções</a:t>
            </a:r>
            <a:r>
              <a:rPr spc="-25" dirty="0"/>
              <a:t> </a:t>
            </a:r>
            <a:r>
              <a:rPr spc="-10" dirty="0"/>
              <a:t>Hospitalares</a:t>
            </a:r>
            <a:r>
              <a:rPr spc="-5" dirty="0"/>
              <a:t> </a:t>
            </a:r>
            <a:r>
              <a:rPr spc="-10" dirty="0"/>
              <a:t>Ltda</a:t>
            </a:r>
            <a:r>
              <a:rPr spc="-20" dirty="0"/>
              <a:t> </a:t>
            </a:r>
            <a:r>
              <a:rPr spc="-10" dirty="0"/>
              <a:t>-</a:t>
            </a:r>
            <a:r>
              <a:rPr spc="-30" dirty="0"/>
              <a:t> </a:t>
            </a:r>
            <a:r>
              <a:rPr spc="-10" dirty="0"/>
              <a:t>Confidencial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32980"/>
            <a:ext cx="4056379" cy="68580"/>
          </a:xfrm>
          <a:custGeom>
            <a:avLst/>
            <a:gdLst/>
            <a:ahLst/>
            <a:cxnLst/>
            <a:rect l="l" t="t" r="r" b="b"/>
            <a:pathLst>
              <a:path w="4056379" h="68579">
                <a:moveTo>
                  <a:pt x="4056379" y="0"/>
                </a:moveTo>
                <a:lnTo>
                  <a:pt x="0" y="0"/>
                </a:lnTo>
                <a:lnTo>
                  <a:pt x="0" y="68529"/>
                </a:lnTo>
                <a:lnTo>
                  <a:pt x="4056379" y="68529"/>
                </a:lnTo>
                <a:lnTo>
                  <a:pt x="4056379" y="0"/>
                </a:lnTo>
                <a:close/>
              </a:path>
            </a:pathLst>
          </a:custGeom>
          <a:solidFill>
            <a:srgbClr val="438085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6858000" cy="414020"/>
          </a:xfrm>
          <a:custGeom>
            <a:avLst/>
            <a:gdLst/>
            <a:ahLst/>
            <a:cxnLst/>
            <a:rect l="l" t="t" r="r" b="b"/>
            <a:pathLst>
              <a:path w="6858000" h="414020">
                <a:moveTo>
                  <a:pt x="6858000" y="0"/>
                </a:moveTo>
                <a:lnTo>
                  <a:pt x="0" y="0"/>
                </a:lnTo>
                <a:lnTo>
                  <a:pt x="0" y="413715"/>
                </a:lnTo>
                <a:lnTo>
                  <a:pt x="6858000" y="413715"/>
                </a:lnTo>
                <a:lnTo>
                  <a:pt x="6858000" y="0"/>
                </a:lnTo>
                <a:close/>
              </a:path>
            </a:pathLst>
          </a:custGeom>
          <a:solidFill>
            <a:srgbClr val="4244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411174"/>
            <a:ext cx="6858000" cy="190500"/>
          </a:xfrm>
          <a:custGeom>
            <a:avLst/>
            <a:gdLst/>
            <a:ahLst/>
            <a:cxnLst/>
            <a:rect l="l" t="t" r="r" b="b"/>
            <a:pathLst>
              <a:path w="6858000" h="190500">
                <a:moveTo>
                  <a:pt x="6858000" y="0"/>
                </a:moveTo>
                <a:lnTo>
                  <a:pt x="0" y="0"/>
                </a:lnTo>
                <a:lnTo>
                  <a:pt x="0" y="121920"/>
                </a:lnTo>
                <a:lnTo>
                  <a:pt x="4056380" y="121920"/>
                </a:lnTo>
                <a:lnTo>
                  <a:pt x="4056380" y="190500"/>
                </a:lnTo>
                <a:lnTo>
                  <a:pt x="6858000" y="190500"/>
                </a:lnTo>
                <a:lnTo>
                  <a:pt x="6858000" y="121920"/>
                </a:lnTo>
                <a:lnTo>
                  <a:pt x="6858000" y="0"/>
                </a:lnTo>
                <a:close/>
              </a:path>
            </a:pathLst>
          </a:custGeom>
          <a:solidFill>
            <a:srgbClr val="4380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058920" y="586295"/>
            <a:ext cx="2799080" cy="241300"/>
          </a:xfrm>
          <a:custGeom>
            <a:avLst/>
            <a:gdLst/>
            <a:ahLst/>
            <a:cxnLst/>
            <a:rect l="l" t="t" r="r" b="b"/>
            <a:pathLst>
              <a:path w="2799079" h="241300">
                <a:moveTo>
                  <a:pt x="2799079" y="0"/>
                </a:moveTo>
                <a:lnTo>
                  <a:pt x="0" y="0"/>
                </a:lnTo>
                <a:lnTo>
                  <a:pt x="0" y="241122"/>
                </a:lnTo>
                <a:lnTo>
                  <a:pt x="2799079" y="241122"/>
                </a:lnTo>
                <a:lnTo>
                  <a:pt x="2799079" y="0"/>
                </a:lnTo>
                <a:close/>
              </a:path>
            </a:pathLst>
          </a:custGeom>
          <a:solidFill>
            <a:srgbClr val="438085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4056380" y="662444"/>
            <a:ext cx="2674620" cy="170180"/>
          </a:xfrm>
          <a:custGeom>
            <a:avLst/>
            <a:gdLst/>
            <a:ahLst/>
            <a:cxnLst/>
            <a:rect l="l" t="t" r="r" b="b"/>
            <a:pathLst>
              <a:path w="2674620" h="170180">
                <a:moveTo>
                  <a:pt x="2296160" y="2794"/>
                </a:moveTo>
                <a:lnTo>
                  <a:pt x="2293366" y="0"/>
                </a:lnTo>
                <a:lnTo>
                  <a:pt x="2794" y="0"/>
                </a:lnTo>
                <a:lnTo>
                  <a:pt x="0" y="2794"/>
                </a:lnTo>
                <a:lnTo>
                  <a:pt x="0" y="35280"/>
                </a:lnTo>
                <a:lnTo>
                  <a:pt x="2794" y="38074"/>
                </a:lnTo>
                <a:lnTo>
                  <a:pt x="2293366" y="38074"/>
                </a:lnTo>
                <a:lnTo>
                  <a:pt x="2296160" y="35280"/>
                </a:lnTo>
                <a:lnTo>
                  <a:pt x="2296160" y="2794"/>
                </a:lnTo>
                <a:close/>
              </a:path>
              <a:path w="2674620" h="170180">
                <a:moveTo>
                  <a:pt x="2674620" y="125374"/>
                </a:moveTo>
                <a:lnTo>
                  <a:pt x="2671064" y="121818"/>
                </a:lnTo>
                <a:lnTo>
                  <a:pt x="1476756" y="121818"/>
                </a:lnTo>
                <a:lnTo>
                  <a:pt x="1473200" y="125374"/>
                </a:lnTo>
                <a:lnTo>
                  <a:pt x="1473200" y="166497"/>
                </a:lnTo>
                <a:lnTo>
                  <a:pt x="1476756" y="170040"/>
                </a:lnTo>
                <a:lnTo>
                  <a:pt x="2671064" y="170040"/>
                </a:lnTo>
                <a:lnTo>
                  <a:pt x="2674620" y="166497"/>
                </a:lnTo>
                <a:lnTo>
                  <a:pt x="2674620" y="1253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6814819" y="0"/>
            <a:ext cx="43180" cy="824865"/>
          </a:xfrm>
          <a:custGeom>
            <a:avLst/>
            <a:gdLst/>
            <a:ahLst/>
            <a:cxnLst/>
            <a:rect l="l" t="t" r="r" b="b"/>
            <a:pathLst>
              <a:path w="43179" h="824865">
                <a:moveTo>
                  <a:pt x="43179" y="0"/>
                </a:moveTo>
                <a:lnTo>
                  <a:pt x="0" y="0"/>
                </a:lnTo>
                <a:lnTo>
                  <a:pt x="0" y="824865"/>
                </a:lnTo>
                <a:lnTo>
                  <a:pt x="43179" y="824865"/>
                </a:lnTo>
                <a:lnTo>
                  <a:pt x="43179" y="0"/>
                </a:lnTo>
                <a:close/>
              </a:path>
            </a:pathLst>
          </a:custGeom>
          <a:solidFill>
            <a:srgbClr val="FFFFFF">
              <a:alpha val="650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6769100" y="0"/>
            <a:ext cx="7620" cy="824865"/>
          </a:xfrm>
          <a:custGeom>
            <a:avLst/>
            <a:gdLst/>
            <a:ahLst/>
            <a:cxnLst/>
            <a:rect l="l" t="t" r="r" b="b"/>
            <a:pathLst>
              <a:path w="7620" h="824865">
                <a:moveTo>
                  <a:pt x="7620" y="0"/>
                </a:moveTo>
                <a:lnTo>
                  <a:pt x="0" y="0"/>
                </a:lnTo>
                <a:lnTo>
                  <a:pt x="0" y="824865"/>
                </a:lnTo>
                <a:lnTo>
                  <a:pt x="7620" y="824865"/>
                </a:lnTo>
                <a:lnTo>
                  <a:pt x="7620" y="0"/>
                </a:lnTo>
                <a:close/>
              </a:path>
            </a:pathLst>
          </a:custGeom>
          <a:solidFill>
            <a:srgbClr val="FFFFFF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6731000" y="0"/>
            <a:ext cx="20320" cy="824865"/>
          </a:xfrm>
          <a:custGeom>
            <a:avLst/>
            <a:gdLst/>
            <a:ahLst/>
            <a:cxnLst/>
            <a:rect l="l" t="t" r="r" b="b"/>
            <a:pathLst>
              <a:path w="20320" h="824865">
                <a:moveTo>
                  <a:pt x="20320" y="0"/>
                </a:moveTo>
                <a:lnTo>
                  <a:pt x="0" y="0"/>
                </a:lnTo>
                <a:lnTo>
                  <a:pt x="0" y="824865"/>
                </a:lnTo>
                <a:lnTo>
                  <a:pt x="20320" y="824865"/>
                </a:lnTo>
                <a:lnTo>
                  <a:pt x="20320" y="0"/>
                </a:lnTo>
                <a:close/>
              </a:path>
            </a:pathLst>
          </a:custGeom>
          <a:solidFill>
            <a:srgbClr val="FFFF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6654800" y="0"/>
            <a:ext cx="7620" cy="779780"/>
          </a:xfrm>
          <a:custGeom>
            <a:avLst/>
            <a:gdLst/>
            <a:ahLst/>
            <a:cxnLst/>
            <a:rect l="l" t="t" r="r" b="b"/>
            <a:pathLst>
              <a:path w="7620" h="779780">
                <a:moveTo>
                  <a:pt x="7620" y="0"/>
                </a:moveTo>
                <a:lnTo>
                  <a:pt x="0" y="0"/>
                </a:lnTo>
                <a:lnTo>
                  <a:pt x="0" y="779183"/>
                </a:lnTo>
                <a:lnTo>
                  <a:pt x="7620" y="779183"/>
                </a:lnTo>
                <a:lnTo>
                  <a:pt x="7620" y="0"/>
                </a:lnTo>
                <a:close/>
              </a:path>
            </a:pathLst>
          </a:custGeom>
          <a:solidFill>
            <a:srgbClr val="FFFFFF">
              <a:alpha val="3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73250" y="1930552"/>
            <a:ext cx="4070350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2900" y="2103120"/>
            <a:ext cx="617220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080260" y="8905622"/>
            <a:ext cx="2764790" cy="170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" dirty="0"/>
              <a:t>CMEtK</a:t>
            </a:r>
            <a:r>
              <a:rPr spc="-35" dirty="0"/>
              <a:t> </a:t>
            </a:r>
            <a:r>
              <a:rPr spc="-10" dirty="0"/>
              <a:t>Soluções</a:t>
            </a:r>
            <a:r>
              <a:rPr spc="-25" dirty="0"/>
              <a:t> </a:t>
            </a:r>
            <a:r>
              <a:rPr spc="-10" dirty="0"/>
              <a:t>Hospitalares</a:t>
            </a:r>
            <a:r>
              <a:rPr spc="-5" dirty="0"/>
              <a:t> </a:t>
            </a:r>
            <a:r>
              <a:rPr spc="-10" dirty="0"/>
              <a:t>Ltda</a:t>
            </a:r>
            <a:r>
              <a:rPr spc="-20" dirty="0"/>
              <a:t> </a:t>
            </a:r>
            <a:r>
              <a:rPr spc="-10" dirty="0"/>
              <a:t>-</a:t>
            </a:r>
            <a:r>
              <a:rPr spc="-30" dirty="0"/>
              <a:t> </a:t>
            </a:r>
            <a:r>
              <a:rPr spc="-10" dirty="0"/>
              <a:t>Confidencial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42900" y="8503920"/>
            <a:ext cx="157734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937760" y="8503920"/>
            <a:ext cx="157734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1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mailto:mmergulhao@cmetk.com.br" TargetMode="Externa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hyperlink" Target="mailto:vinicius@cmetk.com.b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73250" y="1930552"/>
            <a:ext cx="4070350" cy="22903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spc="-10" dirty="0"/>
              <a:t>Apresentação</a:t>
            </a:r>
            <a:r>
              <a:rPr spc="-145" dirty="0"/>
              <a:t> </a:t>
            </a:r>
            <a:r>
              <a:rPr dirty="0"/>
              <a:t>da</a:t>
            </a:r>
            <a:r>
              <a:rPr spc="-130" dirty="0"/>
              <a:t> </a:t>
            </a:r>
            <a:r>
              <a:rPr spc="-10" dirty="0" err="1"/>
              <a:t>Empresa</a:t>
            </a:r>
            <a:br>
              <a:rPr lang="pt-BR" spc="-10" dirty="0"/>
            </a:br>
            <a:br>
              <a:rPr lang="pt-BR" spc="-10" dirty="0"/>
            </a:br>
            <a:r>
              <a:rPr lang="pt-BR" spc="-10" dirty="0"/>
              <a:t>e </a:t>
            </a:r>
            <a:r>
              <a:rPr lang="pt-BR" dirty="0"/>
              <a:t>Proposta Comercial</a:t>
            </a:r>
            <a:br>
              <a:rPr lang="pt-BR" dirty="0"/>
            </a:br>
            <a:br>
              <a:rPr lang="pt-BR" sz="1800" dirty="0"/>
            </a:br>
            <a:r>
              <a:rPr lang="pt-BR" sz="1800" dirty="0"/>
              <a:t>H Olhos  Paraiso  SP</a:t>
            </a:r>
            <a:br>
              <a:rPr lang="pt-BR" dirty="0"/>
            </a:br>
            <a:endParaRPr spc="-10"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" dirty="0"/>
              <a:t>CMEtK</a:t>
            </a:r>
            <a:r>
              <a:rPr spc="-35" dirty="0"/>
              <a:t> </a:t>
            </a:r>
            <a:r>
              <a:rPr spc="-10" dirty="0"/>
              <a:t>Soluções</a:t>
            </a:r>
            <a:r>
              <a:rPr spc="-25" dirty="0"/>
              <a:t> </a:t>
            </a:r>
            <a:r>
              <a:rPr spc="-10" dirty="0"/>
              <a:t>Hospitalares</a:t>
            </a:r>
            <a:r>
              <a:rPr spc="-5" dirty="0"/>
              <a:t> </a:t>
            </a:r>
            <a:r>
              <a:rPr spc="-10" dirty="0"/>
              <a:t>Ltda</a:t>
            </a:r>
            <a:r>
              <a:rPr spc="-20" dirty="0"/>
              <a:t> </a:t>
            </a:r>
            <a:r>
              <a:rPr spc="-10" dirty="0"/>
              <a:t>-</a:t>
            </a:r>
            <a:r>
              <a:rPr spc="-30" dirty="0"/>
              <a:t> </a:t>
            </a:r>
            <a:r>
              <a:rPr spc="-10" dirty="0"/>
              <a:t>Confidencial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80160" y="3962400"/>
            <a:ext cx="4434840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pt-BR" sz="1600" i="1" spc="-10" dirty="0">
                <a:solidFill>
                  <a:srgbClr val="FFFFFF"/>
                </a:solidFill>
                <a:latin typeface="Georgia"/>
                <a:cs typeface="Georgia"/>
              </a:rPr>
              <a:t>Acreditamos</a:t>
            </a:r>
            <a:r>
              <a:rPr lang="pt-BR" sz="1600" i="1" spc="-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pt-BR" sz="1600" i="1" dirty="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r>
              <a:rPr lang="pt-BR" sz="1600" i="1" spc="-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pt-BR" sz="1600" i="1" spc="-10" dirty="0">
                <a:solidFill>
                  <a:srgbClr val="FFFFFF"/>
                </a:solidFill>
                <a:latin typeface="Georgia"/>
                <a:cs typeface="Georgia"/>
              </a:rPr>
              <a:t>trabalhamos</a:t>
            </a:r>
            <a:r>
              <a:rPr lang="pt-BR" sz="1600" i="1" spc="-8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pt-BR" sz="1600" i="1" spc="-10" dirty="0">
                <a:solidFill>
                  <a:srgbClr val="FFFFFF"/>
                </a:solidFill>
                <a:latin typeface="Georgia"/>
                <a:cs typeface="Georgia"/>
              </a:rPr>
              <a:t>focados</a:t>
            </a:r>
            <a:r>
              <a:rPr lang="pt-BR" sz="1600" i="1" spc="-3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pt-BR" sz="1600" i="1" spc="-20" dirty="0">
                <a:solidFill>
                  <a:srgbClr val="FFFFFF"/>
                </a:solidFill>
                <a:latin typeface="Georgia"/>
                <a:cs typeface="Georgia"/>
              </a:rPr>
              <a:t>no</a:t>
            </a:r>
            <a:r>
              <a:rPr lang="pt-BR" sz="1600" i="1" spc="-7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pt-BR" sz="1600" i="1" spc="-10" dirty="0">
                <a:solidFill>
                  <a:srgbClr val="FFFFFF"/>
                </a:solidFill>
                <a:latin typeface="Georgia"/>
                <a:cs typeface="Georgia"/>
              </a:rPr>
              <a:t>FUTURO</a:t>
            </a:r>
            <a:endParaRPr lang="pt-BR" sz="1600" dirty="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1180"/>
              </a:spcBef>
            </a:pPr>
            <a:r>
              <a:rPr lang="pt-BR" sz="1600" i="1" dirty="0">
                <a:solidFill>
                  <a:srgbClr val="FFFFFF"/>
                </a:solidFill>
                <a:latin typeface="Georgia"/>
                <a:cs typeface="Georgia"/>
              </a:rPr>
              <a:t>Das</a:t>
            </a:r>
            <a:r>
              <a:rPr lang="pt-BR" sz="1600" i="1" spc="-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pt-BR" sz="1600" i="1" dirty="0">
                <a:solidFill>
                  <a:srgbClr val="FFFFFF"/>
                </a:solidFill>
                <a:latin typeface="Georgia"/>
                <a:cs typeface="Georgia"/>
              </a:rPr>
              <a:t>CME</a:t>
            </a:r>
            <a:r>
              <a:rPr lang="pt-BR" sz="1600" i="1" spc="-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pt-BR" sz="1600" i="1" dirty="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r>
              <a:rPr lang="pt-BR" sz="1600" i="1" spc="-3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pt-BR" sz="1600" i="1" dirty="0">
                <a:solidFill>
                  <a:srgbClr val="FFFFFF"/>
                </a:solidFill>
                <a:latin typeface="Georgia"/>
                <a:cs typeface="Georgia"/>
              </a:rPr>
              <a:t>Bloco</a:t>
            </a:r>
            <a:r>
              <a:rPr lang="pt-BR" sz="1600" i="1" spc="-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pt-BR" sz="1600" i="1" spc="-10" dirty="0">
                <a:solidFill>
                  <a:srgbClr val="FFFFFF"/>
                </a:solidFill>
                <a:latin typeface="Georgia"/>
                <a:cs typeface="Georgia"/>
              </a:rPr>
              <a:t>Cirúrgicos</a:t>
            </a:r>
            <a:endParaRPr lang="pt-BR" sz="1600" dirty="0">
              <a:latin typeface="Georgia"/>
              <a:cs typeface="Georgia"/>
            </a:endParaRPr>
          </a:p>
        </p:txBody>
      </p:sp>
      <p:pic>
        <p:nvPicPr>
          <p:cNvPr id="6" name="Imagem 5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CDA27BDC-E5DB-3702-0E9A-ABFE6143C7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6118709"/>
            <a:ext cx="2764790" cy="27647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11480" y="962659"/>
            <a:ext cx="2276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2B475E"/>
                </a:solidFill>
                <a:latin typeface="Trebuchet MS"/>
                <a:cs typeface="Trebuchet MS"/>
              </a:rPr>
              <a:t>Apresentação</a:t>
            </a:r>
            <a:r>
              <a:rPr sz="1200" b="1" spc="5" dirty="0">
                <a:solidFill>
                  <a:srgbClr val="2B475E"/>
                </a:solidFill>
                <a:latin typeface="Trebuchet MS"/>
                <a:cs typeface="Trebuchet MS"/>
              </a:rPr>
              <a:t> </a:t>
            </a:r>
            <a:r>
              <a:rPr sz="1200" b="1" spc="-20" dirty="0" err="1">
                <a:solidFill>
                  <a:srgbClr val="2B475E"/>
                </a:solidFill>
                <a:latin typeface="Trebuchet MS"/>
                <a:cs typeface="Trebuchet MS"/>
              </a:rPr>
              <a:t>Institucional</a:t>
            </a:r>
            <a:r>
              <a:rPr sz="1200" b="1" spc="35" dirty="0">
                <a:solidFill>
                  <a:srgbClr val="2B475E"/>
                </a:solidFill>
                <a:latin typeface="Trebuchet MS"/>
                <a:cs typeface="Trebuchet MS"/>
              </a:rPr>
              <a:t> </a:t>
            </a:r>
            <a:r>
              <a:rPr sz="1200" b="1" spc="-20" dirty="0">
                <a:solidFill>
                  <a:srgbClr val="2B475E"/>
                </a:solidFill>
                <a:latin typeface="Trebuchet MS"/>
                <a:cs typeface="Trebuchet MS"/>
              </a:rPr>
              <a:t>202</a:t>
            </a:r>
            <a:r>
              <a:rPr lang="pt-BR" sz="1200" b="1" spc="-20" dirty="0">
                <a:solidFill>
                  <a:srgbClr val="2B475E"/>
                </a:solidFill>
                <a:latin typeface="Trebuchet MS"/>
                <a:cs typeface="Trebuchet MS"/>
              </a:rPr>
              <a:t>5</a:t>
            </a:r>
            <a:r>
              <a:rPr sz="1200" b="1" spc="-20" dirty="0">
                <a:solidFill>
                  <a:srgbClr val="2B475E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2B475E"/>
                </a:solidFill>
                <a:latin typeface="Trebuchet MS"/>
                <a:cs typeface="Trebuchet MS"/>
              </a:rPr>
              <a:t>CMEtK</a:t>
            </a:r>
            <a:r>
              <a:rPr sz="1200" b="1" spc="-20" dirty="0">
                <a:solidFill>
                  <a:srgbClr val="2B475E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2B475E"/>
                </a:solidFill>
                <a:latin typeface="Trebuchet MS"/>
                <a:cs typeface="Trebuchet MS"/>
              </a:rPr>
              <a:t>Soluções</a:t>
            </a:r>
            <a:r>
              <a:rPr sz="1200" b="1" spc="-10" dirty="0">
                <a:solidFill>
                  <a:srgbClr val="2B475E"/>
                </a:solidFill>
                <a:latin typeface="Trebuchet MS"/>
                <a:cs typeface="Trebuchet MS"/>
              </a:rPr>
              <a:t> Hospitalares</a:t>
            </a:r>
            <a:endParaRPr sz="1200" dirty="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525" y="6988175"/>
            <a:ext cx="2538463" cy="14281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11480" y="1536700"/>
            <a:ext cx="1880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24453"/>
                </a:solidFill>
                <a:latin typeface="Georgia"/>
                <a:cs typeface="Georgia"/>
              </a:rPr>
              <a:t>Valores</a:t>
            </a:r>
            <a:r>
              <a:rPr sz="1800" spc="-65" dirty="0">
                <a:solidFill>
                  <a:srgbClr val="424453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424453"/>
                </a:solidFill>
                <a:latin typeface="Georgia"/>
                <a:cs typeface="Georgia"/>
              </a:rPr>
              <a:t>da </a:t>
            </a:r>
            <a:r>
              <a:rPr sz="1800" spc="-10" dirty="0">
                <a:solidFill>
                  <a:srgbClr val="424453"/>
                </a:solidFill>
                <a:latin typeface="Georgia"/>
                <a:cs typeface="Georgia"/>
              </a:rPr>
              <a:t>CMEtK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9478" y="2527300"/>
            <a:ext cx="5978525" cy="3754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eorgia"/>
                <a:cs typeface="Georgia"/>
              </a:rPr>
              <a:t>Em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2010</a:t>
            </a:r>
            <a:r>
              <a:rPr sz="1200" spc="195" dirty="0">
                <a:latin typeface="Georgia"/>
                <a:cs typeface="Georgia"/>
              </a:rPr>
              <a:t> </a:t>
            </a:r>
            <a:r>
              <a:rPr sz="1200" spc="-10" dirty="0">
                <a:latin typeface="Georgia"/>
                <a:cs typeface="Georgia"/>
              </a:rPr>
              <a:t>nascia</a:t>
            </a:r>
            <a:r>
              <a:rPr sz="1200" spc="-6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a</a:t>
            </a:r>
            <a:r>
              <a:rPr sz="1200" spc="-2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empresa</a:t>
            </a:r>
            <a:r>
              <a:rPr sz="1200" spc="190" dirty="0">
                <a:latin typeface="Georgia"/>
                <a:cs typeface="Georgia"/>
              </a:rPr>
              <a:t> </a:t>
            </a:r>
            <a:r>
              <a:rPr sz="1200" b="1" dirty="0">
                <a:latin typeface="Georgia"/>
                <a:cs typeface="Georgia"/>
              </a:rPr>
              <a:t>CMEtK</a:t>
            </a:r>
            <a:r>
              <a:rPr sz="1200" b="1" spc="175" dirty="0">
                <a:latin typeface="Georgia"/>
                <a:cs typeface="Georgia"/>
              </a:rPr>
              <a:t> </a:t>
            </a:r>
            <a:r>
              <a:rPr sz="1200" b="1" spc="-10" dirty="0">
                <a:latin typeface="Georgia"/>
                <a:cs typeface="Georgia"/>
              </a:rPr>
              <a:t>Soluções</a:t>
            </a:r>
            <a:r>
              <a:rPr sz="1200" b="1" spc="-65" dirty="0">
                <a:latin typeface="Georgia"/>
                <a:cs typeface="Georgia"/>
              </a:rPr>
              <a:t> </a:t>
            </a:r>
            <a:r>
              <a:rPr sz="1200" b="1" dirty="0">
                <a:latin typeface="Georgia"/>
                <a:cs typeface="Georgia"/>
              </a:rPr>
              <a:t>Hospitalares,</a:t>
            </a:r>
            <a:r>
              <a:rPr sz="1200" b="1" spc="18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com</a:t>
            </a:r>
            <a:r>
              <a:rPr sz="1200" spc="-2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sua</a:t>
            </a:r>
            <a:r>
              <a:rPr sz="1200" spc="-75" dirty="0">
                <a:latin typeface="Georgia"/>
                <a:cs typeface="Georgia"/>
              </a:rPr>
              <a:t> </a:t>
            </a:r>
            <a:r>
              <a:rPr sz="1200" spc="-10" dirty="0">
                <a:latin typeface="Georgia"/>
                <a:cs typeface="Georgia"/>
              </a:rPr>
              <a:t>proposta</a:t>
            </a:r>
            <a:r>
              <a:rPr sz="1200" spc="-40" dirty="0">
                <a:latin typeface="Georgia"/>
                <a:cs typeface="Georgia"/>
              </a:rPr>
              <a:t> </a:t>
            </a:r>
            <a:r>
              <a:rPr sz="1200" spc="-10" dirty="0">
                <a:latin typeface="Georgia"/>
                <a:cs typeface="Georgia"/>
              </a:rPr>
              <a:t>muito </a:t>
            </a:r>
            <a:r>
              <a:rPr sz="1200" dirty="0">
                <a:latin typeface="Georgia"/>
                <a:cs typeface="Georgia"/>
              </a:rPr>
              <a:t>bem</a:t>
            </a:r>
            <a:r>
              <a:rPr sz="1200" spc="-10" dirty="0">
                <a:latin typeface="Georgia"/>
                <a:cs typeface="Georgia"/>
              </a:rPr>
              <a:t> definida:</a:t>
            </a:r>
            <a:endParaRPr sz="1200" dirty="0">
              <a:latin typeface="Georgia"/>
              <a:cs typeface="Georgia"/>
            </a:endParaRPr>
          </a:p>
          <a:p>
            <a:pPr marL="13335" marR="180340" indent="-635">
              <a:lnSpc>
                <a:spcPct val="100000"/>
              </a:lnSpc>
              <a:spcBef>
                <a:spcPts val="900"/>
              </a:spcBef>
            </a:pPr>
            <a:r>
              <a:rPr sz="1200" spc="-10" dirty="0">
                <a:latin typeface="Georgia"/>
                <a:cs typeface="Georgia"/>
              </a:rPr>
              <a:t>Entregar</a:t>
            </a:r>
            <a:r>
              <a:rPr sz="1200" spc="-20" dirty="0">
                <a:latin typeface="Georgia"/>
                <a:cs typeface="Georgia"/>
              </a:rPr>
              <a:t> </a:t>
            </a:r>
            <a:r>
              <a:rPr sz="1200" b="1" spc="-10" dirty="0">
                <a:latin typeface="Georgia"/>
                <a:cs typeface="Georgia"/>
              </a:rPr>
              <a:t>Informação,</a:t>
            </a:r>
            <a:r>
              <a:rPr sz="1200" b="1" spc="-15" dirty="0">
                <a:latin typeface="Georgia"/>
                <a:cs typeface="Georgia"/>
              </a:rPr>
              <a:t> </a:t>
            </a:r>
            <a:r>
              <a:rPr sz="1200" b="1" spc="-10" dirty="0">
                <a:latin typeface="Georgia"/>
                <a:cs typeface="Georgia"/>
              </a:rPr>
              <a:t>Controle</a:t>
            </a:r>
            <a:r>
              <a:rPr sz="1200" b="1" spc="-50" dirty="0">
                <a:latin typeface="Georgia"/>
                <a:cs typeface="Georgia"/>
              </a:rPr>
              <a:t> </a:t>
            </a:r>
            <a:r>
              <a:rPr sz="1200" b="1" dirty="0">
                <a:latin typeface="Georgia"/>
                <a:cs typeface="Georgia"/>
              </a:rPr>
              <a:t>e</a:t>
            </a:r>
            <a:r>
              <a:rPr sz="1200" b="1" spc="-25" dirty="0">
                <a:latin typeface="Georgia"/>
                <a:cs typeface="Georgia"/>
              </a:rPr>
              <a:t> </a:t>
            </a:r>
            <a:r>
              <a:rPr sz="1200" b="1" spc="-10" dirty="0">
                <a:latin typeface="Georgia"/>
                <a:cs typeface="Georgia"/>
              </a:rPr>
              <a:t>Qualidade</a:t>
            </a:r>
            <a:r>
              <a:rPr sz="1200" b="1" spc="-5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aos </a:t>
            </a:r>
            <a:r>
              <a:rPr sz="1200" spc="-10" dirty="0">
                <a:latin typeface="Georgia"/>
                <a:cs typeface="Georgia"/>
              </a:rPr>
              <a:t>processos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spc="-10" dirty="0">
                <a:latin typeface="Georgia"/>
                <a:cs typeface="Georgia"/>
              </a:rPr>
              <a:t>operacionais</a:t>
            </a:r>
            <a:r>
              <a:rPr sz="1200" spc="-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da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CME</a:t>
            </a:r>
            <a:r>
              <a:rPr sz="1200" spc="-5" dirty="0">
                <a:latin typeface="Georgia"/>
                <a:cs typeface="Georgia"/>
              </a:rPr>
              <a:t> </a:t>
            </a:r>
            <a:r>
              <a:rPr sz="1200" spc="-50" dirty="0">
                <a:latin typeface="Georgia"/>
                <a:cs typeface="Georgia"/>
              </a:rPr>
              <a:t>e </a:t>
            </a:r>
            <a:r>
              <a:rPr sz="1200" dirty="0">
                <a:latin typeface="Georgia"/>
                <a:cs typeface="Georgia"/>
              </a:rPr>
              <a:t>Centro</a:t>
            </a:r>
            <a:r>
              <a:rPr sz="1200" spc="-15" dirty="0">
                <a:latin typeface="Georgia"/>
                <a:cs typeface="Georgia"/>
              </a:rPr>
              <a:t> </a:t>
            </a:r>
            <a:r>
              <a:rPr sz="1200" spc="-10" dirty="0">
                <a:latin typeface="Georgia"/>
                <a:cs typeface="Georgia"/>
              </a:rPr>
              <a:t>Cirúrgico.</a:t>
            </a:r>
            <a:endParaRPr sz="12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12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1200" dirty="0">
              <a:latin typeface="Georgia"/>
              <a:cs typeface="Georgia"/>
            </a:endParaRPr>
          </a:p>
          <a:p>
            <a:pPr marL="12700" marR="115570" indent="-635">
              <a:lnSpc>
                <a:spcPct val="148700"/>
              </a:lnSpc>
            </a:pPr>
            <a:r>
              <a:rPr sz="1300" dirty="0">
                <a:latin typeface="Georgia"/>
                <a:cs typeface="Georgia"/>
              </a:rPr>
              <a:t>Ao</a:t>
            </a:r>
            <a:r>
              <a:rPr sz="1300" spc="-1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logo</a:t>
            </a:r>
            <a:r>
              <a:rPr sz="1200" spc="-15" dirty="0">
                <a:latin typeface="Georgia"/>
                <a:cs typeface="Georgia"/>
              </a:rPr>
              <a:t> </a:t>
            </a:r>
            <a:r>
              <a:rPr sz="1200" dirty="0" err="1">
                <a:latin typeface="Georgia"/>
                <a:cs typeface="Georgia"/>
              </a:rPr>
              <a:t>destes</a:t>
            </a:r>
            <a:r>
              <a:rPr sz="1200" spc="-10" dirty="0">
                <a:latin typeface="Georgia"/>
                <a:cs typeface="Georgia"/>
              </a:rPr>
              <a:t> </a:t>
            </a:r>
            <a:r>
              <a:rPr sz="1200" b="1" dirty="0">
                <a:latin typeface="Georgia"/>
                <a:cs typeface="Georgia"/>
              </a:rPr>
              <a:t>1</a:t>
            </a:r>
            <a:r>
              <a:rPr lang="pt-BR" sz="1200" b="1" dirty="0">
                <a:latin typeface="Georgia"/>
                <a:cs typeface="Georgia"/>
              </a:rPr>
              <a:t>5</a:t>
            </a:r>
            <a:r>
              <a:rPr sz="1200" b="1" spc="-10" dirty="0">
                <a:latin typeface="Georgia"/>
                <a:cs typeface="Georgia"/>
              </a:rPr>
              <a:t> </a:t>
            </a:r>
            <a:r>
              <a:rPr sz="1200" b="1" dirty="0">
                <a:latin typeface="Georgia"/>
                <a:cs typeface="Georgia"/>
              </a:rPr>
              <a:t>anos</a:t>
            </a:r>
            <a:r>
              <a:rPr sz="1200" b="1" spc="-20" dirty="0">
                <a:latin typeface="Georgia"/>
                <a:cs typeface="Georgia"/>
              </a:rPr>
              <a:t> </a:t>
            </a:r>
            <a:r>
              <a:rPr sz="1200" b="1" dirty="0">
                <a:latin typeface="Georgia"/>
                <a:cs typeface="Georgia"/>
              </a:rPr>
              <a:t>de</a:t>
            </a:r>
            <a:r>
              <a:rPr sz="1200" b="1" spc="-30" dirty="0">
                <a:latin typeface="Georgia"/>
                <a:cs typeface="Georgia"/>
              </a:rPr>
              <a:t> </a:t>
            </a:r>
            <a:r>
              <a:rPr sz="1200" b="1" dirty="0">
                <a:latin typeface="Georgia"/>
                <a:cs typeface="Georgia"/>
              </a:rPr>
              <a:t>atuação</a:t>
            </a:r>
            <a:r>
              <a:rPr sz="1200" b="1" spc="-4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na</a:t>
            </a:r>
            <a:r>
              <a:rPr sz="1200" spc="-1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área</a:t>
            </a:r>
            <a:r>
              <a:rPr sz="1200" spc="-1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hospitalar privada</a:t>
            </a:r>
            <a:r>
              <a:rPr sz="1200" spc="-1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e</a:t>
            </a:r>
            <a:r>
              <a:rPr sz="1200" spc="-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pública,</a:t>
            </a:r>
            <a:r>
              <a:rPr sz="1200" spc="170" dirty="0">
                <a:latin typeface="Georgia"/>
                <a:cs typeface="Georgia"/>
              </a:rPr>
              <a:t> </a:t>
            </a:r>
            <a:r>
              <a:rPr sz="1200" spc="-10" dirty="0">
                <a:latin typeface="Georgia"/>
                <a:cs typeface="Georgia"/>
              </a:rPr>
              <a:t>fomos reconhecidos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como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um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b="1" dirty="0">
                <a:latin typeface="Georgia"/>
                <a:cs typeface="Georgia"/>
              </a:rPr>
              <a:t>CASE</a:t>
            </a:r>
            <a:r>
              <a:rPr sz="1200" b="1" spc="-45" dirty="0">
                <a:latin typeface="Georgia"/>
                <a:cs typeface="Georgia"/>
              </a:rPr>
              <a:t> </a:t>
            </a:r>
            <a:r>
              <a:rPr sz="1200" b="1" spc="-10" dirty="0">
                <a:latin typeface="Georgia"/>
                <a:cs typeface="Georgia"/>
              </a:rPr>
              <a:t>de</a:t>
            </a:r>
            <a:r>
              <a:rPr sz="1200" b="1" spc="-75" dirty="0">
                <a:latin typeface="Georgia"/>
                <a:cs typeface="Georgia"/>
              </a:rPr>
              <a:t> </a:t>
            </a:r>
            <a:r>
              <a:rPr sz="1200" b="1" dirty="0">
                <a:latin typeface="Georgia"/>
                <a:cs typeface="Georgia"/>
              </a:rPr>
              <a:t>sucesso</a:t>
            </a:r>
            <a:r>
              <a:rPr sz="1200" b="1" spc="-75" dirty="0">
                <a:latin typeface="Georgia"/>
                <a:cs typeface="Georgia"/>
              </a:rPr>
              <a:t> </a:t>
            </a:r>
            <a:r>
              <a:rPr sz="1200" b="1" dirty="0">
                <a:latin typeface="Georgia"/>
                <a:cs typeface="Georgia"/>
              </a:rPr>
              <a:t>em</a:t>
            </a:r>
            <a:r>
              <a:rPr sz="1200" b="1" spc="150" dirty="0">
                <a:latin typeface="Georgia"/>
                <a:cs typeface="Georgia"/>
              </a:rPr>
              <a:t> </a:t>
            </a:r>
            <a:r>
              <a:rPr sz="1200" b="1" dirty="0">
                <a:latin typeface="Georgia"/>
                <a:cs typeface="Georgia"/>
              </a:rPr>
              <a:t>entrega</a:t>
            </a:r>
            <a:r>
              <a:rPr sz="1200" b="1" spc="-50" dirty="0">
                <a:latin typeface="Georgia"/>
                <a:cs typeface="Georgia"/>
              </a:rPr>
              <a:t> </a:t>
            </a:r>
            <a:r>
              <a:rPr sz="1200" b="1" dirty="0">
                <a:latin typeface="Georgia"/>
                <a:cs typeface="Georgia"/>
              </a:rPr>
              <a:t>de</a:t>
            </a:r>
            <a:r>
              <a:rPr sz="1200" b="1" spc="-65" dirty="0">
                <a:latin typeface="Georgia"/>
                <a:cs typeface="Georgia"/>
              </a:rPr>
              <a:t> </a:t>
            </a:r>
            <a:r>
              <a:rPr sz="1200" b="1" dirty="0">
                <a:latin typeface="Georgia"/>
                <a:cs typeface="Georgia"/>
              </a:rPr>
              <a:t>VALOR</a:t>
            </a:r>
            <a:r>
              <a:rPr sz="1200" b="1" spc="-35" dirty="0">
                <a:latin typeface="Georgia"/>
                <a:cs typeface="Georgia"/>
              </a:rPr>
              <a:t> </a:t>
            </a:r>
            <a:r>
              <a:rPr sz="1200" b="1" dirty="0">
                <a:latin typeface="Georgia"/>
                <a:cs typeface="Georgia"/>
              </a:rPr>
              <a:t>e</a:t>
            </a:r>
            <a:r>
              <a:rPr sz="1200" b="1" spc="-45" dirty="0">
                <a:latin typeface="Georgia"/>
                <a:cs typeface="Georgia"/>
              </a:rPr>
              <a:t> </a:t>
            </a:r>
            <a:r>
              <a:rPr sz="1200" b="1" spc="-10" dirty="0">
                <a:latin typeface="Georgia"/>
                <a:cs typeface="Georgia"/>
              </a:rPr>
              <a:t>MELHORIAS SIGNIFICATIVAS</a:t>
            </a:r>
            <a:r>
              <a:rPr sz="1200" b="1" spc="-2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nos</a:t>
            </a:r>
            <a:r>
              <a:rPr sz="1200" spc="-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processos</a:t>
            </a:r>
            <a:r>
              <a:rPr sz="1200" spc="-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em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que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atuamos</a:t>
            </a:r>
            <a:r>
              <a:rPr sz="1200" spc="-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junto</a:t>
            </a:r>
            <a:r>
              <a:rPr sz="1200" spc="-1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a</a:t>
            </a:r>
            <a:r>
              <a:rPr sz="1200" spc="-1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nossos</a:t>
            </a:r>
            <a:r>
              <a:rPr sz="1200" spc="-5" dirty="0">
                <a:latin typeface="Georgia"/>
                <a:cs typeface="Georgia"/>
              </a:rPr>
              <a:t> </a:t>
            </a:r>
            <a:r>
              <a:rPr sz="1200" spc="-10" dirty="0">
                <a:latin typeface="Georgia"/>
                <a:cs typeface="Georgia"/>
              </a:rPr>
              <a:t>clientes.</a:t>
            </a:r>
            <a:endParaRPr sz="12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12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1200" dirty="0">
              <a:latin typeface="Georgia"/>
              <a:cs typeface="Georgia"/>
            </a:endParaRPr>
          </a:p>
          <a:p>
            <a:pPr marL="12700" marR="698500">
              <a:lnSpc>
                <a:spcPct val="150000"/>
              </a:lnSpc>
            </a:pPr>
            <a:r>
              <a:rPr sz="1200" b="1" spc="-10" dirty="0">
                <a:latin typeface="Georgia"/>
                <a:cs typeface="Georgia"/>
              </a:rPr>
              <a:t>Controles</a:t>
            </a:r>
            <a:r>
              <a:rPr sz="1200" b="1" spc="-30" dirty="0">
                <a:latin typeface="Georgia"/>
                <a:cs typeface="Georgia"/>
              </a:rPr>
              <a:t> </a:t>
            </a:r>
            <a:r>
              <a:rPr sz="1200" b="1" spc="-10" dirty="0">
                <a:latin typeface="Georgia"/>
                <a:cs typeface="Georgia"/>
              </a:rPr>
              <a:t>Efetivos</a:t>
            </a:r>
            <a:r>
              <a:rPr sz="1200" spc="-10" dirty="0">
                <a:latin typeface="Georgia"/>
                <a:cs typeface="Georgia"/>
              </a:rPr>
              <a:t>,</a:t>
            </a:r>
            <a:r>
              <a:rPr sz="1200" spc="-5" dirty="0">
                <a:latin typeface="Georgia"/>
                <a:cs typeface="Georgia"/>
              </a:rPr>
              <a:t> </a:t>
            </a:r>
            <a:r>
              <a:rPr sz="1200" b="1" spc="-10" dirty="0">
                <a:latin typeface="Georgia"/>
                <a:cs typeface="Georgia"/>
              </a:rPr>
              <a:t>Redução</a:t>
            </a:r>
            <a:r>
              <a:rPr sz="1200" b="1" spc="-65" dirty="0">
                <a:latin typeface="Georgia"/>
                <a:cs typeface="Georgia"/>
              </a:rPr>
              <a:t> </a:t>
            </a:r>
            <a:r>
              <a:rPr sz="1200" b="1" dirty="0">
                <a:latin typeface="Georgia"/>
                <a:cs typeface="Georgia"/>
              </a:rPr>
              <a:t>de</a:t>
            </a:r>
            <a:r>
              <a:rPr sz="1200" b="1" spc="-20" dirty="0">
                <a:latin typeface="Georgia"/>
                <a:cs typeface="Georgia"/>
              </a:rPr>
              <a:t> </a:t>
            </a:r>
            <a:r>
              <a:rPr sz="1200" b="1" dirty="0">
                <a:latin typeface="Georgia"/>
                <a:cs typeface="Georgia"/>
              </a:rPr>
              <a:t>custos,</a:t>
            </a:r>
            <a:r>
              <a:rPr sz="1200" b="1" spc="-55" dirty="0">
                <a:latin typeface="Georgia"/>
                <a:cs typeface="Georgia"/>
              </a:rPr>
              <a:t> </a:t>
            </a:r>
            <a:r>
              <a:rPr sz="1200" b="1" spc="-10" dirty="0">
                <a:latin typeface="Georgia"/>
                <a:cs typeface="Georgia"/>
              </a:rPr>
              <a:t>Melhorias e</a:t>
            </a:r>
            <a:r>
              <a:rPr sz="1200" b="1" spc="-45" dirty="0">
                <a:latin typeface="Georgia"/>
                <a:cs typeface="Georgia"/>
              </a:rPr>
              <a:t> </a:t>
            </a:r>
            <a:r>
              <a:rPr sz="1200" b="1" spc="-10" dirty="0">
                <a:latin typeface="Georgia"/>
                <a:cs typeface="Georgia"/>
              </a:rPr>
              <a:t>Padronização</a:t>
            </a:r>
            <a:r>
              <a:rPr sz="1200" b="1" spc="-20" dirty="0">
                <a:latin typeface="Georgia"/>
                <a:cs typeface="Georgia"/>
              </a:rPr>
              <a:t> </a:t>
            </a:r>
            <a:r>
              <a:rPr sz="1200" b="1" spc="-25" dirty="0">
                <a:latin typeface="Georgia"/>
                <a:cs typeface="Georgia"/>
              </a:rPr>
              <a:t>de </a:t>
            </a:r>
            <a:r>
              <a:rPr sz="1200" b="1" spc="-10" dirty="0">
                <a:latin typeface="Georgia"/>
                <a:cs typeface="Georgia"/>
              </a:rPr>
              <a:t>Processos.</a:t>
            </a:r>
            <a:endParaRPr sz="1200" dirty="0">
              <a:latin typeface="Georgia"/>
              <a:cs typeface="Georgia"/>
            </a:endParaRPr>
          </a:p>
          <a:p>
            <a:pPr marL="12700" marR="363855" indent="-635">
              <a:lnSpc>
                <a:spcPct val="150000"/>
              </a:lnSpc>
              <a:spcBef>
                <a:spcPts val="900"/>
              </a:spcBef>
            </a:pPr>
            <a:r>
              <a:rPr sz="1200" dirty="0">
                <a:latin typeface="Georgia"/>
                <a:cs typeface="Georgia"/>
              </a:rPr>
              <a:t>Acreditamos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spc="-10" dirty="0">
                <a:latin typeface="Georgia"/>
                <a:cs typeface="Georgia"/>
              </a:rPr>
              <a:t>que</a:t>
            </a:r>
            <a:r>
              <a:rPr sz="1200" spc="-7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a</a:t>
            </a:r>
            <a:r>
              <a:rPr sz="1200" spc="-35" dirty="0">
                <a:latin typeface="Georgia"/>
                <a:cs typeface="Georgia"/>
              </a:rPr>
              <a:t> </a:t>
            </a:r>
            <a:r>
              <a:rPr sz="1200" b="1" spc="-10" dirty="0">
                <a:latin typeface="Georgia"/>
                <a:cs typeface="Georgia"/>
              </a:rPr>
              <a:t>MELHORIA</a:t>
            </a:r>
            <a:r>
              <a:rPr sz="1200" b="1" spc="-3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é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spc="-10" dirty="0">
                <a:latin typeface="Georgia"/>
                <a:cs typeface="Georgia"/>
              </a:rPr>
              <a:t>um</a:t>
            </a:r>
            <a:r>
              <a:rPr sz="1200" spc="-90" dirty="0">
                <a:latin typeface="Georgia"/>
                <a:cs typeface="Georgia"/>
              </a:rPr>
              <a:t> </a:t>
            </a:r>
            <a:r>
              <a:rPr sz="1200" b="1" spc="-10" dirty="0">
                <a:latin typeface="Georgia"/>
                <a:cs typeface="Georgia"/>
              </a:rPr>
              <a:t>PROCESSO</a:t>
            </a:r>
            <a:r>
              <a:rPr sz="1200" b="1" spc="-50" dirty="0">
                <a:latin typeface="Georgia"/>
                <a:cs typeface="Georgia"/>
              </a:rPr>
              <a:t> </a:t>
            </a:r>
            <a:r>
              <a:rPr sz="1200" b="1" spc="-10" dirty="0">
                <a:latin typeface="Georgia"/>
                <a:cs typeface="Georgia"/>
              </a:rPr>
              <a:t>CONTÍNUO</a:t>
            </a:r>
            <a:r>
              <a:rPr sz="1200" b="1" spc="-30" dirty="0">
                <a:latin typeface="Georgia"/>
                <a:cs typeface="Georgia"/>
              </a:rPr>
              <a:t> </a:t>
            </a:r>
            <a:r>
              <a:rPr sz="1200" spc="-10" dirty="0">
                <a:latin typeface="Georgia"/>
                <a:cs typeface="Georgia"/>
              </a:rPr>
              <a:t>que</a:t>
            </a:r>
            <a:r>
              <a:rPr sz="1200" spc="-7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se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através</a:t>
            </a:r>
            <a:r>
              <a:rPr sz="1200" spc="-50" dirty="0">
                <a:latin typeface="Georgia"/>
                <a:cs typeface="Georgia"/>
              </a:rPr>
              <a:t> </a:t>
            </a:r>
            <a:r>
              <a:rPr sz="1200" spc="-25" dirty="0">
                <a:latin typeface="Georgia"/>
                <a:cs typeface="Georgia"/>
              </a:rPr>
              <a:t>de </a:t>
            </a:r>
            <a:r>
              <a:rPr sz="1200" dirty="0">
                <a:latin typeface="Georgia"/>
                <a:cs typeface="Georgia"/>
              </a:rPr>
              <a:t>pilares</a:t>
            </a:r>
            <a:r>
              <a:rPr sz="1200" spc="-1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bem</a:t>
            </a:r>
            <a:r>
              <a:rPr sz="1200" spc="-2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definidos</a:t>
            </a:r>
            <a:r>
              <a:rPr sz="1200" spc="-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e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trabalhados</a:t>
            </a:r>
            <a:r>
              <a:rPr sz="1200" spc="-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de</a:t>
            </a:r>
            <a:r>
              <a:rPr sz="1200" spc="-5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forma</a:t>
            </a:r>
            <a:r>
              <a:rPr sz="1200" spc="-30" dirty="0">
                <a:latin typeface="Georgia"/>
                <a:cs typeface="Georgia"/>
              </a:rPr>
              <a:t> </a:t>
            </a:r>
            <a:r>
              <a:rPr sz="1200" spc="-10" dirty="0">
                <a:latin typeface="Georgia"/>
                <a:cs typeface="Georgia"/>
              </a:rPr>
              <a:t>inteligente.</a:t>
            </a:r>
            <a:endParaRPr sz="1200" dirty="0">
              <a:latin typeface="Georgia"/>
              <a:cs typeface="Georgi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31186" y="6987451"/>
            <a:ext cx="3722622" cy="139000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" dirty="0"/>
              <a:t>CMEtK</a:t>
            </a:r>
            <a:r>
              <a:rPr spc="-35" dirty="0"/>
              <a:t> </a:t>
            </a:r>
            <a:r>
              <a:rPr spc="-10" dirty="0"/>
              <a:t>Soluções</a:t>
            </a:r>
            <a:r>
              <a:rPr spc="-25" dirty="0"/>
              <a:t> </a:t>
            </a:r>
            <a:r>
              <a:rPr spc="-10" dirty="0"/>
              <a:t>Hospitalares</a:t>
            </a:r>
            <a:r>
              <a:rPr spc="-5" dirty="0"/>
              <a:t> </a:t>
            </a:r>
            <a:r>
              <a:rPr spc="-10" dirty="0"/>
              <a:t>Ltda</a:t>
            </a:r>
            <a:r>
              <a:rPr spc="-20" dirty="0"/>
              <a:t> </a:t>
            </a:r>
            <a:r>
              <a:rPr spc="-10" dirty="0"/>
              <a:t>-</a:t>
            </a:r>
            <a:r>
              <a:rPr spc="-30" dirty="0"/>
              <a:t> </a:t>
            </a:r>
            <a:r>
              <a:rPr spc="-10" dirty="0"/>
              <a:t>Confidencial</a:t>
            </a:r>
          </a:p>
        </p:txBody>
      </p:sp>
      <p:pic>
        <p:nvPicPr>
          <p:cNvPr id="9" name="Imagem 8" descr="Logotipo&#10;&#10;O conteúdo gerado por IA pode estar incorreto.">
            <a:extLst>
              <a:ext uri="{FF2B5EF4-FFF2-40B4-BE49-F238E27FC236}">
                <a16:creationId xmlns:a16="http://schemas.microsoft.com/office/drawing/2014/main" id="{A0E0D0E7-9D27-439A-26A2-A43F02576EC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947527"/>
            <a:ext cx="2329063" cy="101944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6858000" cy="832485"/>
            <a:chOff x="0" y="0"/>
            <a:chExt cx="6858000" cy="832485"/>
          </a:xfrm>
        </p:grpSpPr>
        <p:sp>
          <p:nvSpPr>
            <p:cNvPr id="3" name="object 3"/>
            <p:cNvSpPr/>
            <p:nvPr/>
          </p:nvSpPr>
          <p:spPr>
            <a:xfrm>
              <a:off x="6784326" y="0"/>
              <a:ext cx="20320" cy="825500"/>
            </a:xfrm>
            <a:custGeom>
              <a:avLst/>
              <a:gdLst/>
              <a:ahLst/>
              <a:cxnLst/>
              <a:rect l="l" t="t" r="r" b="b"/>
              <a:pathLst>
                <a:path w="20320" h="825500">
                  <a:moveTo>
                    <a:pt x="20320" y="0"/>
                  </a:moveTo>
                  <a:lnTo>
                    <a:pt x="0" y="0"/>
                  </a:lnTo>
                  <a:lnTo>
                    <a:pt x="0" y="825068"/>
                  </a:lnTo>
                  <a:lnTo>
                    <a:pt x="20320" y="825068"/>
                  </a:lnTo>
                  <a:lnTo>
                    <a:pt x="20320" y="0"/>
                  </a:lnTo>
                  <a:close/>
                </a:path>
              </a:pathLst>
            </a:custGeom>
            <a:solidFill>
              <a:srgbClr val="FFFFFF">
                <a:alpha val="650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687172" y="203"/>
              <a:ext cx="40640" cy="779780"/>
            </a:xfrm>
            <a:custGeom>
              <a:avLst/>
              <a:gdLst/>
              <a:ahLst/>
              <a:cxnLst/>
              <a:rect l="l" t="t" r="r" b="b"/>
              <a:pathLst>
                <a:path w="40640" h="779780">
                  <a:moveTo>
                    <a:pt x="40640" y="0"/>
                  </a:moveTo>
                  <a:lnTo>
                    <a:pt x="0" y="0"/>
                  </a:lnTo>
                  <a:lnTo>
                    <a:pt x="0" y="779183"/>
                  </a:lnTo>
                  <a:lnTo>
                    <a:pt x="40640" y="779183"/>
                  </a:lnTo>
                  <a:lnTo>
                    <a:pt x="40640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11480" y="726440"/>
            <a:ext cx="2296795" cy="386003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1360"/>
              </a:lnSpc>
              <a:spcBef>
                <a:spcPts val="210"/>
              </a:spcBef>
            </a:pPr>
            <a:r>
              <a:rPr sz="1200" b="1" spc="-10" dirty="0">
                <a:solidFill>
                  <a:srgbClr val="2B475E"/>
                </a:solidFill>
                <a:latin typeface="Trebuchet MS"/>
                <a:cs typeface="Trebuchet MS"/>
              </a:rPr>
              <a:t>Apresentação</a:t>
            </a:r>
            <a:r>
              <a:rPr sz="1200" b="1" spc="-5" dirty="0">
                <a:solidFill>
                  <a:srgbClr val="2B475E"/>
                </a:solidFill>
                <a:latin typeface="Trebuchet MS"/>
                <a:cs typeface="Trebuchet MS"/>
              </a:rPr>
              <a:t> </a:t>
            </a:r>
            <a:r>
              <a:rPr sz="1200" b="1" spc="-10" dirty="0" err="1">
                <a:solidFill>
                  <a:srgbClr val="2B475E"/>
                </a:solidFill>
                <a:latin typeface="Trebuchet MS"/>
                <a:cs typeface="Trebuchet MS"/>
              </a:rPr>
              <a:t>Institucional</a:t>
            </a:r>
            <a:r>
              <a:rPr sz="1200" b="1" spc="5" dirty="0">
                <a:solidFill>
                  <a:srgbClr val="2B475E"/>
                </a:solidFill>
                <a:latin typeface="Trebuchet MS"/>
                <a:cs typeface="Trebuchet MS"/>
              </a:rPr>
              <a:t> </a:t>
            </a:r>
            <a:r>
              <a:rPr sz="1200" b="1" spc="-20" dirty="0">
                <a:solidFill>
                  <a:srgbClr val="2B475E"/>
                </a:solidFill>
                <a:latin typeface="Trebuchet MS"/>
                <a:cs typeface="Trebuchet MS"/>
              </a:rPr>
              <a:t>202</a:t>
            </a:r>
            <a:r>
              <a:rPr lang="pt-BR" sz="1200" b="1" spc="-20" dirty="0">
                <a:solidFill>
                  <a:srgbClr val="2B475E"/>
                </a:solidFill>
                <a:latin typeface="Trebuchet MS"/>
                <a:cs typeface="Trebuchet MS"/>
              </a:rPr>
              <a:t>5</a:t>
            </a:r>
            <a:r>
              <a:rPr sz="1200" b="1" spc="-20" dirty="0">
                <a:solidFill>
                  <a:srgbClr val="2B475E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2B475E"/>
                </a:solidFill>
                <a:latin typeface="Trebuchet MS"/>
                <a:cs typeface="Trebuchet MS"/>
              </a:rPr>
              <a:t>CMEtK</a:t>
            </a:r>
            <a:r>
              <a:rPr sz="1200" b="1" spc="-60" dirty="0">
                <a:solidFill>
                  <a:srgbClr val="2B475E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2B475E"/>
                </a:solidFill>
                <a:latin typeface="Trebuchet MS"/>
                <a:cs typeface="Trebuchet MS"/>
              </a:rPr>
              <a:t>Soluções</a:t>
            </a:r>
            <a:r>
              <a:rPr sz="1200" b="1" spc="-50" dirty="0">
                <a:solidFill>
                  <a:srgbClr val="2B475E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2B475E"/>
                </a:solidFill>
                <a:latin typeface="Trebuchet MS"/>
                <a:cs typeface="Trebuchet MS"/>
              </a:rPr>
              <a:t>Hospitalares</a:t>
            </a:r>
            <a:endParaRPr sz="1200" dirty="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705" y="3860888"/>
            <a:ext cx="2370048" cy="147382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34765" y="4721225"/>
            <a:ext cx="2672384" cy="152652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11480" y="1290319"/>
            <a:ext cx="2538095" cy="23416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24453"/>
                </a:solidFill>
                <a:latin typeface="Georgia"/>
                <a:cs typeface="Georgia"/>
              </a:rPr>
              <a:t>Nossas</a:t>
            </a:r>
            <a:r>
              <a:rPr sz="1800" spc="-55" dirty="0">
                <a:solidFill>
                  <a:srgbClr val="424453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424453"/>
                </a:solidFill>
                <a:latin typeface="Georgia"/>
                <a:cs typeface="Georgia"/>
              </a:rPr>
              <a:t>Soluções</a:t>
            </a:r>
            <a:endParaRPr sz="18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110"/>
              </a:spcBef>
            </a:pPr>
            <a:endParaRPr sz="1800" dirty="0">
              <a:latin typeface="Georgia"/>
              <a:cs typeface="Georgia"/>
            </a:endParaRPr>
          </a:p>
          <a:p>
            <a:pPr marL="99060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latin typeface="Georgia"/>
                <a:cs typeface="Georgia"/>
              </a:rPr>
              <a:t>Venda</a:t>
            </a:r>
            <a:endParaRPr sz="1800" dirty="0">
              <a:latin typeface="Georgia"/>
              <a:cs typeface="Georgia"/>
            </a:endParaRPr>
          </a:p>
          <a:p>
            <a:pPr marL="98425" marR="554990">
              <a:lnSpc>
                <a:spcPct val="100000"/>
              </a:lnSpc>
              <a:spcBef>
                <a:spcPts val="340"/>
              </a:spcBef>
            </a:pPr>
            <a:r>
              <a:rPr sz="1200" b="1" spc="-10" dirty="0">
                <a:latin typeface="Georgia"/>
                <a:cs typeface="Georgia"/>
              </a:rPr>
              <a:t>de</a:t>
            </a:r>
            <a:r>
              <a:rPr sz="1200" b="1" spc="-65" dirty="0">
                <a:latin typeface="Georgia"/>
                <a:cs typeface="Georgia"/>
              </a:rPr>
              <a:t> </a:t>
            </a:r>
            <a:r>
              <a:rPr sz="1200" b="1" spc="-10" dirty="0">
                <a:latin typeface="Georgia"/>
                <a:cs typeface="Georgia"/>
              </a:rPr>
              <a:t>Material</a:t>
            </a:r>
            <a:r>
              <a:rPr sz="1200" b="1" spc="-45" dirty="0">
                <a:latin typeface="Georgia"/>
                <a:cs typeface="Georgia"/>
              </a:rPr>
              <a:t> </a:t>
            </a:r>
            <a:r>
              <a:rPr sz="1200" b="1" spc="-10" dirty="0">
                <a:latin typeface="Georgia"/>
                <a:cs typeface="Georgia"/>
              </a:rPr>
              <a:t>Cirúrgico</a:t>
            </a:r>
            <a:r>
              <a:rPr sz="1200" b="1" spc="-55" dirty="0">
                <a:latin typeface="Georgia"/>
                <a:cs typeface="Georgia"/>
              </a:rPr>
              <a:t> </a:t>
            </a:r>
            <a:r>
              <a:rPr sz="1200" b="1" spc="-25" dirty="0">
                <a:latin typeface="Georgia"/>
                <a:cs typeface="Georgia"/>
              </a:rPr>
              <a:t>de </a:t>
            </a:r>
            <a:r>
              <a:rPr sz="1200" b="1" spc="-10" dirty="0">
                <a:latin typeface="Georgia"/>
                <a:cs typeface="Georgia"/>
              </a:rPr>
              <a:t>Qualidade</a:t>
            </a:r>
            <a:endParaRPr sz="1200" dirty="0">
              <a:latin typeface="Georgia"/>
              <a:cs typeface="Georgia"/>
            </a:endParaRPr>
          </a:p>
          <a:p>
            <a:pPr marL="99060">
              <a:spcBef>
                <a:spcPts val="700"/>
              </a:spcBef>
            </a:pPr>
            <a:r>
              <a:rPr lang="pt-BR" sz="1000" dirty="0">
                <a:latin typeface="Georgia"/>
                <a:cs typeface="Georgia"/>
              </a:rPr>
              <a:t>Somos representantes da marca américa Fentex, marca com</a:t>
            </a:r>
            <a:r>
              <a:rPr lang="pt-BR" sz="1000" spc="-25" dirty="0">
                <a:latin typeface="Georgia"/>
                <a:cs typeface="Georgia"/>
              </a:rPr>
              <a:t> </a:t>
            </a:r>
            <a:r>
              <a:rPr lang="pt-BR" sz="1000" spc="-10" dirty="0">
                <a:latin typeface="Georgia"/>
                <a:cs typeface="Georgia"/>
              </a:rPr>
              <a:t>qualidade testada</a:t>
            </a:r>
            <a:r>
              <a:rPr lang="pt-BR" sz="1000" spc="-25" dirty="0">
                <a:latin typeface="Georgia"/>
                <a:cs typeface="Georgia"/>
              </a:rPr>
              <a:t> </a:t>
            </a:r>
            <a:r>
              <a:rPr lang="pt-BR" sz="1000" dirty="0">
                <a:latin typeface="Georgia"/>
                <a:cs typeface="Georgia"/>
              </a:rPr>
              <a:t>e</a:t>
            </a:r>
            <a:r>
              <a:rPr lang="pt-BR" sz="1000" spc="-15" dirty="0">
                <a:latin typeface="Georgia"/>
                <a:cs typeface="Georgia"/>
              </a:rPr>
              <a:t> </a:t>
            </a:r>
            <a:r>
              <a:rPr lang="pt-BR" sz="1000" dirty="0">
                <a:latin typeface="Georgia"/>
                <a:cs typeface="Georgia"/>
              </a:rPr>
              <a:t>homologado</a:t>
            </a:r>
            <a:r>
              <a:rPr lang="pt-BR" sz="1000" spc="-20" dirty="0">
                <a:latin typeface="Georgia"/>
                <a:cs typeface="Georgia"/>
              </a:rPr>
              <a:t> </a:t>
            </a:r>
            <a:r>
              <a:rPr lang="pt-BR" sz="1000" dirty="0">
                <a:latin typeface="Georgia"/>
                <a:cs typeface="Georgia"/>
              </a:rPr>
              <a:t>em</a:t>
            </a:r>
            <a:r>
              <a:rPr lang="pt-BR" sz="1000" spc="-15" dirty="0">
                <a:latin typeface="Georgia"/>
                <a:cs typeface="Georgia"/>
              </a:rPr>
              <a:t> </a:t>
            </a:r>
            <a:r>
              <a:rPr lang="pt-BR" sz="1000" dirty="0">
                <a:latin typeface="Georgia"/>
                <a:cs typeface="Georgia"/>
              </a:rPr>
              <a:t>hospitais</a:t>
            </a:r>
            <a:r>
              <a:rPr lang="pt-BR" sz="1000" spc="-10" dirty="0">
                <a:latin typeface="Georgia"/>
                <a:cs typeface="Georgia"/>
              </a:rPr>
              <a:t> </a:t>
            </a:r>
            <a:r>
              <a:rPr lang="pt-BR" sz="1000" spc="-25" dirty="0">
                <a:latin typeface="Georgia"/>
                <a:cs typeface="Georgia"/>
              </a:rPr>
              <a:t>de </a:t>
            </a:r>
            <a:r>
              <a:rPr lang="pt-BR" sz="1000" dirty="0">
                <a:latin typeface="Georgia"/>
                <a:cs typeface="Georgia"/>
              </a:rPr>
              <a:t>referencia</a:t>
            </a:r>
            <a:r>
              <a:rPr lang="pt-BR" sz="1000" spc="-35" dirty="0">
                <a:latin typeface="Georgia"/>
                <a:cs typeface="Georgia"/>
              </a:rPr>
              <a:t> </a:t>
            </a:r>
            <a:r>
              <a:rPr lang="pt-BR" sz="1000" dirty="0">
                <a:latin typeface="Georgia"/>
                <a:cs typeface="Georgia"/>
              </a:rPr>
              <a:t>no</a:t>
            </a:r>
            <a:r>
              <a:rPr lang="pt-BR" sz="1000" spc="-10" dirty="0">
                <a:latin typeface="Georgia"/>
                <a:cs typeface="Georgia"/>
              </a:rPr>
              <a:t> Brasil.</a:t>
            </a:r>
            <a:endParaRPr lang="pt-BR" sz="1000" dirty="0">
              <a:latin typeface="Georgia"/>
              <a:cs typeface="Georgia"/>
            </a:endParaRPr>
          </a:p>
          <a:p>
            <a:pPr marL="99060">
              <a:lnSpc>
                <a:spcPct val="100000"/>
              </a:lnSpc>
              <a:spcBef>
                <a:spcPts val="700"/>
              </a:spcBef>
            </a:pPr>
            <a:endParaRPr sz="1000" dirty="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0520" y="5912658"/>
            <a:ext cx="2679065" cy="138239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800" b="1" dirty="0">
                <a:latin typeface="Georgia"/>
                <a:cs typeface="Georgia"/>
              </a:rPr>
              <a:t>Serviços</a:t>
            </a:r>
            <a:r>
              <a:rPr sz="1800" b="1" spc="-70" dirty="0">
                <a:latin typeface="Georgia"/>
                <a:cs typeface="Georgia"/>
              </a:rPr>
              <a:t> </a:t>
            </a:r>
            <a:r>
              <a:rPr sz="1800" b="1" dirty="0">
                <a:latin typeface="Georgia"/>
                <a:cs typeface="Georgia"/>
              </a:rPr>
              <a:t>e</a:t>
            </a:r>
            <a:r>
              <a:rPr sz="1800" b="1" spc="-50" dirty="0">
                <a:latin typeface="Georgia"/>
                <a:cs typeface="Georgia"/>
              </a:rPr>
              <a:t> </a:t>
            </a:r>
            <a:r>
              <a:rPr sz="1800" b="1" spc="-25" dirty="0">
                <a:latin typeface="Georgia"/>
                <a:cs typeface="Georgia"/>
              </a:rPr>
              <a:t>TI</a:t>
            </a:r>
            <a:endParaRPr sz="1800">
              <a:latin typeface="Georgia"/>
              <a:cs typeface="Georgia"/>
            </a:endParaRPr>
          </a:p>
          <a:p>
            <a:pPr marL="12700" marR="56515">
              <a:lnSpc>
                <a:spcPct val="100699"/>
              </a:lnSpc>
              <a:spcBef>
                <a:spcPts val="315"/>
              </a:spcBef>
            </a:pPr>
            <a:r>
              <a:rPr sz="1100" b="1" dirty="0">
                <a:latin typeface="Georgia"/>
                <a:cs typeface="Georgia"/>
              </a:rPr>
              <a:t>de</a:t>
            </a:r>
            <a:r>
              <a:rPr sz="1100" b="1" spc="-70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Gestão</a:t>
            </a:r>
            <a:r>
              <a:rPr sz="1100" b="1" spc="-35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e</a:t>
            </a:r>
            <a:r>
              <a:rPr sz="1100" b="1" spc="-65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Tecnologia</a:t>
            </a:r>
            <a:r>
              <a:rPr sz="1100" b="1" spc="-50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em</a:t>
            </a:r>
            <a:r>
              <a:rPr sz="1100" b="1" spc="-35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Processos Operacionais</a:t>
            </a:r>
            <a:r>
              <a:rPr sz="1100" b="1" spc="5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de</a:t>
            </a:r>
            <a:r>
              <a:rPr sz="1100" b="1" spc="5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CME</a:t>
            </a:r>
            <a:r>
              <a:rPr sz="1100" b="1" spc="20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e </a:t>
            </a:r>
            <a:r>
              <a:rPr sz="1100" b="1" spc="-10" dirty="0">
                <a:latin typeface="Georgia"/>
                <a:cs typeface="Georgia"/>
              </a:rPr>
              <a:t>Centro Cirúrgico</a:t>
            </a:r>
            <a:endParaRPr sz="1100">
              <a:latin typeface="Georgia"/>
              <a:cs typeface="Georgia"/>
            </a:endParaRPr>
          </a:p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spc="-10" dirty="0">
                <a:latin typeface="Georgia"/>
                <a:cs typeface="Georgia"/>
              </a:rPr>
              <a:t>Gestão,</a:t>
            </a:r>
            <a:r>
              <a:rPr sz="1000" spc="-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Rastreabilidade,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Indicadores</a:t>
            </a:r>
            <a:r>
              <a:rPr sz="100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e</a:t>
            </a:r>
            <a:r>
              <a:rPr sz="1000" spc="-1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Sistemas </a:t>
            </a:r>
            <a:r>
              <a:rPr sz="1000" dirty="0">
                <a:latin typeface="Georgia"/>
                <a:cs typeface="Georgia"/>
              </a:rPr>
              <a:t>informatizados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para</a:t>
            </a:r>
            <a:r>
              <a:rPr sz="1000" spc="-2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</a:t>
            </a:r>
            <a:r>
              <a:rPr sz="1000" spc="-2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CME</a:t>
            </a:r>
            <a:r>
              <a:rPr sz="1000" spc="-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e</a:t>
            </a:r>
            <a:r>
              <a:rPr sz="1000" spc="-1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Bloco</a:t>
            </a:r>
            <a:r>
              <a:rPr sz="1000" spc="-1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Cirúrgico.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73347" y="2972688"/>
            <a:ext cx="2293620" cy="774065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800" b="1" spc="-10" dirty="0">
                <a:latin typeface="Georgia"/>
                <a:cs typeface="Georgia"/>
              </a:rPr>
              <a:t>Locação</a:t>
            </a:r>
            <a:endParaRPr sz="1800">
              <a:latin typeface="Georgia"/>
              <a:cs typeface="Georgia"/>
            </a:endParaRPr>
          </a:p>
          <a:p>
            <a:pPr marL="12700" marR="5080">
              <a:lnSpc>
                <a:spcPct val="100000"/>
              </a:lnSpc>
              <a:spcBef>
                <a:spcPts val="340"/>
              </a:spcBef>
            </a:pPr>
            <a:r>
              <a:rPr sz="1200" b="1" spc="-10" dirty="0">
                <a:latin typeface="Georgia"/>
                <a:cs typeface="Georgia"/>
              </a:rPr>
              <a:t>de</a:t>
            </a:r>
            <a:r>
              <a:rPr sz="1200" b="1" spc="-95" dirty="0">
                <a:latin typeface="Georgia"/>
                <a:cs typeface="Georgia"/>
              </a:rPr>
              <a:t> </a:t>
            </a:r>
            <a:r>
              <a:rPr sz="1200" b="1" spc="-10" dirty="0">
                <a:latin typeface="Georgia"/>
                <a:cs typeface="Georgia"/>
              </a:rPr>
              <a:t>Containers</a:t>
            </a:r>
            <a:r>
              <a:rPr sz="1200" b="1" spc="-60" dirty="0">
                <a:latin typeface="Georgia"/>
                <a:cs typeface="Georgia"/>
              </a:rPr>
              <a:t> </a:t>
            </a:r>
            <a:r>
              <a:rPr sz="1200" b="1" spc="-10" dirty="0">
                <a:latin typeface="Georgia"/>
                <a:cs typeface="Georgia"/>
              </a:rPr>
              <a:t>e</a:t>
            </a:r>
            <a:r>
              <a:rPr sz="1200" b="1" spc="-70" dirty="0">
                <a:latin typeface="Georgia"/>
                <a:cs typeface="Georgia"/>
              </a:rPr>
              <a:t> </a:t>
            </a:r>
            <a:r>
              <a:rPr sz="1200" b="1" spc="-10" dirty="0">
                <a:latin typeface="Georgia"/>
                <a:cs typeface="Georgia"/>
              </a:rPr>
              <a:t>Instrumental </a:t>
            </a:r>
            <a:r>
              <a:rPr sz="1200" b="1" dirty="0">
                <a:latin typeface="Georgia"/>
                <a:cs typeface="Georgia"/>
              </a:rPr>
              <a:t>Cirúrgico</a:t>
            </a:r>
            <a:r>
              <a:rPr sz="1200" b="1" spc="-40" dirty="0">
                <a:latin typeface="Georgia"/>
                <a:cs typeface="Georgia"/>
              </a:rPr>
              <a:t> </a:t>
            </a:r>
            <a:r>
              <a:rPr sz="1200" b="1" dirty="0">
                <a:latin typeface="Georgia"/>
                <a:cs typeface="Georgia"/>
              </a:rPr>
              <a:t>de</a:t>
            </a:r>
            <a:r>
              <a:rPr sz="1200" b="1" spc="-45" dirty="0">
                <a:latin typeface="Georgia"/>
                <a:cs typeface="Georgia"/>
              </a:rPr>
              <a:t> </a:t>
            </a:r>
            <a:r>
              <a:rPr sz="1200" b="1" spc="-10" dirty="0">
                <a:latin typeface="Georgia"/>
                <a:cs typeface="Georgia"/>
              </a:rPr>
              <a:t>Qualidade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73500" y="3952240"/>
            <a:ext cx="22688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spc="-10" dirty="0">
                <a:latin typeface="Georgia"/>
                <a:cs typeface="Georgia"/>
              </a:rPr>
              <a:t>Disponibilidade,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qualidade</a:t>
            </a:r>
            <a:r>
              <a:rPr sz="1000" spc="-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e</a:t>
            </a:r>
            <a:r>
              <a:rPr sz="1000" spc="-3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precisão</a:t>
            </a:r>
            <a:r>
              <a:rPr sz="1000" spc="-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na </a:t>
            </a:r>
            <a:r>
              <a:rPr sz="1000" dirty="0">
                <a:latin typeface="Georgia"/>
                <a:cs typeface="Georgia"/>
              </a:rPr>
              <a:t>composição</a:t>
            </a:r>
            <a:r>
              <a:rPr sz="1000" spc="-2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de</a:t>
            </a:r>
            <a:r>
              <a:rPr sz="1000" spc="-1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caixas</a:t>
            </a:r>
            <a:r>
              <a:rPr sz="1000" spc="-1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e</a:t>
            </a:r>
            <a:r>
              <a:rPr sz="1000" spc="-1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kits</a:t>
            </a:r>
            <a:r>
              <a:rPr sz="1000" spc="-3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cirúrgicos.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43730" y="7315200"/>
            <a:ext cx="2205355" cy="1090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 marR="5080" indent="-635">
              <a:lnSpc>
                <a:spcPct val="100000"/>
              </a:lnSpc>
              <a:spcBef>
                <a:spcPts val="100"/>
              </a:spcBef>
            </a:pPr>
            <a:r>
              <a:rPr sz="1400" i="1" spc="-10" dirty="0">
                <a:latin typeface="Georgia"/>
                <a:cs typeface="Georgia"/>
              </a:rPr>
              <a:t>Para</a:t>
            </a:r>
            <a:r>
              <a:rPr sz="1400" i="1" spc="-70" dirty="0">
                <a:latin typeface="Georgia"/>
                <a:cs typeface="Georgia"/>
              </a:rPr>
              <a:t> </a:t>
            </a:r>
            <a:r>
              <a:rPr sz="1400" i="1" spc="-10" dirty="0">
                <a:latin typeface="Georgia"/>
                <a:cs typeface="Georgia"/>
              </a:rPr>
              <a:t>saber</a:t>
            </a:r>
            <a:r>
              <a:rPr sz="1400" i="1" spc="-70" dirty="0">
                <a:latin typeface="Georgia"/>
                <a:cs typeface="Georgia"/>
              </a:rPr>
              <a:t> </a:t>
            </a:r>
            <a:r>
              <a:rPr sz="1400" i="1" dirty="0">
                <a:latin typeface="Georgia"/>
                <a:cs typeface="Georgia"/>
              </a:rPr>
              <a:t>mais</a:t>
            </a:r>
            <a:r>
              <a:rPr sz="1400" i="1" spc="-70" dirty="0">
                <a:latin typeface="Georgia"/>
                <a:cs typeface="Georgia"/>
              </a:rPr>
              <a:t> </a:t>
            </a:r>
            <a:r>
              <a:rPr sz="1400" i="1" spc="-10" dirty="0">
                <a:latin typeface="Georgia"/>
                <a:cs typeface="Georgia"/>
              </a:rPr>
              <a:t>sobre</a:t>
            </a:r>
            <a:r>
              <a:rPr sz="1400" i="1" spc="-85" dirty="0">
                <a:latin typeface="Georgia"/>
                <a:cs typeface="Georgia"/>
              </a:rPr>
              <a:t> </a:t>
            </a:r>
            <a:r>
              <a:rPr sz="1400" i="1" spc="-20" dirty="0">
                <a:latin typeface="Georgia"/>
                <a:cs typeface="Georgia"/>
              </a:rPr>
              <a:t>cada </a:t>
            </a:r>
            <a:r>
              <a:rPr sz="1400" i="1" spc="-10" dirty="0">
                <a:latin typeface="Georgia"/>
                <a:cs typeface="Georgia"/>
              </a:rPr>
              <a:t>solução,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400">
              <a:latin typeface="Georgia"/>
              <a:cs typeface="Georgia"/>
            </a:endParaRPr>
          </a:p>
          <a:p>
            <a:pPr marL="15240" marR="655320" indent="-3175">
              <a:lnSpc>
                <a:spcPct val="100000"/>
              </a:lnSpc>
              <a:spcBef>
                <a:spcPts val="5"/>
              </a:spcBef>
            </a:pPr>
            <a:r>
              <a:rPr sz="1400" i="1" spc="-10" dirty="0">
                <a:latin typeface="Georgia"/>
                <a:cs typeface="Georgia"/>
              </a:rPr>
              <a:t>fale</a:t>
            </a:r>
            <a:r>
              <a:rPr sz="1400" i="1" spc="-55" dirty="0">
                <a:latin typeface="Georgia"/>
                <a:cs typeface="Georgia"/>
              </a:rPr>
              <a:t> </a:t>
            </a:r>
            <a:r>
              <a:rPr sz="1400" i="1" spc="-10" dirty="0">
                <a:latin typeface="Georgia"/>
                <a:cs typeface="Georgia"/>
              </a:rPr>
              <a:t>com</a:t>
            </a:r>
            <a:r>
              <a:rPr sz="1400" i="1" spc="-65" dirty="0">
                <a:latin typeface="Georgia"/>
                <a:cs typeface="Georgia"/>
              </a:rPr>
              <a:t> </a:t>
            </a:r>
            <a:r>
              <a:rPr sz="1400" i="1" spc="-10" dirty="0">
                <a:latin typeface="Georgia"/>
                <a:cs typeface="Georgia"/>
              </a:rPr>
              <a:t>nosso</a:t>
            </a:r>
            <a:r>
              <a:rPr sz="1400" i="1" spc="-40" dirty="0">
                <a:latin typeface="Georgia"/>
                <a:cs typeface="Georgia"/>
              </a:rPr>
              <a:t> </a:t>
            </a:r>
            <a:r>
              <a:rPr sz="1400" i="1" spc="-20" dirty="0">
                <a:latin typeface="Georgia"/>
                <a:cs typeface="Georgia"/>
              </a:rPr>
              <a:t>time </a:t>
            </a:r>
            <a:r>
              <a:rPr sz="1400" i="1" spc="-10" dirty="0">
                <a:latin typeface="Georgia"/>
                <a:cs typeface="Georgia"/>
              </a:rPr>
              <a:t>comercial</a:t>
            </a:r>
            <a:endParaRPr sz="1400">
              <a:latin typeface="Georgia"/>
              <a:cs typeface="Georgi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2445" y="7481290"/>
            <a:ext cx="2450146" cy="1200782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" dirty="0"/>
              <a:t>CMEtK</a:t>
            </a:r>
            <a:r>
              <a:rPr spc="-35" dirty="0"/>
              <a:t> </a:t>
            </a:r>
            <a:r>
              <a:rPr spc="-10" dirty="0"/>
              <a:t>Soluções</a:t>
            </a:r>
            <a:r>
              <a:rPr spc="-25" dirty="0"/>
              <a:t> </a:t>
            </a:r>
            <a:r>
              <a:rPr spc="-10" dirty="0"/>
              <a:t>Hospitalares</a:t>
            </a:r>
            <a:r>
              <a:rPr spc="-5" dirty="0"/>
              <a:t> </a:t>
            </a:r>
            <a:r>
              <a:rPr spc="-10" dirty="0"/>
              <a:t>Ltda</a:t>
            </a:r>
            <a:r>
              <a:rPr spc="-20" dirty="0"/>
              <a:t> </a:t>
            </a:r>
            <a:r>
              <a:rPr spc="-10" dirty="0"/>
              <a:t>-</a:t>
            </a:r>
            <a:r>
              <a:rPr spc="-30" dirty="0"/>
              <a:t> </a:t>
            </a:r>
            <a:r>
              <a:rPr spc="-10" dirty="0"/>
              <a:t>Confidencial</a:t>
            </a:r>
          </a:p>
        </p:txBody>
      </p:sp>
      <p:pic>
        <p:nvPicPr>
          <p:cNvPr id="9" name="Imagem 8" descr="Logotipo&#10;&#10;O conteúdo gerado por IA pode estar incorreto.">
            <a:extLst>
              <a:ext uri="{FF2B5EF4-FFF2-40B4-BE49-F238E27FC236}">
                <a16:creationId xmlns:a16="http://schemas.microsoft.com/office/drawing/2014/main" id="{2C67A6DF-95CA-2B6C-C80B-8C4393AE891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947527"/>
            <a:ext cx="2329063" cy="10194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11480" y="962659"/>
            <a:ext cx="2276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20" dirty="0" err="1">
                <a:solidFill>
                  <a:srgbClr val="2B475E"/>
                </a:solidFill>
                <a:latin typeface="Trebuchet MS"/>
                <a:cs typeface="Trebuchet MS"/>
              </a:rPr>
              <a:t>Apresentação</a:t>
            </a:r>
            <a:r>
              <a:rPr sz="1200" b="1" spc="5" dirty="0">
                <a:solidFill>
                  <a:srgbClr val="2B475E"/>
                </a:solidFill>
                <a:latin typeface="Trebuchet MS"/>
                <a:cs typeface="Trebuchet MS"/>
              </a:rPr>
              <a:t> </a:t>
            </a:r>
            <a:r>
              <a:rPr sz="1200" b="1" spc="-20" dirty="0" err="1">
                <a:solidFill>
                  <a:srgbClr val="2B475E"/>
                </a:solidFill>
                <a:latin typeface="Trebuchet MS"/>
                <a:cs typeface="Trebuchet MS"/>
              </a:rPr>
              <a:t>Institu</a:t>
            </a:r>
            <a:r>
              <a:rPr lang="pt-BR" sz="1200" b="1" spc="-20" dirty="0">
                <a:solidFill>
                  <a:srgbClr val="2B475E"/>
                </a:solidFill>
                <a:latin typeface="Trebuchet MS"/>
                <a:cs typeface="Trebuchet MS"/>
              </a:rPr>
              <a:t>c</a:t>
            </a:r>
            <a:r>
              <a:rPr sz="1200" b="1" spc="-20" dirty="0" err="1">
                <a:solidFill>
                  <a:srgbClr val="2B475E"/>
                </a:solidFill>
                <a:latin typeface="Trebuchet MS"/>
                <a:cs typeface="Trebuchet MS"/>
              </a:rPr>
              <a:t>ional</a:t>
            </a:r>
            <a:r>
              <a:rPr sz="1200" b="1" spc="35" dirty="0">
                <a:solidFill>
                  <a:srgbClr val="2B475E"/>
                </a:solidFill>
                <a:latin typeface="Trebuchet MS"/>
                <a:cs typeface="Trebuchet MS"/>
              </a:rPr>
              <a:t> </a:t>
            </a:r>
            <a:r>
              <a:rPr sz="1200" b="1" spc="-20" dirty="0">
                <a:solidFill>
                  <a:srgbClr val="2B475E"/>
                </a:solidFill>
                <a:latin typeface="Trebuchet MS"/>
                <a:cs typeface="Trebuchet MS"/>
              </a:rPr>
              <a:t>202</a:t>
            </a:r>
            <a:r>
              <a:rPr lang="pt-BR" sz="1200" b="1" spc="-20" dirty="0">
                <a:solidFill>
                  <a:srgbClr val="2B475E"/>
                </a:solidFill>
                <a:latin typeface="Trebuchet MS"/>
                <a:cs typeface="Trebuchet MS"/>
              </a:rPr>
              <a:t>5</a:t>
            </a:r>
            <a:r>
              <a:rPr sz="1200" b="1" spc="-20" dirty="0">
                <a:solidFill>
                  <a:srgbClr val="2B475E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2B475E"/>
                </a:solidFill>
                <a:latin typeface="Trebuchet MS"/>
                <a:cs typeface="Trebuchet MS"/>
              </a:rPr>
              <a:t>CMEtK</a:t>
            </a:r>
            <a:r>
              <a:rPr sz="1200" b="1" spc="-20" dirty="0">
                <a:solidFill>
                  <a:srgbClr val="2B475E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2B475E"/>
                </a:solidFill>
                <a:latin typeface="Trebuchet MS"/>
                <a:cs typeface="Trebuchet MS"/>
              </a:rPr>
              <a:t>Soluções</a:t>
            </a:r>
            <a:r>
              <a:rPr sz="1200" b="1" spc="-10" dirty="0">
                <a:solidFill>
                  <a:srgbClr val="2B475E"/>
                </a:solidFill>
                <a:latin typeface="Trebuchet MS"/>
                <a:cs typeface="Trebuchet MS"/>
              </a:rPr>
              <a:t> Hospitalares</a:t>
            </a:r>
            <a:endParaRPr sz="12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1480" y="1562100"/>
            <a:ext cx="2933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24453"/>
                </a:solidFill>
                <a:latin typeface="Georgia"/>
                <a:cs typeface="Georgia"/>
              </a:rPr>
              <a:t>Locação</a:t>
            </a:r>
            <a:r>
              <a:rPr sz="1800" spc="-65" dirty="0">
                <a:solidFill>
                  <a:srgbClr val="424453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424453"/>
                </a:solidFill>
                <a:latin typeface="Georgia"/>
                <a:cs typeface="Georgia"/>
              </a:rPr>
              <a:t>de</a:t>
            </a:r>
            <a:r>
              <a:rPr sz="1800" spc="-60" dirty="0">
                <a:solidFill>
                  <a:srgbClr val="424453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424453"/>
                </a:solidFill>
                <a:latin typeface="Georgia"/>
                <a:cs typeface="Georgia"/>
              </a:rPr>
              <a:t>Caixas</a:t>
            </a:r>
            <a:r>
              <a:rPr sz="1800" spc="-40" dirty="0">
                <a:solidFill>
                  <a:srgbClr val="424453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424453"/>
                </a:solidFill>
                <a:latin typeface="Georgia"/>
                <a:cs typeface="Georgia"/>
              </a:rPr>
              <a:t>Cirúrgicas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0059" y="2105659"/>
            <a:ext cx="4761231" cy="10233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2880" marR="5080">
              <a:lnSpc>
                <a:spcPct val="150000"/>
              </a:lnSpc>
              <a:spcBef>
                <a:spcPts val="100"/>
              </a:spcBef>
            </a:pPr>
            <a:r>
              <a:rPr sz="1000" dirty="0">
                <a:latin typeface="Georgia"/>
                <a:cs typeface="Georgia"/>
              </a:rPr>
              <a:t>A</a:t>
            </a:r>
            <a:r>
              <a:rPr sz="1000" spc="-2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solução</a:t>
            </a:r>
            <a:r>
              <a:rPr sz="1000" spc="-5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em</a:t>
            </a:r>
            <a:r>
              <a:rPr sz="1000" spc="-3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locação</a:t>
            </a:r>
            <a:r>
              <a:rPr sz="1000" spc="-4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de</a:t>
            </a:r>
            <a:r>
              <a:rPr sz="1000" spc="-3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caixas/containers</a:t>
            </a:r>
            <a:r>
              <a:rPr sz="1000" spc="-4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cirúrgicos</a:t>
            </a:r>
            <a:r>
              <a:rPr sz="1000" spc="-4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vem</a:t>
            </a:r>
            <a:r>
              <a:rPr sz="1000" spc="-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em</a:t>
            </a:r>
            <a:r>
              <a:rPr sz="1000" spc="-3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linha</a:t>
            </a:r>
            <a:r>
              <a:rPr sz="1000" spc="-5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com</a:t>
            </a:r>
            <a:r>
              <a:rPr sz="1000" spc="-5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os</a:t>
            </a:r>
            <a:r>
              <a:rPr sz="1000" spc="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novos</a:t>
            </a:r>
            <a:r>
              <a:rPr sz="1000" spc="-2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valores</a:t>
            </a:r>
            <a:r>
              <a:rPr sz="1000" spc="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para</a:t>
            </a:r>
            <a:r>
              <a:rPr sz="1000" spc="-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com</a:t>
            </a:r>
            <a:r>
              <a:rPr sz="1000" spc="-5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</a:t>
            </a:r>
            <a:r>
              <a:rPr sz="1000" spc="-1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gestão </a:t>
            </a:r>
            <a:r>
              <a:rPr sz="1000" dirty="0">
                <a:latin typeface="Georgia"/>
                <a:cs typeface="Georgia"/>
              </a:rPr>
              <a:t>hospitalar</a:t>
            </a:r>
            <a:r>
              <a:rPr sz="1000" spc="-10" dirty="0">
                <a:latin typeface="Georgia"/>
                <a:cs typeface="Georgia"/>
              </a:rPr>
              <a:t> eficiente, inteligente</a:t>
            </a:r>
            <a:r>
              <a:rPr sz="1000" spc="-1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e</a:t>
            </a:r>
            <a:r>
              <a:rPr sz="1000" spc="-1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com</a:t>
            </a:r>
            <a:r>
              <a:rPr sz="1000" spc="-2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segurança</a:t>
            </a:r>
            <a:r>
              <a:rPr sz="1000" spc="-2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para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os</a:t>
            </a:r>
            <a:r>
              <a:rPr sz="1000" spc="-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pacientes</a:t>
            </a:r>
            <a:r>
              <a:rPr sz="1000" spc="-1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e</a:t>
            </a:r>
            <a:r>
              <a:rPr sz="1000" spc="-1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equipes</a:t>
            </a:r>
            <a:r>
              <a:rPr sz="1000" spc="-10" dirty="0">
                <a:latin typeface="Georgia"/>
                <a:cs typeface="Georgia"/>
              </a:rPr>
              <a:t> médicas.</a:t>
            </a:r>
            <a:endParaRPr sz="100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400" dirty="0">
                <a:solidFill>
                  <a:srgbClr val="424453"/>
                </a:solidFill>
                <a:latin typeface="Georgia"/>
                <a:cs typeface="Georgia"/>
              </a:rPr>
              <a:t>Escopo</a:t>
            </a:r>
            <a:r>
              <a:rPr sz="1400" spc="-65" dirty="0">
                <a:solidFill>
                  <a:srgbClr val="424453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424453"/>
                </a:solidFill>
                <a:latin typeface="Georgia"/>
                <a:cs typeface="Georgia"/>
              </a:rPr>
              <a:t>do</a:t>
            </a:r>
            <a:r>
              <a:rPr sz="1400" spc="-45" dirty="0">
                <a:solidFill>
                  <a:srgbClr val="424453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424453"/>
                </a:solidFill>
                <a:latin typeface="Georgia"/>
                <a:cs typeface="Georgia"/>
              </a:rPr>
              <a:t>Projeto</a:t>
            </a:r>
            <a:r>
              <a:rPr sz="1400" spc="-60" dirty="0">
                <a:solidFill>
                  <a:srgbClr val="424453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424453"/>
                </a:solidFill>
                <a:latin typeface="Georgia"/>
                <a:cs typeface="Georgia"/>
              </a:rPr>
              <a:t>é</a:t>
            </a:r>
            <a:r>
              <a:rPr sz="1400" spc="-60" dirty="0">
                <a:solidFill>
                  <a:srgbClr val="424453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424453"/>
                </a:solidFill>
                <a:latin typeface="Georgia"/>
                <a:cs typeface="Georgia"/>
              </a:rPr>
              <a:t>dividido</a:t>
            </a:r>
            <a:r>
              <a:rPr sz="1400" spc="-65" dirty="0">
                <a:solidFill>
                  <a:srgbClr val="424453"/>
                </a:solidFill>
                <a:latin typeface="Georgia"/>
                <a:cs typeface="Georgia"/>
              </a:rPr>
              <a:t> </a:t>
            </a:r>
            <a:r>
              <a:rPr sz="1400" spc="-25" dirty="0">
                <a:solidFill>
                  <a:srgbClr val="424453"/>
                </a:solidFill>
                <a:latin typeface="Georgia"/>
                <a:cs typeface="Georgia"/>
              </a:rPr>
              <a:t>em:</a:t>
            </a:r>
            <a:endParaRPr sz="1400" dirty="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3859" y="7030719"/>
            <a:ext cx="60566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dirty="0">
                <a:latin typeface="Georgia"/>
                <a:cs typeface="Georgia"/>
              </a:rPr>
              <a:t>* O</a:t>
            </a:r>
            <a:r>
              <a:rPr sz="1000" spc="-10" dirty="0">
                <a:latin typeface="Georgia"/>
                <a:cs typeface="Georgia"/>
              </a:rPr>
              <a:t> serviço/projeto </a:t>
            </a:r>
            <a:r>
              <a:rPr sz="1000" dirty="0">
                <a:latin typeface="Georgia"/>
                <a:cs typeface="Georgia"/>
              </a:rPr>
              <a:t>é</a:t>
            </a:r>
            <a:r>
              <a:rPr sz="1000" spc="-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totalmente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customizável</a:t>
            </a:r>
            <a:r>
              <a:rPr sz="1000" spc="-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as</a:t>
            </a:r>
            <a:r>
              <a:rPr sz="1000" spc="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necessidades</a:t>
            </a:r>
            <a:r>
              <a:rPr sz="1000" spc="-4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do</a:t>
            </a:r>
            <a:r>
              <a:rPr sz="1000" spc="-10" dirty="0">
                <a:latin typeface="Georgia"/>
                <a:cs typeface="Georgia"/>
              </a:rPr>
              <a:t> cliente,</a:t>
            </a:r>
            <a:r>
              <a:rPr sz="1000" spc="-1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isso</a:t>
            </a:r>
            <a:r>
              <a:rPr sz="1000" spc="-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é</a:t>
            </a:r>
            <a:r>
              <a:rPr sz="1000" spc="-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montado</a:t>
            </a:r>
            <a:r>
              <a:rPr sz="1000" spc="-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</a:t>
            </a:r>
            <a:r>
              <a:rPr sz="1000" spc="-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partir</a:t>
            </a:r>
            <a:r>
              <a:rPr sz="1000" spc="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de</a:t>
            </a:r>
            <a:r>
              <a:rPr sz="1000" spc="-3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reuniões </a:t>
            </a:r>
            <a:r>
              <a:rPr sz="1000" dirty="0">
                <a:latin typeface="Georgia"/>
                <a:cs typeface="Georgia"/>
              </a:rPr>
              <a:t>de</a:t>
            </a:r>
            <a:r>
              <a:rPr sz="1000" spc="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entendimento</a:t>
            </a:r>
            <a:r>
              <a:rPr sz="1000" spc="1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da </a:t>
            </a:r>
            <a:r>
              <a:rPr sz="1000" spc="-10" dirty="0">
                <a:latin typeface="Georgia"/>
                <a:cs typeface="Georgia"/>
              </a:rPr>
              <a:t>necessidade</a:t>
            </a:r>
            <a:r>
              <a:rPr sz="1000" spc="1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real do</a:t>
            </a:r>
            <a:r>
              <a:rPr sz="1000" spc="1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hospital.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79704" y="3425494"/>
            <a:ext cx="6599555" cy="3644265"/>
            <a:chOff x="179704" y="3425494"/>
            <a:chExt cx="6599555" cy="364426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9704" y="3425494"/>
              <a:ext cx="3835348" cy="364370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851424" y="3874783"/>
              <a:ext cx="2880360" cy="579120"/>
            </a:xfrm>
            <a:custGeom>
              <a:avLst/>
              <a:gdLst/>
              <a:ahLst/>
              <a:cxnLst/>
              <a:rect l="l" t="t" r="r" b="b"/>
              <a:pathLst>
                <a:path w="2880359" h="579120">
                  <a:moveTo>
                    <a:pt x="0" y="96520"/>
                  </a:moveTo>
                  <a:lnTo>
                    <a:pt x="7581" y="58940"/>
                  </a:lnTo>
                  <a:lnTo>
                    <a:pt x="28257" y="28257"/>
                  </a:lnTo>
                  <a:lnTo>
                    <a:pt x="58940" y="7581"/>
                  </a:lnTo>
                  <a:lnTo>
                    <a:pt x="96520" y="0"/>
                  </a:lnTo>
                  <a:lnTo>
                    <a:pt x="2783840" y="0"/>
                  </a:lnTo>
                  <a:lnTo>
                    <a:pt x="2821419" y="7581"/>
                  </a:lnTo>
                  <a:lnTo>
                    <a:pt x="2852102" y="28257"/>
                  </a:lnTo>
                  <a:lnTo>
                    <a:pt x="2872778" y="58940"/>
                  </a:lnTo>
                  <a:lnTo>
                    <a:pt x="2880360" y="96520"/>
                  </a:lnTo>
                  <a:lnTo>
                    <a:pt x="2880360" y="482600"/>
                  </a:lnTo>
                  <a:lnTo>
                    <a:pt x="2872778" y="520179"/>
                  </a:lnTo>
                  <a:lnTo>
                    <a:pt x="2852102" y="550862"/>
                  </a:lnTo>
                  <a:lnTo>
                    <a:pt x="2821419" y="571538"/>
                  </a:lnTo>
                  <a:lnTo>
                    <a:pt x="2783840" y="579120"/>
                  </a:lnTo>
                  <a:lnTo>
                    <a:pt x="96520" y="579120"/>
                  </a:lnTo>
                  <a:lnTo>
                    <a:pt x="58940" y="571538"/>
                  </a:lnTo>
                  <a:lnTo>
                    <a:pt x="28257" y="550862"/>
                  </a:lnTo>
                  <a:lnTo>
                    <a:pt x="7581" y="520179"/>
                  </a:lnTo>
                  <a:lnTo>
                    <a:pt x="0" y="482600"/>
                  </a:lnTo>
                  <a:lnTo>
                    <a:pt x="0" y="96520"/>
                  </a:lnTo>
                  <a:close/>
                </a:path>
              </a:pathLst>
            </a:custGeom>
            <a:ln w="3175">
              <a:solidFill>
                <a:srgbClr val="5C92B5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61584" y="4758706"/>
              <a:ext cx="2880360" cy="579120"/>
            </a:xfrm>
            <a:custGeom>
              <a:avLst/>
              <a:gdLst/>
              <a:ahLst/>
              <a:cxnLst/>
              <a:rect l="l" t="t" r="r" b="b"/>
              <a:pathLst>
                <a:path w="2880359" h="579120">
                  <a:moveTo>
                    <a:pt x="0" y="96520"/>
                  </a:moveTo>
                  <a:lnTo>
                    <a:pt x="7581" y="58940"/>
                  </a:lnTo>
                  <a:lnTo>
                    <a:pt x="28257" y="28257"/>
                  </a:lnTo>
                  <a:lnTo>
                    <a:pt x="58940" y="7581"/>
                  </a:lnTo>
                  <a:lnTo>
                    <a:pt x="96520" y="0"/>
                  </a:lnTo>
                  <a:lnTo>
                    <a:pt x="2783840" y="0"/>
                  </a:lnTo>
                  <a:lnTo>
                    <a:pt x="2821419" y="7581"/>
                  </a:lnTo>
                  <a:lnTo>
                    <a:pt x="2852102" y="28257"/>
                  </a:lnTo>
                  <a:lnTo>
                    <a:pt x="2872778" y="58940"/>
                  </a:lnTo>
                  <a:lnTo>
                    <a:pt x="2880360" y="96520"/>
                  </a:lnTo>
                  <a:lnTo>
                    <a:pt x="2880360" y="482600"/>
                  </a:lnTo>
                  <a:lnTo>
                    <a:pt x="2872778" y="520179"/>
                  </a:lnTo>
                  <a:lnTo>
                    <a:pt x="2852102" y="550862"/>
                  </a:lnTo>
                  <a:lnTo>
                    <a:pt x="2821419" y="571538"/>
                  </a:lnTo>
                  <a:lnTo>
                    <a:pt x="2783840" y="579120"/>
                  </a:lnTo>
                  <a:lnTo>
                    <a:pt x="96520" y="579120"/>
                  </a:lnTo>
                  <a:lnTo>
                    <a:pt x="58940" y="571538"/>
                  </a:lnTo>
                  <a:lnTo>
                    <a:pt x="28257" y="550862"/>
                  </a:lnTo>
                  <a:lnTo>
                    <a:pt x="7581" y="520179"/>
                  </a:lnTo>
                  <a:lnTo>
                    <a:pt x="0" y="482600"/>
                  </a:lnTo>
                  <a:lnTo>
                    <a:pt x="0" y="96520"/>
                  </a:lnTo>
                  <a:close/>
                </a:path>
              </a:pathLst>
            </a:custGeom>
            <a:ln w="3175">
              <a:solidFill>
                <a:srgbClr val="5C92B5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97143" y="5548645"/>
              <a:ext cx="2880360" cy="579120"/>
            </a:xfrm>
            <a:custGeom>
              <a:avLst/>
              <a:gdLst/>
              <a:ahLst/>
              <a:cxnLst/>
              <a:rect l="l" t="t" r="r" b="b"/>
              <a:pathLst>
                <a:path w="2880359" h="579120">
                  <a:moveTo>
                    <a:pt x="0" y="96520"/>
                  </a:moveTo>
                  <a:lnTo>
                    <a:pt x="7581" y="58940"/>
                  </a:lnTo>
                  <a:lnTo>
                    <a:pt x="28257" y="28257"/>
                  </a:lnTo>
                  <a:lnTo>
                    <a:pt x="58940" y="7581"/>
                  </a:lnTo>
                  <a:lnTo>
                    <a:pt x="96520" y="0"/>
                  </a:lnTo>
                  <a:lnTo>
                    <a:pt x="2783840" y="0"/>
                  </a:lnTo>
                  <a:lnTo>
                    <a:pt x="2821419" y="7581"/>
                  </a:lnTo>
                  <a:lnTo>
                    <a:pt x="2852102" y="28257"/>
                  </a:lnTo>
                  <a:lnTo>
                    <a:pt x="2872778" y="58940"/>
                  </a:lnTo>
                  <a:lnTo>
                    <a:pt x="2880360" y="96520"/>
                  </a:lnTo>
                  <a:lnTo>
                    <a:pt x="2880360" y="482600"/>
                  </a:lnTo>
                  <a:lnTo>
                    <a:pt x="2872778" y="520179"/>
                  </a:lnTo>
                  <a:lnTo>
                    <a:pt x="2852102" y="550862"/>
                  </a:lnTo>
                  <a:lnTo>
                    <a:pt x="2821419" y="571538"/>
                  </a:lnTo>
                  <a:lnTo>
                    <a:pt x="2783840" y="579120"/>
                  </a:lnTo>
                  <a:lnTo>
                    <a:pt x="96520" y="579120"/>
                  </a:lnTo>
                  <a:lnTo>
                    <a:pt x="58940" y="571538"/>
                  </a:lnTo>
                  <a:lnTo>
                    <a:pt x="28257" y="550862"/>
                  </a:lnTo>
                  <a:lnTo>
                    <a:pt x="7581" y="520179"/>
                  </a:lnTo>
                  <a:lnTo>
                    <a:pt x="0" y="482600"/>
                  </a:lnTo>
                  <a:lnTo>
                    <a:pt x="0" y="96520"/>
                  </a:lnTo>
                  <a:close/>
                </a:path>
              </a:pathLst>
            </a:custGeom>
            <a:ln w="3175">
              <a:solidFill>
                <a:srgbClr val="5C92B5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977640" y="3924300"/>
            <a:ext cx="259016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latin typeface="Georgia"/>
                <a:cs typeface="Georgia"/>
              </a:rPr>
              <a:t>Sistema</a:t>
            </a:r>
            <a:r>
              <a:rPr sz="800" b="1" spc="360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-</a:t>
            </a:r>
            <a:r>
              <a:rPr sz="800" spc="365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Montagem</a:t>
            </a:r>
            <a:r>
              <a:rPr sz="800" spc="360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dos</a:t>
            </a:r>
            <a:r>
              <a:rPr sz="800" spc="365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containers</a:t>
            </a:r>
            <a:r>
              <a:rPr sz="800" spc="360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realizada</a:t>
            </a:r>
            <a:r>
              <a:rPr sz="800" spc="360" dirty="0">
                <a:latin typeface="Georgia"/>
                <a:cs typeface="Georgia"/>
              </a:rPr>
              <a:t> </a:t>
            </a:r>
            <a:r>
              <a:rPr sz="800" spc="-25" dirty="0">
                <a:latin typeface="Georgia"/>
                <a:cs typeface="Georgia"/>
              </a:rPr>
              <a:t>via</a:t>
            </a:r>
            <a:r>
              <a:rPr sz="800" spc="500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sistema</a:t>
            </a:r>
            <a:r>
              <a:rPr sz="800" spc="90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informatizado,</a:t>
            </a:r>
            <a:r>
              <a:rPr sz="800" spc="100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com</a:t>
            </a:r>
            <a:r>
              <a:rPr sz="800" spc="90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imagens,</a:t>
            </a:r>
            <a:r>
              <a:rPr sz="800" spc="100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testes</a:t>
            </a:r>
            <a:r>
              <a:rPr sz="800" spc="90" dirty="0">
                <a:latin typeface="Georgia"/>
                <a:cs typeface="Georgia"/>
              </a:rPr>
              <a:t> </a:t>
            </a:r>
            <a:r>
              <a:rPr sz="800" spc="-10" dirty="0">
                <a:latin typeface="Georgia"/>
                <a:cs typeface="Georgia"/>
              </a:rPr>
              <a:t>funcionais,</a:t>
            </a:r>
            <a:r>
              <a:rPr sz="800" spc="500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alertas</a:t>
            </a:r>
            <a:r>
              <a:rPr sz="800" spc="50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de</a:t>
            </a:r>
            <a:r>
              <a:rPr sz="800" spc="55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manutenções,</a:t>
            </a:r>
            <a:r>
              <a:rPr sz="800" spc="225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controle</a:t>
            </a:r>
            <a:r>
              <a:rPr sz="800" spc="55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de</a:t>
            </a:r>
            <a:r>
              <a:rPr sz="800" spc="65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revisões</a:t>
            </a:r>
            <a:r>
              <a:rPr sz="800" spc="50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das</a:t>
            </a:r>
            <a:r>
              <a:rPr sz="800" spc="55" dirty="0">
                <a:latin typeface="Georgia"/>
                <a:cs typeface="Georgia"/>
              </a:rPr>
              <a:t> </a:t>
            </a:r>
            <a:r>
              <a:rPr sz="800" spc="-10" dirty="0">
                <a:latin typeface="Georgia"/>
                <a:cs typeface="Georgia"/>
              </a:rPr>
              <a:t>listas,</a:t>
            </a:r>
            <a:r>
              <a:rPr sz="800" spc="500" dirty="0">
                <a:latin typeface="Georgia"/>
                <a:cs typeface="Georgia"/>
              </a:rPr>
              <a:t> </a:t>
            </a:r>
            <a:r>
              <a:rPr sz="800" spc="-10" dirty="0">
                <a:latin typeface="Georgia"/>
                <a:cs typeface="Georgia"/>
              </a:rPr>
              <a:t>entre</a:t>
            </a:r>
            <a:r>
              <a:rPr sz="800" spc="-35" dirty="0">
                <a:latin typeface="Georgia"/>
                <a:cs typeface="Georgia"/>
              </a:rPr>
              <a:t> </a:t>
            </a:r>
            <a:r>
              <a:rPr sz="800" spc="-10" dirty="0">
                <a:latin typeface="Georgia"/>
                <a:cs typeface="Georgia"/>
              </a:rPr>
              <a:t>outros.</a:t>
            </a:r>
            <a:endParaRPr sz="8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03040" y="4826000"/>
            <a:ext cx="235775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latin typeface="Georgia"/>
                <a:cs typeface="Georgia"/>
              </a:rPr>
              <a:t>Manutenções</a:t>
            </a:r>
            <a:r>
              <a:rPr sz="800" b="1" spc="-15" dirty="0">
                <a:latin typeface="Georgia"/>
                <a:cs typeface="Georgia"/>
              </a:rPr>
              <a:t> </a:t>
            </a:r>
            <a:r>
              <a:rPr sz="800" b="1" dirty="0">
                <a:latin typeface="Georgia"/>
                <a:cs typeface="Georgia"/>
              </a:rPr>
              <a:t>corretivas</a:t>
            </a:r>
            <a:r>
              <a:rPr sz="800" b="1" spc="-15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e</a:t>
            </a:r>
            <a:r>
              <a:rPr sz="800" spc="-15" dirty="0">
                <a:latin typeface="Georgia"/>
                <a:cs typeface="Georgia"/>
              </a:rPr>
              <a:t> </a:t>
            </a:r>
            <a:r>
              <a:rPr sz="800" spc="-10" dirty="0">
                <a:latin typeface="Georgia"/>
                <a:cs typeface="Georgia"/>
              </a:rPr>
              <a:t>preventivas</a:t>
            </a:r>
            <a:r>
              <a:rPr sz="800" spc="-15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feitas</a:t>
            </a:r>
            <a:r>
              <a:rPr sz="800" spc="-15" dirty="0">
                <a:latin typeface="Georgia"/>
                <a:cs typeface="Georgia"/>
              </a:rPr>
              <a:t> </a:t>
            </a:r>
            <a:r>
              <a:rPr sz="800" spc="-25" dirty="0">
                <a:latin typeface="Georgia"/>
                <a:cs typeface="Georgia"/>
              </a:rPr>
              <a:t>em</a:t>
            </a:r>
            <a:r>
              <a:rPr sz="800" spc="500" dirty="0">
                <a:latin typeface="Georgia"/>
                <a:cs typeface="Georgia"/>
              </a:rPr>
              <a:t> </a:t>
            </a:r>
            <a:r>
              <a:rPr sz="800" spc="-10" dirty="0">
                <a:latin typeface="Georgia"/>
                <a:cs typeface="Georgia"/>
              </a:rPr>
              <a:t>tempo</a:t>
            </a:r>
            <a:r>
              <a:rPr sz="800" spc="-25" dirty="0">
                <a:latin typeface="Georgia"/>
                <a:cs typeface="Georgia"/>
              </a:rPr>
              <a:t> </a:t>
            </a:r>
            <a:r>
              <a:rPr sz="800" spc="-10" dirty="0">
                <a:latin typeface="Georgia"/>
                <a:cs typeface="Georgia"/>
              </a:rPr>
              <a:t>preciso</a:t>
            </a:r>
            <a:r>
              <a:rPr sz="800" dirty="0">
                <a:latin typeface="Georgia"/>
                <a:cs typeface="Georgia"/>
              </a:rPr>
              <a:t> </a:t>
            </a:r>
            <a:r>
              <a:rPr sz="800" spc="-10" dirty="0">
                <a:latin typeface="Georgia"/>
                <a:cs typeface="Georgia"/>
              </a:rPr>
              <a:t>e</a:t>
            </a:r>
            <a:r>
              <a:rPr sz="800" spc="-40" dirty="0">
                <a:latin typeface="Georgia"/>
                <a:cs typeface="Georgia"/>
              </a:rPr>
              <a:t> </a:t>
            </a:r>
            <a:r>
              <a:rPr sz="800" spc="-10" dirty="0">
                <a:latin typeface="Georgia"/>
                <a:cs typeface="Georgia"/>
              </a:rPr>
              <a:t>por</a:t>
            </a:r>
            <a:r>
              <a:rPr sz="800" spc="-50" dirty="0">
                <a:latin typeface="Georgia"/>
                <a:cs typeface="Georgia"/>
              </a:rPr>
              <a:t> </a:t>
            </a:r>
            <a:r>
              <a:rPr sz="800" spc="-10" dirty="0">
                <a:latin typeface="Georgia"/>
                <a:cs typeface="Georgia"/>
              </a:rPr>
              <a:t>equipe</a:t>
            </a:r>
            <a:r>
              <a:rPr sz="800" spc="-15" dirty="0">
                <a:latin typeface="Georgia"/>
                <a:cs typeface="Georgia"/>
              </a:rPr>
              <a:t> </a:t>
            </a:r>
            <a:r>
              <a:rPr sz="800" spc="-10" dirty="0">
                <a:latin typeface="Georgia"/>
                <a:cs typeface="Georgia"/>
              </a:rPr>
              <a:t>qualificada</a:t>
            </a:r>
            <a:r>
              <a:rPr sz="800" spc="-20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,</a:t>
            </a:r>
            <a:r>
              <a:rPr sz="800" spc="-25" dirty="0">
                <a:latin typeface="Georgia"/>
                <a:cs typeface="Georgia"/>
              </a:rPr>
              <a:t> </a:t>
            </a:r>
            <a:r>
              <a:rPr sz="800" spc="-10" dirty="0">
                <a:latin typeface="Georgia"/>
                <a:cs typeface="Georgia"/>
              </a:rPr>
              <a:t>garantindo</a:t>
            </a:r>
            <a:r>
              <a:rPr sz="800" dirty="0">
                <a:latin typeface="Georgia"/>
                <a:cs typeface="Georgia"/>
              </a:rPr>
              <a:t> </a:t>
            </a:r>
            <a:r>
              <a:rPr sz="800" spc="-50" dirty="0">
                <a:latin typeface="Georgia"/>
                <a:cs typeface="Georgia"/>
              </a:rPr>
              <a:t>a</a:t>
            </a:r>
            <a:r>
              <a:rPr sz="800" spc="500" dirty="0">
                <a:latin typeface="Georgia"/>
                <a:cs typeface="Georgia"/>
              </a:rPr>
              <a:t> </a:t>
            </a:r>
            <a:r>
              <a:rPr sz="800" spc="-10" dirty="0">
                <a:latin typeface="Georgia"/>
                <a:cs typeface="Georgia"/>
              </a:rPr>
              <a:t>equipe</a:t>
            </a:r>
            <a:r>
              <a:rPr sz="800" spc="5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médica</a:t>
            </a:r>
            <a:r>
              <a:rPr sz="800" spc="5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a</a:t>
            </a:r>
            <a:r>
              <a:rPr sz="800" spc="5" dirty="0">
                <a:latin typeface="Georgia"/>
                <a:cs typeface="Georgia"/>
              </a:rPr>
              <a:t> </a:t>
            </a:r>
            <a:r>
              <a:rPr sz="800" spc="-10" dirty="0">
                <a:latin typeface="Georgia"/>
                <a:cs typeface="Georgia"/>
              </a:rPr>
              <a:t>segurança</a:t>
            </a:r>
            <a:r>
              <a:rPr sz="800" spc="5" dirty="0">
                <a:latin typeface="Georgia"/>
                <a:cs typeface="Georgia"/>
              </a:rPr>
              <a:t> </a:t>
            </a:r>
            <a:r>
              <a:rPr sz="800" spc="-10" dirty="0">
                <a:latin typeface="Georgia"/>
                <a:cs typeface="Georgia"/>
              </a:rPr>
              <a:t>necessária</a:t>
            </a:r>
            <a:r>
              <a:rPr sz="800" spc="5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durante</a:t>
            </a:r>
            <a:r>
              <a:rPr sz="800" spc="5" dirty="0">
                <a:latin typeface="Georgia"/>
                <a:cs typeface="Georgia"/>
              </a:rPr>
              <a:t> </a:t>
            </a:r>
            <a:r>
              <a:rPr sz="800" spc="-25" dirty="0">
                <a:latin typeface="Georgia"/>
                <a:cs typeface="Georgia"/>
              </a:rPr>
              <a:t>os</a:t>
            </a:r>
            <a:r>
              <a:rPr sz="800" spc="500" dirty="0">
                <a:latin typeface="Georgia"/>
                <a:cs typeface="Georgia"/>
              </a:rPr>
              <a:t> </a:t>
            </a:r>
            <a:r>
              <a:rPr sz="800" spc="-10" dirty="0">
                <a:latin typeface="Georgia"/>
                <a:cs typeface="Georgia"/>
              </a:rPr>
              <a:t>procedimentos.</a:t>
            </a:r>
            <a:endParaRPr sz="8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41140" y="5684520"/>
            <a:ext cx="24752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Georgia"/>
                <a:cs typeface="Georgia"/>
              </a:rPr>
              <a:t>Containers</a:t>
            </a:r>
            <a:r>
              <a:rPr sz="800" spc="-20" dirty="0">
                <a:latin typeface="Georgia"/>
                <a:cs typeface="Georgia"/>
              </a:rPr>
              <a:t> </a:t>
            </a:r>
            <a:r>
              <a:rPr sz="800" spc="-10" dirty="0">
                <a:latin typeface="Georgia"/>
                <a:cs typeface="Georgia"/>
              </a:rPr>
              <a:t>de</a:t>
            </a:r>
            <a:r>
              <a:rPr sz="800" spc="-20" dirty="0">
                <a:latin typeface="Georgia"/>
                <a:cs typeface="Georgia"/>
              </a:rPr>
              <a:t> </a:t>
            </a:r>
            <a:r>
              <a:rPr sz="800" b="1" spc="-10" dirty="0">
                <a:latin typeface="Georgia"/>
                <a:cs typeface="Georgia"/>
              </a:rPr>
              <a:t>material </a:t>
            </a:r>
            <a:r>
              <a:rPr sz="800" b="1" dirty="0">
                <a:latin typeface="Georgia"/>
                <a:cs typeface="Georgia"/>
              </a:rPr>
              <a:t>de</a:t>
            </a:r>
            <a:r>
              <a:rPr sz="800" b="1" spc="-25" dirty="0">
                <a:latin typeface="Georgia"/>
                <a:cs typeface="Georgia"/>
              </a:rPr>
              <a:t> </a:t>
            </a:r>
            <a:r>
              <a:rPr sz="800" b="1" spc="-10" dirty="0">
                <a:latin typeface="Georgia"/>
                <a:cs typeface="Georgia"/>
              </a:rPr>
              <a:t>qualidade,</a:t>
            </a:r>
            <a:r>
              <a:rPr sz="800" b="1" spc="-20" dirty="0">
                <a:latin typeface="Georgia"/>
                <a:cs typeface="Georgia"/>
              </a:rPr>
              <a:t> </a:t>
            </a:r>
            <a:r>
              <a:rPr sz="800" spc="-10" dirty="0">
                <a:latin typeface="Georgia"/>
                <a:cs typeface="Georgia"/>
              </a:rPr>
              <a:t>padronizado</a:t>
            </a:r>
            <a:r>
              <a:rPr sz="800" spc="5" dirty="0">
                <a:latin typeface="Georgia"/>
                <a:cs typeface="Georgia"/>
              </a:rPr>
              <a:t> </a:t>
            </a:r>
            <a:r>
              <a:rPr sz="800" spc="-50" dirty="0">
                <a:latin typeface="Georgia"/>
                <a:cs typeface="Georgia"/>
              </a:rPr>
              <a:t>e</a:t>
            </a:r>
            <a:r>
              <a:rPr sz="800" spc="500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voltado</a:t>
            </a:r>
            <a:r>
              <a:rPr sz="800" spc="10" dirty="0">
                <a:latin typeface="Georgia"/>
                <a:cs typeface="Georgia"/>
              </a:rPr>
              <a:t> </a:t>
            </a:r>
            <a:r>
              <a:rPr sz="800" spc="-10" dirty="0">
                <a:latin typeface="Georgia"/>
                <a:cs typeface="Georgia"/>
              </a:rPr>
              <a:t>totalmente</a:t>
            </a:r>
            <a:r>
              <a:rPr sz="800" dirty="0">
                <a:latin typeface="Georgia"/>
                <a:cs typeface="Georgia"/>
              </a:rPr>
              <a:t> para</a:t>
            </a:r>
            <a:r>
              <a:rPr sz="800" spc="-5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a </a:t>
            </a:r>
            <a:r>
              <a:rPr sz="800" spc="-10" dirty="0">
                <a:latin typeface="Georgia"/>
                <a:cs typeface="Georgia"/>
              </a:rPr>
              <a:t>equipe</a:t>
            </a:r>
            <a:endParaRPr sz="800">
              <a:latin typeface="Georgia"/>
              <a:cs typeface="Georgi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67200" y="7580503"/>
            <a:ext cx="1640840" cy="1200784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" dirty="0"/>
              <a:t>CMEtK</a:t>
            </a:r>
            <a:r>
              <a:rPr spc="-35" dirty="0"/>
              <a:t> </a:t>
            </a:r>
            <a:r>
              <a:rPr spc="-10" dirty="0"/>
              <a:t>Soluções</a:t>
            </a:r>
            <a:r>
              <a:rPr spc="-25" dirty="0"/>
              <a:t> </a:t>
            </a:r>
            <a:r>
              <a:rPr spc="-10" dirty="0"/>
              <a:t>Hospitalares</a:t>
            </a:r>
            <a:r>
              <a:rPr spc="-5" dirty="0"/>
              <a:t> </a:t>
            </a:r>
            <a:r>
              <a:rPr spc="-10" dirty="0"/>
              <a:t>Ltda</a:t>
            </a:r>
            <a:r>
              <a:rPr spc="-20" dirty="0"/>
              <a:t> </a:t>
            </a:r>
            <a:r>
              <a:rPr spc="-10" dirty="0"/>
              <a:t>-</a:t>
            </a:r>
            <a:r>
              <a:rPr spc="-30" dirty="0"/>
              <a:t> </a:t>
            </a:r>
            <a:r>
              <a:rPr spc="-10" dirty="0"/>
              <a:t>Confidencial</a:t>
            </a:r>
          </a:p>
        </p:txBody>
      </p:sp>
      <p:pic>
        <p:nvPicPr>
          <p:cNvPr id="2" name="Imagem 1" descr="Logotipo&#10;&#10;O conteúdo gerado por IA pode estar incorreto.">
            <a:extLst>
              <a:ext uri="{FF2B5EF4-FFF2-40B4-BE49-F238E27FC236}">
                <a16:creationId xmlns:a16="http://schemas.microsoft.com/office/drawing/2014/main" id="{D7672203-8189-C2B0-1568-A2E61CE0437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947527"/>
            <a:ext cx="2329063" cy="10194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6858000" cy="832485"/>
            <a:chOff x="0" y="0"/>
            <a:chExt cx="6858000" cy="832485"/>
          </a:xfrm>
        </p:grpSpPr>
        <p:sp>
          <p:nvSpPr>
            <p:cNvPr id="3" name="object 3"/>
            <p:cNvSpPr/>
            <p:nvPr/>
          </p:nvSpPr>
          <p:spPr>
            <a:xfrm>
              <a:off x="6784326" y="0"/>
              <a:ext cx="20320" cy="825500"/>
            </a:xfrm>
            <a:custGeom>
              <a:avLst/>
              <a:gdLst/>
              <a:ahLst/>
              <a:cxnLst/>
              <a:rect l="l" t="t" r="r" b="b"/>
              <a:pathLst>
                <a:path w="20320" h="825500">
                  <a:moveTo>
                    <a:pt x="20320" y="0"/>
                  </a:moveTo>
                  <a:lnTo>
                    <a:pt x="0" y="0"/>
                  </a:lnTo>
                  <a:lnTo>
                    <a:pt x="0" y="825068"/>
                  </a:lnTo>
                  <a:lnTo>
                    <a:pt x="20320" y="825068"/>
                  </a:lnTo>
                  <a:lnTo>
                    <a:pt x="20320" y="0"/>
                  </a:lnTo>
                  <a:close/>
                </a:path>
              </a:pathLst>
            </a:custGeom>
            <a:solidFill>
              <a:srgbClr val="FFFFFF">
                <a:alpha val="650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687172" y="203"/>
              <a:ext cx="40640" cy="779780"/>
            </a:xfrm>
            <a:custGeom>
              <a:avLst/>
              <a:gdLst/>
              <a:ahLst/>
              <a:cxnLst/>
              <a:rect l="l" t="t" r="r" b="b"/>
              <a:pathLst>
                <a:path w="40640" h="779780">
                  <a:moveTo>
                    <a:pt x="40640" y="0"/>
                  </a:moveTo>
                  <a:lnTo>
                    <a:pt x="0" y="0"/>
                  </a:lnTo>
                  <a:lnTo>
                    <a:pt x="0" y="779183"/>
                  </a:lnTo>
                  <a:lnTo>
                    <a:pt x="40640" y="779183"/>
                  </a:lnTo>
                  <a:lnTo>
                    <a:pt x="40640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11480" y="726440"/>
            <a:ext cx="2296795" cy="386003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1360"/>
              </a:lnSpc>
              <a:spcBef>
                <a:spcPts val="210"/>
              </a:spcBef>
            </a:pPr>
            <a:r>
              <a:rPr sz="1200" b="1" spc="-10" dirty="0">
                <a:solidFill>
                  <a:srgbClr val="2B475E"/>
                </a:solidFill>
                <a:latin typeface="Trebuchet MS"/>
                <a:cs typeface="Trebuchet MS"/>
              </a:rPr>
              <a:t>Apresentação</a:t>
            </a:r>
            <a:r>
              <a:rPr sz="1200" b="1" spc="-5" dirty="0">
                <a:solidFill>
                  <a:srgbClr val="2B475E"/>
                </a:solidFill>
                <a:latin typeface="Trebuchet MS"/>
                <a:cs typeface="Trebuchet MS"/>
              </a:rPr>
              <a:t> </a:t>
            </a:r>
            <a:r>
              <a:rPr sz="1200" b="1" spc="-10" dirty="0" err="1">
                <a:solidFill>
                  <a:srgbClr val="2B475E"/>
                </a:solidFill>
                <a:latin typeface="Trebuchet MS"/>
                <a:cs typeface="Trebuchet MS"/>
              </a:rPr>
              <a:t>Institucional</a:t>
            </a:r>
            <a:r>
              <a:rPr sz="1200" b="1" spc="5" dirty="0">
                <a:solidFill>
                  <a:srgbClr val="2B475E"/>
                </a:solidFill>
                <a:latin typeface="Trebuchet MS"/>
                <a:cs typeface="Trebuchet MS"/>
              </a:rPr>
              <a:t> </a:t>
            </a:r>
            <a:r>
              <a:rPr sz="1200" b="1" spc="-20" dirty="0">
                <a:solidFill>
                  <a:srgbClr val="2B475E"/>
                </a:solidFill>
                <a:latin typeface="Trebuchet MS"/>
                <a:cs typeface="Trebuchet MS"/>
              </a:rPr>
              <a:t>202</a:t>
            </a:r>
            <a:r>
              <a:rPr lang="pt-BR" sz="1200" b="1" spc="-20" dirty="0">
                <a:solidFill>
                  <a:srgbClr val="2B475E"/>
                </a:solidFill>
                <a:latin typeface="Trebuchet MS"/>
                <a:cs typeface="Trebuchet MS"/>
              </a:rPr>
              <a:t>5</a:t>
            </a:r>
            <a:r>
              <a:rPr sz="1200" b="1" spc="-20" dirty="0">
                <a:solidFill>
                  <a:srgbClr val="2B475E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2B475E"/>
                </a:solidFill>
                <a:latin typeface="Trebuchet MS"/>
                <a:cs typeface="Trebuchet MS"/>
              </a:rPr>
              <a:t>CMEtK</a:t>
            </a:r>
            <a:r>
              <a:rPr sz="1200" b="1" spc="-60" dirty="0">
                <a:solidFill>
                  <a:srgbClr val="2B475E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2B475E"/>
                </a:solidFill>
                <a:latin typeface="Trebuchet MS"/>
                <a:cs typeface="Trebuchet MS"/>
              </a:rPr>
              <a:t>Soluções</a:t>
            </a:r>
            <a:r>
              <a:rPr sz="1200" b="1" spc="-50" dirty="0">
                <a:solidFill>
                  <a:srgbClr val="2B475E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2B475E"/>
                </a:solidFill>
                <a:latin typeface="Trebuchet MS"/>
                <a:cs typeface="Trebuchet MS"/>
              </a:rPr>
              <a:t>Hospitalares</a:t>
            </a:r>
            <a:endParaRPr sz="1200" dirty="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0521" y="6679023"/>
            <a:ext cx="4684268" cy="194943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11480" y="1290319"/>
            <a:ext cx="2933065" cy="830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24453"/>
                </a:solidFill>
                <a:latin typeface="Georgia"/>
                <a:cs typeface="Georgia"/>
              </a:rPr>
              <a:t>Locação</a:t>
            </a:r>
            <a:r>
              <a:rPr sz="1800" spc="-65" dirty="0">
                <a:solidFill>
                  <a:srgbClr val="424453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424453"/>
                </a:solidFill>
                <a:latin typeface="Georgia"/>
                <a:cs typeface="Georgia"/>
              </a:rPr>
              <a:t>de</a:t>
            </a:r>
            <a:r>
              <a:rPr sz="1800" spc="-60" dirty="0">
                <a:solidFill>
                  <a:srgbClr val="424453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424453"/>
                </a:solidFill>
                <a:latin typeface="Georgia"/>
                <a:cs typeface="Georgia"/>
              </a:rPr>
              <a:t>Caixas</a:t>
            </a:r>
            <a:r>
              <a:rPr sz="1800" spc="-40" dirty="0">
                <a:solidFill>
                  <a:srgbClr val="424453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424453"/>
                </a:solidFill>
                <a:latin typeface="Georgia"/>
                <a:cs typeface="Georgia"/>
              </a:rPr>
              <a:t>Cirúrgicas</a:t>
            </a:r>
            <a:endParaRPr sz="18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1800">
              <a:latin typeface="Georgia"/>
              <a:cs typeface="Georgia"/>
            </a:endParaRPr>
          </a:p>
          <a:p>
            <a:pPr marL="80645">
              <a:lnSpc>
                <a:spcPct val="100000"/>
              </a:lnSpc>
              <a:spcBef>
                <a:spcPts val="5"/>
              </a:spcBef>
            </a:pPr>
            <a:r>
              <a:rPr sz="1400" i="1" spc="-10" dirty="0">
                <a:solidFill>
                  <a:srgbClr val="424453"/>
                </a:solidFill>
                <a:latin typeface="Georgia"/>
                <a:cs typeface="Georgia"/>
              </a:rPr>
              <a:t>Alguns</a:t>
            </a:r>
            <a:r>
              <a:rPr sz="1400" i="1" spc="-40" dirty="0">
                <a:solidFill>
                  <a:srgbClr val="424453"/>
                </a:solidFill>
                <a:latin typeface="Georgia"/>
                <a:cs typeface="Georgia"/>
              </a:rPr>
              <a:t> </a:t>
            </a:r>
            <a:r>
              <a:rPr sz="1400" i="1" spc="-10" dirty="0">
                <a:solidFill>
                  <a:srgbClr val="424453"/>
                </a:solidFill>
                <a:latin typeface="Georgia"/>
                <a:cs typeface="Georgia"/>
              </a:rPr>
              <a:t>Benefícios</a:t>
            </a:r>
            <a:r>
              <a:rPr sz="1400" i="1" spc="-40" dirty="0">
                <a:solidFill>
                  <a:srgbClr val="424453"/>
                </a:solidFill>
                <a:latin typeface="Georgia"/>
                <a:cs typeface="Georgia"/>
              </a:rPr>
              <a:t> </a:t>
            </a:r>
            <a:r>
              <a:rPr sz="1400" i="1" dirty="0">
                <a:solidFill>
                  <a:srgbClr val="424453"/>
                </a:solidFill>
                <a:latin typeface="Georgia"/>
                <a:cs typeface="Georgia"/>
              </a:rPr>
              <a:t>da</a:t>
            </a:r>
            <a:r>
              <a:rPr sz="1400" i="1" spc="-10" dirty="0">
                <a:solidFill>
                  <a:srgbClr val="424453"/>
                </a:solidFill>
                <a:latin typeface="Georgia"/>
                <a:cs typeface="Georgia"/>
              </a:rPr>
              <a:t> Locação</a:t>
            </a:r>
            <a:r>
              <a:rPr sz="1500" spc="-10" dirty="0">
                <a:solidFill>
                  <a:srgbClr val="424453"/>
                </a:solidFill>
                <a:latin typeface="Georgia"/>
                <a:cs typeface="Georgia"/>
              </a:rPr>
              <a:t>:</a:t>
            </a:r>
            <a:endParaRPr sz="15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0059" y="2165235"/>
            <a:ext cx="5513705" cy="393827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000" b="1" dirty="0">
                <a:latin typeface="Calibri"/>
                <a:cs typeface="Calibri"/>
              </a:rPr>
              <a:t>Para</a:t>
            </a:r>
            <a:r>
              <a:rPr sz="1000" b="1" spc="-5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a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spc="-10" dirty="0">
                <a:latin typeface="Calibri"/>
                <a:cs typeface="Calibri"/>
              </a:rPr>
              <a:t>equipe médica:</a:t>
            </a:r>
            <a:endParaRPr sz="1000">
              <a:latin typeface="Calibri"/>
              <a:cs typeface="Calibri"/>
            </a:endParaRPr>
          </a:p>
          <a:p>
            <a:pPr marL="299720" indent="-287020">
              <a:lnSpc>
                <a:spcPct val="100000"/>
              </a:lnSpc>
              <a:spcBef>
                <a:spcPts val="760"/>
              </a:spcBef>
              <a:buFont typeface="Wingdings"/>
              <a:buChar char=""/>
              <a:tabLst>
                <a:tab pos="299720" algn="l"/>
              </a:tabLst>
            </a:pPr>
            <a:r>
              <a:rPr sz="1100" spc="-10" dirty="0">
                <a:latin typeface="Calibri"/>
                <a:cs typeface="Calibri"/>
              </a:rPr>
              <a:t>Customização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padronização </a:t>
            </a:r>
            <a:r>
              <a:rPr sz="1100" dirty="0">
                <a:latin typeface="Calibri"/>
                <a:cs typeface="Calibri"/>
              </a:rPr>
              <a:t>das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composições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das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caixas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junto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equipe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médica;</a:t>
            </a:r>
            <a:endParaRPr sz="1100">
              <a:latin typeface="Calibri"/>
              <a:cs typeface="Calibri"/>
            </a:endParaRPr>
          </a:p>
          <a:p>
            <a:pPr marL="299720" indent="-287020">
              <a:lnSpc>
                <a:spcPct val="100000"/>
              </a:lnSpc>
              <a:spcBef>
                <a:spcPts val="340"/>
              </a:spcBef>
              <a:buFont typeface="Wingdings"/>
              <a:buChar char=""/>
              <a:tabLst>
                <a:tab pos="299720" algn="l"/>
              </a:tabLst>
            </a:pPr>
            <a:r>
              <a:rPr sz="1100" spc="-10" dirty="0">
                <a:latin typeface="Calibri"/>
                <a:cs typeface="Calibri"/>
              </a:rPr>
              <a:t>Atendimento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personalizado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totalmente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voltado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equipe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cirúrgica</a:t>
            </a:r>
            <a:endParaRPr sz="1100">
              <a:latin typeface="Calibri"/>
              <a:cs typeface="Calibri"/>
            </a:endParaRPr>
          </a:p>
          <a:p>
            <a:pPr marL="300355" indent="-287020">
              <a:lnSpc>
                <a:spcPct val="100000"/>
              </a:lnSpc>
              <a:spcBef>
                <a:spcPts val="320"/>
              </a:spcBef>
              <a:buFont typeface="Wingdings"/>
              <a:buChar char=""/>
              <a:tabLst>
                <a:tab pos="300355" algn="l"/>
              </a:tabLst>
            </a:pPr>
            <a:r>
              <a:rPr sz="1100" spc="-10" dirty="0">
                <a:latin typeface="Calibri"/>
                <a:cs typeface="Calibri"/>
              </a:rPr>
              <a:t>Mais</a:t>
            </a:r>
            <a:r>
              <a:rPr sz="1100" spc="-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28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mil</a:t>
            </a:r>
            <a:r>
              <a:rPr sz="1100" spc="-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itens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todas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as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especialidades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médicas</a:t>
            </a:r>
            <a:endParaRPr sz="1100">
              <a:latin typeface="Calibri"/>
              <a:cs typeface="Calibri"/>
            </a:endParaRPr>
          </a:p>
          <a:p>
            <a:pPr marL="300355">
              <a:lnSpc>
                <a:spcPct val="100000"/>
              </a:lnSpc>
              <a:spcBef>
                <a:spcPts val="320"/>
              </a:spcBef>
            </a:pPr>
            <a:r>
              <a:rPr sz="1100" spc="-10" dirty="0">
                <a:latin typeface="Calibri"/>
                <a:cs typeface="Calibri"/>
              </a:rPr>
              <a:t>Equipe</a:t>
            </a:r>
            <a:r>
              <a:rPr sz="1100" spc="-8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cirúrgica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sempre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satisfeita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 a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especificação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qualidade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dos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produtos</a:t>
            </a:r>
            <a:endParaRPr sz="1100">
              <a:latin typeface="Calibri"/>
              <a:cs typeface="Calibri"/>
            </a:endParaRPr>
          </a:p>
          <a:p>
            <a:pPr marL="13335">
              <a:lnSpc>
                <a:spcPct val="100000"/>
              </a:lnSpc>
              <a:spcBef>
                <a:spcPts val="1320"/>
              </a:spcBef>
            </a:pPr>
            <a:r>
              <a:rPr sz="1100" b="1" dirty="0">
                <a:latin typeface="Calibri"/>
                <a:cs typeface="Calibri"/>
              </a:rPr>
              <a:t>Para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a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equipe</a:t>
            </a:r>
            <a:r>
              <a:rPr sz="1100" b="1" spc="-6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da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CME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e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Gestão: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Calibri"/>
              <a:cs typeface="Calibri"/>
            </a:endParaRPr>
          </a:p>
          <a:p>
            <a:pPr marL="300355" indent="-287020">
              <a:lnSpc>
                <a:spcPct val="100000"/>
              </a:lnSpc>
              <a:buFont typeface="Wingdings"/>
              <a:buChar char=""/>
              <a:tabLst>
                <a:tab pos="300355" algn="l"/>
              </a:tabLst>
            </a:pPr>
            <a:r>
              <a:rPr sz="1100" spc="-10" dirty="0">
                <a:latin typeface="Calibri"/>
                <a:cs typeface="Calibri"/>
              </a:rPr>
              <a:t>Manutenção</a:t>
            </a:r>
            <a:r>
              <a:rPr sz="110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Preventiva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Corretiva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ou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Reposição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dos </a:t>
            </a:r>
            <a:r>
              <a:rPr sz="1100" spc="-10" dirty="0">
                <a:latin typeface="Calibri"/>
                <a:cs typeface="Calibri"/>
              </a:rPr>
              <a:t>materiais;</a:t>
            </a:r>
            <a:endParaRPr sz="1100">
              <a:latin typeface="Calibri"/>
              <a:cs typeface="Calibri"/>
            </a:endParaRPr>
          </a:p>
          <a:p>
            <a:pPr marL="300990" indent="-287020">
              <a:lnSpc>
                <a:spcPct val="100000"/>
              </a:lnSpc>
              <a:spcBef>
                <a:spcPts val="340"/>
              </a:spcBef>
              <a:buFont typeface="Wingdings"/>
              <a:buChar char=""/>
              <a:tabLst>
                <a:tab pos="300990" algn="l"/>
              </a:tabLst>
            </a:pPr>
            <a:r>
              <a:rPr sz="1100" spc="-10" dirty="0">
                <a:latin typeface="Calibri"/>
                <a:cs typeface="Calibri"/>
              </a:rPr>
              <a:t>Caixas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sempre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completas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garantindo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segurança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do</a:t>
            </a:r>
            <a:r>
              <a:rPr sz="1100" spc="-10" dirty="0">
                <a:latin typeface="Calibri"/>
                <a:cs typeface="Calibri"/>
              </a:rPr>
              <a:t> paciente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trabalho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 </a:t>
            </a:r>
            <a:r>
              <a:rPr sz="1100" spc="-10" dirty="0">
                <a:latin typeface="Calibri"/>
                <a:cs typeface="Calibri"/>
              </a:rPr>
              <a:t>equipe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médica.</a:t>
            </a:r>
            <a:endParaRPr sz="1100">
              <a:latin typeface="Calibri"/>
              <a:cs typeface="Calibri"/>
            </a:endParaRPr>
          </a:p>
          <a:p>
            <a:pPr marL="300990" indent="-287020">
              <a:lnSpc>
                <a:spcPct val="100000"/>
              </a:lnSpc>
              <a:spcBef>
                <a:spcPts val="320"/>
              </a:spcBef>
              <a:buFont typeface="Wingdings"/>
              <a:buChar char=""/>
              <a:tabLst>
                <a:tab pos="300990" algn="l"/>
              </a:tabLst>
            </a:pPr>
            <a:r>
              <a:rPr sz="1100" spc="-10" dirty="0">
                <a:latin typeface="Calibri"/>
                <a:cs typeface="Calibri"/>
              </a:rPr>
              <a:t>Garantindo</a:t>
            </a:r>
            <a:r>
              <a:rPr sz="1100" spc="-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bom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armazenamento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esterilização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dos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produtos;</a:t>
            </a:r>
            <a:endParaRPr sz="1100">
              <a:latin typeface="Calibri"/>
              <a:cs typeface="Calibri"/>
            </a:endParaRPr>
          </a:p>
          <a:p>
            <a:pPr marL="301625" indent="-287020">
              <a:lnSpc>
                <a:spcPct val="100000"/>
              </a:lnSpc>
              <a:spcBef>
                <a:spcPts val="340"/>
              </a:spcBef>
              <a:buFont typeface="Wingdings"/>
              <a:buChar char=""/>
              <a:tabLst>
                <a:tab pos="301625" algn="l"/>
              </a:tabLst>
            </a:pPr>
            <a:r>
              <a:rPr sz="1100" dirty="0">
                <a:latin typeface="Calibri"/>
                <a:cs typeface="Calibri"/>
              </a:rPr>
              <a:t>Incluso</a:t>
            </a:r>
            <a:r>
              <a:rPr sz="1100" spc="-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os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insumos</a:t>
            </a:r>
            <a:r>
              <a:rPr sz="1100" spc="-6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como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filtros,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lacres,</a:t>
            </a:r>
            <a:endParaRPr sz="1100">
              <a:latin typeface="Calibri"/>
              <a:cs typeface="Calibri"/>
            </a:endParaRPr>
          </a:p>
          <a:p>
            <a:pPr marL="304165" indent="-289560">
              <a:lnSpc>
                <a:spcPct val="100000"/>
              </a:lnSpc>
              <a:spcBef>
                <a:spcPts val="360"/>
              </a:spcBef>
              <a:buFont typeface="Wingdings"/>
              <a:buChar char=""/>
              <a:tabLst>
                <a:tab pos="304165" algn="l"/>
              </a:tabLst>
            </a:pPr>
            <a:r>
              <a:rPr sz="1100" spc="-10" dirty="0">
                <a:latin typeface="Calibri"/>
                <a:cs typeface="Calibri"/>
              </a:rPr>
              <a:t>Fácil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identificação</a:t>
            </a:r>
            <a:r>
              <a:rPr sz="1100" spc="-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por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cores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tampas</a:t>
            </a:r>
            <a:r>
              <a:rPr sz="1100" spc="-10" dirty="0">
                <a:latin typeface="Calibri"/>
                <a:cs typeface="Calibri"/>
              </a:rPr>
              <a:t> e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placas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coloridas</a:t>
            </a:r>
            <a:endParaRPr sz="1100">
              <a:latin typeface="Calibri"/>
              <a:cs typeface="Calibri"/>
            </a:endParaRPr>
          </a:p>
          <a:p>
            <a:pPr marL="304165" indent="-289560">
              <a:lnSpc>
                <a:spcPct val="100000"/>
              </a:lnSpc>
              <a:spcBef>
                <a:spcPts val="340"/>
              </a:spcBef>
              <a:buFont typeface="Wingdings"/>
              <a:buChar char=""/>
              <a:tabLst>
                <a:tab pos="304165" algn="l"/>
              </a:tabLst>
            </a:pPr>
            <a:r>
              <a:rPr sz="1100" spc="-10" dirty="0">
                <a:latin typeface="Calibri"/>
                <a:cs typeface="Calibri"/>
              </a:rPr>
              <a:t>Sistema</a:t>
            </a:r>
            <a:r>
              <a:rPr sz="1100" spc="-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controle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montagem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por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leitura </a:t>
            </a:r>
            <a:r>
              <a:rPr sz="1100" spc="-10" dirty="0">
                <a:latin typeface="Calibri"/>
                <a:cs typeface="Calibri"/>
              </a:rPr>
              <a:t>individualizada</a:t>
            </a:r>
            <a:r>
              <a:rPr sz="1100" spc="-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dos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itens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ou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por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similaridade;</a:t>
            </a:r>
            <a:endParaRPr sz="1100">
              <a:latin typeface="Calibri"/>
              <a:cs typeface="Calibri"/>
            </a:endParaRPr>
          </a:p>
          <a:p>
            <a:pPr marL="304800" indent="-287020">
              <a:lnSpc>
                <a:spcPct val="100000"/>
              </a:lnSpc>
              <a:spcBef>
                <a:spcPts val="320"/>
              </a:spcBef>
              <a:buFont typeface="Wingdings"/>
              <a:buChar char=""/>
              <a:tabLst>
                <a:tab pos="304800" algn="l"/>
              </a:tabLst>
            </a:pPr>
            <a:r>
              <a:rPr sz="1100" spc="-10" dirty="0">
                <a:latin typeface="Calibri"/>
                <a:cs typeface="Calibri"/>
              </a:rPr>
              <a:t>Sistema</a:t>
            </a:r>
            <a:r>
              <a:rPr sz="1100" spc="-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controle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montagem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por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leitura </a:t>
            </a:r>
            <a:r>
              <a:rPr sz="1100" spc="-10" dirty="0">
                <a:latin typeface="Calibri"/>
                <a:cs typeface="Calibri"/>
              </a:rPr>
              <a:t>individualizada</a:t>
            </a:r>
            <a:r>
              <a:rPr sz="1100" spc="-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dos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itens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ou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por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similaridade;</a:t>
            </a:r>
            <a:endParaRPr sz="1100">
              <a:latin typeface="Calibri"/>
              <a:cs typeface="Calibri"/>
            </a:endParaRPr>
          </a:p>
          <a:p>
            <a:pPr marL="304800" indent="-287020">
              <a:lnSpc>
                <a:spcPct val="100000"/>
              </a:lnSpc>
              <a:spcBef>
                <a:spcPts val="340"/>
              </a:spcBef>
              <a:buFont typeface="Wingdings"/>
              <a:buChar char=""/>
              <a:tabLst>
                <a:tab pos="304800" algn="l"/>
              </a:tabLst>
            </a:pPr>
            <a:r>
              <a:rPr sz="1100" spc="-10" dirty="0">
                <a:latin typeface="Calibri"/>
                <a:cs typeface="Calibri"/>
              </a:rPr>
              <a:t>Rastreabilidade</a:t>
            </a:r>
            <a:r>
              <a:rPr sz="1100" spc="-6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gestão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controles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exigidos</a:t>
            </a:r>
            <a:r>
              <a:rPr sz="1100" spc="-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pelas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normas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regulatórias.</a:t>
            </a:r>
            <a:endParaRPr sz="1100">
              <a:latin typeface="Calibri"/>
              <a:cs typeface="Calibri"/>
            </a:endParaRPr>
          </a:p>
          <a:p>
            <a:pPr marL="305435" indent="-287020">
              <a:lnSpc>
                <a:spcPct val="100000"/>
              </a:lnSpc>
              <a:spcBef>
                <a:spcPts val="340"/>
              </a:spcBef>
              <a:buFont typeface="Wingdings"/>
              <a:buChar char=""/>
              <a:tabLst>
                <a:tab pos="305435" algn="l"/>
              </a:tabLst>
            </a:pPr>
            <a:r>
              <a:rPr sz="1100" spc="-10" dirty="0">
                <a:latin typeface="Calibri"/>
                <a:cs typeface="Calibri"/>
              </a:rPr>
              <a:t>Fotos</a:t>
            </a:r>
            <a:r>
              <a:rPr sz="1100" spc="-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cada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uma</a:t>
            </a:r>
            <a:r>
              <a:rPr sz="1100" spc="-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das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peças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para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facilitar</a:t>
            </a:r>
            <a:r>
              <a:rPr sz="1100" spc="-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reduzir</a:t>
            </a:r>
            <a:r>
              <a:rPr sz="1100" spc="-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risco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-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erros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montagem</a:t>
            </a:r>
            <a:endParaRPr sz="1100">
              <a:latin typeface="Calibri"/>
              <a:cs typeface="Calibri"/>
            </a:endParaRPr>
          </a:p>
          <a:p>
            <a:pPr marL="302895" indent="-287020">
              <a:lnSpc>
                <a:spcPct val="100000"/>
              </a:lnSpc>
              <a:spcBef>
                <a:spcPts val="340"/>
              </a:spcBef>
              <a:buFont typeface="Wingdings"/>
              <a:buChar char=""/>
              <a:tabLst>
                <a:tab pos="302895" algn="l"/>
              </a:tabLst>
            </a:pPr>
            <a:r>
              <a:rPr sz="1100" spc="-10" dirty="0">
                <a:latin typeface="Calibri"/>
                <a:cs typeface="Calibri"/>
              </a:rPr>
              <a:t>Instruções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testes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funcionais</a:t>
            </a:r>
            <a:endParaRPr sz="1100">
              <a:latin typeface="Calibri"/>
              <a:cs typeface="Calibri"/>
            </a:endParaRPr>
          </a:p>
          <a:p>
            <a:pPr marL="302895" indent="-287020">
              <a:lnSpc>
                <a:spcPct val="100000"/>
              </a:lnSpc>
              <a:spcBef>
                <a:spcPts val="320"/>
              </a:spcBef>
              <a:buFont typeface="Wingdings"/>
              <a:buChar char=""/>
              <a:tabLst>
                <a:tab pos="302895" algn="l"/>
              </a:tabLst>
            </a:pPr>
            <a:r>
              <a:rPr sz="1100" dirty="0">
                <a:latin typeface="Calibri"/>
                <a:cs typeface="Calibri"/>
              </a:rPr>
              <a:t>Possibilidade</a:t>
            </a:r>
            <a:r>
              <a:rPr sz="1100" spc="-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Redução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Tributária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compensando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valor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locação.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" dirty="0"/>
              <a:t>CMEtK</a:t>
            </a:r>
            <a:r>
              <a:rPr spc="-35" dirty="0"/>
              <a:t> </a:t>
            </a:r>
            <a:r>
              <a:rPr spc="-10" dirty="0"/>
              <a:t>Soluções</a:t>
            </a:r>
            <a:r>
              <a:rPr spc="-25" dirty="0"/>
              <a:t> </a:t>
            </a:r>
            <a:r>
              <a:rPr spc="-10" dirty="0"/>
              <a:t>Hospitalares</a:t>
            </a:r>
            <a:r>
              <a:rPr spc="-5" dirty="0"/>
              <a:t> </a:t>
            </a:r>
            <a:r>
              <a:rPr spc="-10" dirty="0"/>
              <a:t>Ltda</a:t>
            </a:r>
            <a:r>
              <a:rPr spc="-20" dirty="0"/>
              <a:t> </a:t>
            </a:r>
            <a:r>
              <a:rPr spc="-10" dirty="0"/>
              <a:t>-</a:t>
            </a:r>
            <a:r>
              <a:rPr spc="-30" dirty="0"/>
              <a:t> </a:t>
            </a:r>
            <a:r>
              <a:rPr spc="-10" dirty="0"/>
              <a:t>Confidencial</a:t>
            </a:r>
          </a:p>
        </p:txBody>
      </p:sp>
      <p:pic>
        <p:nvPicPr>
          <p:cNvPr id="9" name="Imagem 8" descr="Logotipo&#10;&#10;O conteúdo gerado por IA pode estar incorreto.">
            <a:extLst>
              <a:ext uri="{FF2B5EF4-FFF2-40B4-BE49-F238E27FC236}">
                <a16:creationId xmlns:a16="http://schemas.microsoft.com/office/drawing/2014/main" id="{F3FD5AB7-2A3A-7AB9-387B-2A24AC1B32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947527"/>
            <a:ext cx="2329063" cy="10194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91C08F4-17D8-B19F-0FD5-F27AFC793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85" y="1375004"/>
            <a:ext cx="4326815" cy="257652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1A71397-AFAF-1AA8-5F2F-939CADFFF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373409"/>
            <a:ext cx="6035040" cy="3352800"/>
          </a:xfrm>
          <a:prstGeom prst="rect">
            <a:avLst/>
          </a:prstGeom>
        </p:spPr>
      </p:pic>
      <p:sp>
        <p:nvSpPr>
          <p:cNvPr id="7" name="object 10">
            <a:extLst>
              <a:ext uri="{FF2B5EF4-FFF2-40B4-BE49-F238E27FC236}">
                <a16:creationId xmlns:a16="http://schemas.microsoft.com/office/drawing/2014/main" id="{67419F26-899C-4CCB-51EF-5938208B736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080260" y="8905622"/>
            <a:ext cx="2764790" cy="170179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" dirty="0"/>
              <a:t>CMEtK</a:t>
            </a:r>
            <a:r>
              <a:rPr spc="-35" dirty="0"/>
              <a:t> </a:t>
            </a:r>
            <a:r>
              <a:rPr spc="-10" dirty="0"/>
              <a:t>Soluções</a:t>
            </a:r>
            <a:r>
              <a:rPr spc="-25" dirty="0"/>
              <a:t> </a:t>
            </a:r>
            <a:r>
              <a:rPr spc="-10" dirty="0"/>
              <a:t>Hospitalares</a:t>
            </a:r>
            <a:r>
              <a:rPr spc="-5" dirty="0"/>
              <a:t> </a:t>
            </a:r>
            <a:r>
              <a:rPr spc="-10" dirty="0"/>
              <a:t>Ltda</a:t>
            </a:r>
            <a:r>
              <a:rPr spc="-20" dirty="0"/>
              <a:t> </a:t>
            </a:r>
            <a:r>
              <a:rPr spc="-10" dirty="0"/>
              <a:t>-</a:t>
            </a:r>
            <a:r>
              <a:rPr spc="-30" dirty="0"/>
              <a:t> </a:t>
            </a:r>
            <a:r>
              <a:rPr spc="-10" dirty="0"/>
              <a:t>Confidencial</a:t>
            </a:r>
          </a:p>
        </p:txBody>
      </p:sp>
      <p:pic>
        <p:nvPicPr>
          <p:cNvPr id="2" name="Imagem 1" descr="Logotipo&#10;&#10;O conteúdo gerado por IA pode estar incorreto.">
            <a:extLst>
              <a:ext uri="{FF2B5EF4-FFF2-40B4-BE49-F238E27FC236}">
                <a16:creationId xmlns:a16="http://schemas.microsoft.com/office/drawing/2014/main" id="{8ADD0C7F-2E2C-A471-95D1-5444023CDC4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947527"/>
            <a:ext cx="2329063" cy="1019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729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AC33350C-43A4-3B61-1A63-7B1374541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94" y="950272"/>
            <a:ext cx="4909418" cy="30518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1731A47-5D64-758B-F95B-CA68352C4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058" y="4027306"/>
            <a:ext cx="6341164" cy="234728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B5A7374-F1C3-7AD5-9124-9951B69C3D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418" y="6374587"/>
            <a:ext cx="6341164" cy="2480566"/>
          </a:xfrm>
          <a:prstGeom prst="rect">
            <a:avLst/>
          </a:prstGeom>
        </p:spPr>
      </p:pic>
      <p:sp>
        <p:nvSpPr>
          <p:cNvPr id="9" name="object 10">
            <a:extLst>
              <a:ext uri="{FF2B5EF4-FFF2-40B4-BE49-F238E27FC236}">
                <a16:creationId xmlns:a16="http://schemas.microsoft.com/office/drawing/2014/main" id="{D23543DA-07C7-2914-1186-8A0F17845BB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080260" y="8905622"/>
            <a:ext cx="2764790" cy="170179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" dirty="0"/>
              <a:t>CMEtK</a:t>
            </a:r>
            <a:r>
              <a:rPr spc="-35" dirty="0"/>
              <a:t> </a:t>
            </a:r>
            <a:r>
              <a:rPr spc="-10" dirty="0"/>
              <a:t>Soluções</a:t>
            </a:r>
            <a:r>
              <a:rPr spc="-25" dirty="0"/>
              <a:t> </a:t>
            </a:r>
            <a:r>
              <a:rPr spc="-10" dirty="0"/>
              <a:t>Hospitalares</a:t>
            </a:r>
            <a:r>
              <a:rPr spc="-5" dirty="0"/>
              <a:t> </a:t>
            </a:r>
            <a:r>
              <a:rPr spc="-10" dirty="0"/>
              <a:t>Ltda</a:t>
            </a:r>
            <a:r>
              <a:rPr spc="-20" dirty="0"/>
              <a:t> </a:t>
            </a:r>
            <a:r>
              <a:rPr spc="-10" dirty="0"/>
              <a:t>-</a:t>
            </a:r>
            <a:r>
              <a:rPr spc="-30" dirty="0"/>
              <a:t> </a:t>
            </a:r>
            <a:r>
              <a:rPr spc="-10" dirty="0"/>
              <a:t>Confidencial</a:t>
            </a:r>
          </a:p>
        </p:txBody>
      </p:sp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5347C0E2-0905-C164-85A0-AC302536936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122" y="864347"/>
            <a:ext cx="2329063" cy="1019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327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09086-5AE9-48A6-DFA2-B0E2296E1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10">
            <a:extLst>
              <a:ext uri="{FF2B5EF4-FFF2-40B4-BE49-F238E27FC236}">
                <a16:creationId xmlns:a16="http://schemas.microsoft.com/office/drawing/2014/main" id="{3D562F41-F3F0-0A2B-4C27-A68C6EF6401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080260" y="8905622"/>
            <a:ext cx="2764790" cy="170179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" dirty="0"/>
              <a:t>CMEtK</a:t>
            </a:r>
            <a:r>
              <a:rPr spc="-35" dirty="0"/>
              <a:t> </a:t>
            </a:r>
            <a:r>
              <a:rPr spc="-10" dirty="0"/>
              <a:t>Soluções</a:t>
            </a:r>
            <a:r>
              <a:rPr spc="-25" dirty="0"/>
              <a:t> </a:t>
            </a:r>
            <a:r>
              <a:rPr spc="-10" dirty="0"/>
              <a:t>Hospitalares</a:t>
            </a:r>
            <a:r>
              <a:rPr spc="-5" dirty="0"/>
              <a:t> </a:t>
            </a:r>
            <a:r>
              <a:rPr spc="-10" dirty="0"/>
              <a:t>Ltda</a:t>
            </a:r>
            <a:r>
              <a:rPr spc="-20" dirty="0"/>
              <a:t> </a:t>
            </a:r>
            <a:r>
              <a:rPr spc="-10" dirty="0"/>
              <a:t>-</a:t>
            </a:r>
            <a:r>
              <a:rPr spc="-30" dirty="0"/>
              <a:t> </a:t>
            </a:r>
            <a:r>
              <a:rPr spc="-10" dirty="0"/>
              <a:t>Confidencial</a:t>
            </a:r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A27B17E3-C8D0-D006-397E-9B2BFF0B84C4}"/>
              </a:ext>
            </a:extLst>
          </p:cNvPr>
          <p:cNvSpPr txBox="1"/>
          <p:nvPr/>
        </p:nvSpPr>
        <p:spPr>
          <a:xfrm>
            <a:off x="411480" y="726440"/>
            <a:ext cx="2296795" cy="411651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1360"/>
              </a:lnSpc>
              <a:spcBef>
                <a:spcPts val="210"/>
              </a:spcBef>
            </a:pPr>
            <a:r>
              <a:rPr lang="pt-BR" sz="1200" b="1" spc="-10" dirty="0">
                <a:solidFill>
                  <a:srgbClr val="2B475E"/>
                </a:solidFill>
                <a:latin typeface="Trebuchet MS"/>
                <a:cs typeface="Trebuchet MS"/>
              </a:rPr>
              <a:t>Proposta Comercial</a:t>
            </a:r>
          </a:p>
          <a:p>
            <a:pPr marL="12700" marR="5080">
              <a:lnSpc>
                <a:spcPts val="1360"/>
              </a:lnSpc>
              <a:spcBef>
                <a:spcPts val="210"/>
              </a:spcBef>
            </a:pPr>
            <a:r>
              <a:rPr sz="1200" b="1" dirty="0">
                <a:solidFill>
                  <a:srgbClr val="2B475E"/>
                </a:solidFill>
                <a:latin typeface="Trebuchet MS"/>
                <a:cs typeface="Trebuchet MS"/>
              </a:rPr>
              <a:t>CMEtK</a:t>
            </a:r>
            <a:r>
              <a:rPr sz="1200" b="1" spc="-60" dirty="0">
                <a:solidFill>
                  <a:srgbClr val="2B475E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2B475E"/>
                </a:solidFill>
                <a:latin typeface="Trebuchet MS"/>
                <a:cs typeface="Trebuchet MS"/>
              </a:rPr>
              <a:t>Soluções</a:t>
            </a:r>
            <a:r>
              <a:rPr sz="1200" b="1" spc="-50" dirty="0">
                <a:solidFill>
                  <a:srgbClr val="2B475E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2B475E"/>
                </a:solidFill>
                <a:latin typeface="Trebuchet MS"/>
                <a:cs typeface="Trebuchet MS"/>
              </a:rPr>
              <a:t>Hospitalares</a:t>
            </a:r>
            <a:endParaRPr sz="1200" dirty="0">
              <a:latin typeface="Trebuchet MS"/>
              <a:cs typeface="Trebuchet MS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6047F9F3-3903-9C5F-3A25-6063C21B6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895" y="5334000"/>
            <a:ext cx="6219520" cy="2090742"/>
          </a:xfrm>
          <a:prstGeom prst="rect">
            <a:avLst/>
          </a:prstGeom>
        </p:spPr>
      </p:pic>
      <p:pic>
        <p:nvPicPr>
          <p:cNvPr id="12" name="Imagem 11" descr="Logotipo&#10;&#10;O conteúdo gerado por IA pode estar incorreto.">
            <a:extLst>
              <a:ext uri="{FF2B5EF4-FFF2-40B4-BE49-F238E27FC236}">
                <a16:creationId xmlns:a16="http://schemas.microsoft.com/office/drawing/2014/main" id="{6F367E2C-4727-8205-27E0-9D99B5C60A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947527"/>
            <a:ext cx="2329063" cy="101944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E4D1A6A-353A-69B1-DB96-4CBA480440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43" y="2481258"/>
            <a:ext cx="6770914" cy="274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490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CC700-2363-2742-B2EE-4F548E9CF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10">
            <a:extLst>
              <a:ext uri="{FF2B5EF4-FFF2-40B4-BE49-F238E27FC236}">
                <a16:creationId xmlns:a16="http://schemas.microsoft.com/office/drawing/2014/main" id="{DDB0C610-BB1D-B811-24A6-BC4B341425E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080260" y="8905622"/>
            <a:ext cx="2764790" cy="170179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" dirty="0"/>
              <a:t>CMEtK</a:t>
            </a:r>
            <a:r>
              <a:rPr spc="-35" dirty="0"/>
              <a:t> </a:t>
            </a:r>
            <a:r>
              <a:rPr spc="-10" dirty="0"/>
              <a:t>Soluções</a:t>
            </a:r>
            <a:r>
              <a:rPr spc="-25" dirty="0"/>
              <a:t> </a:t>
            </a:r>
            <a:r>
              <a:rPr spc="-10" dirty="0"/>
              <a:t>Hospitalares</a:t>
            </a:r>
            <a:r>
              <a:rPr spc="-5" dirty="0"/>
              <a:t> </a:t>
            </a:r>
            <a:r>
              <a:rPr spc="-10" dirty="0"/>
              <a:t>Ltda</a:t>
            </a:r>
            <a:r>
              <a:rPr spc="-20" dirty="0"/>
              <a:t> </a:t>
            </a:r>
            <a:r>
              <a:rPr spc="-10" dirty="0"/>
              <a:t>-</a:t>
            </a:r>
            <a:r>
              <a:rPr spc="-30" dirty="0"/>
              <a:t> </a:t>
            </a:r>
            <a:r>
              <a:rPr spc="-10" dirty="0"/>
              <a:t>Confidencial</a:t>
            </a:r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ECCEFBB6-9634-BC66-905E-DCD9B39CE122}"/>
              </a:ext>
            </a:extLst>
          </p:cNvPr>
          <p:cNvSpPr txBox="1"/>
          <p:nvPr/>
        </p:nvSpPr>
        <p:spPr>
          <a:xfrm>
            <a:off x="411480" y="726440"/>
            <a:ext cx="2296795" cy="411651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1360"/>
              </a:lnSpc>
              <a:spcBef>
                <a:spcPts val="210"/>
              </a:spcBef>
            </a:pPr>
            <a:r>
              <a:rPr lang="pt-BR" sz="1200" b="1" spc="-10" dirty="0">
                <a:solidFill>
                  <a:srgbClr val="2B475E"/>
                </a:solidFill>
                <a:latin typeface="Trebuchet MS"/>
                <a:cs typeface="Trebuchet MS"/>
              </a:rPr>
              <a:t>Proposta Comercial</a:t>
            </a:r>
          </a:p>
          <a:p>
            <a:pPr marL="12700" marR="5080">
              <a:lnSpc>
                <a:spcPts val="1360"/>
              </a:lnSpc>
              <a:spcBef>
                <a:spcPts val="210"/>
              </a:spcBef>
            </a:pPr>
            <a:r>
              <a:rPr sz="1200" b="1" dirty="0">
                <a:solidFill>
                  <a:srgbClr val="2B475E"/>
                </a:solidFill>
                <a:latin typeface="Trebuchet MS"/>
                <a:cs typeface="Trebuchet MS"/>
              </a:rPr>
              <a:t>CMEtK</a:t>
            </a:r>
            <a:r>
              <a:rPr sz="1200" b="1" spc="-60" dirty="0">
                <a:solidFill>
                  <a:srgbClr val="2B475E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2B475E"/>
                </a:solidFill>
                <a:latin typeface="Trebuchet MS"/>
                <a:cs typeface="Trebuchet MS"/>
              </a:rPr>
              <a:t>Soluções</a:t>
            </a:r>
            <a:r>
              <a:rPr sz="1200" b="1" spc="-50" dirty="0">
                <a:solidFill>
                  <a:srgbClr val="2B475E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2B475E"/>
                </a:solidFill>
                <a:latin typeface="Trebuchet MS"/>
                <a:cs typeface="Trebuchet MS"/>
              </a:rPr>
              <a:t>Hospitalares</a:t>
            </a:r>
            <a:endParaRPr sz="1200" dirty="0">
              <a:latin typeface="Trebuchet MS"/>
              <a:cs typeface="Trebuchet MS"/>
            </a:endParaRPr>
          </a:p>
        </p:txBody>
      </p:sp>
      <p:pic>
        <p:nvPicPr>
          <p:cNvPr id="12" name="Imagem 11" descr="Logotipo&#10;&#10;O conteúdo gerado por IA pode estar incorreto.">
            <a:extLst>
              <a:ext uri="{FF2B5EF4-FFF2-40B4-BE49-F238E27FC236}">
                <a16:creationId xmlns:a16="http://schemas.microsoft.com/office/drawing/2014/main" id="{9193AD9C-157E-0C11-A86D-C4DF106652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947527"/>
            <a:ext cx="2329063" cy="101944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B56B66A-CBB4-DE89-1338-2DBDFD657E0F}"/>
              </a:ext>
            </a:extLst>
          </p:cNvPr>
          <p:cNvSpPr txBox="1"/>
          <p:nvPr/>
        </p:nvSpPr>
        <p:spPr>
          <a:xfrm>
            <a:off x="685800" y="1828800"/>
            <a:ext cx="54864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800" dirty="0"/>
          </a:p>
          <a:p>
            <a:r>
              <a:rPr lang="pt-BR" sz="1400" dirty="0">
                <a:latin typeface="+mn-lt"/>
              </a:rPr>
              <a:t>Caro cliente, </a:t>
            </a:r>
          </a:p>
          <a:p>
            <a:endParaRPr lang="pt-BR" sz="1400" dirty="0">
              <a:latin typeface="+mn-lt"/>
            </a:endParaRPr>
          </a:p>
          <a:p>
            <a:r>
              <a:rPr lang="pt-BR" sz="1400" dirty="0">
                <a:latin typeface="+mn-lt"/>
              </a:rPr>
              <a:t>Nossa equipe técnica está à disposição para esclarecer quaisquer dúvidas sobre a nossa proposta. Teremos o prazer de discutir os detalhes e garantir que todas as suas questões sejam respondidas de maneira clara e precisa. </a:t>
            </a:r>
          </a:p>
          <a:p>
            <a:endParaRPr lang="pt-BR" sz="1400" dirty="0">
              <a:latin typeface="+mn-lt"/>
            </a:endParaRPr>
          </a:p>
          <a:p>
            <a:r>
              <a:rPr lang="pt-BR" sz="1400" dirty="0">
                <a:latin typeface="+mn-lt"/>
              </a:rPr>
              <a:t>Além disso, gostaríamos de reforçar nosso compromisso com a qualidade e a eficiência no fornecimento de soluções cirúrgicas. A nossa reestruturação das caixas foi cuidadosamente planejada para melhorar o processamento, controle e rastreamento dos materiais, o que acreditamos ser um grande benefício para a operação do seu hospital. </a:t>
            </a:r>
          </a:p>
          <a:p>
            <a:endParaRPr lang="pt-BR" sz="1400" dirty="0">
              <a:latin typeface="+mn-lt"/>
            </a:endParaRPr>
          </a:p>
          <a:p>
            <a:r>
              <a:rPr lang="pt-BR" sz="1400" dirty="0">
                <a:latin typeface="+mn-lt"/>
              </a:rPr>
              <a:t>Agradecemos pela confiança depositada em nossa equipe e pela oportunidade de colaborar com a melhoria dos processos cirúrgicos. Estamos ansiosos para contribuir para o sucesso e a eficiência das suas operações. </a:t>
            </a:r>
          </a:p>
          <a:p>
            <a:endParaRPr lang="pt-BR" sz="1400" dirty="0">
              <a:latin typeface="+mn-lt"/>
            </a:endParaRPr>
          </a:p>
          <a:p>
            <a:endParaRPr lang="pt-BR" sz="1400" dirty="0">
              <a:latin typeface="+mn-lt"/>
            </a:endParaRPr>
          </a:p>
          <a:p>
            <a:r>
              <a:rPr lang="pt-BR" sz="1400" dirty="0">
                <a:latin typeface="+mn-lt"/>
              </a:rPr>
              <a:t>Atenciosamente, </a:t>
            </a:r>
          </a:p>
          <a:p>
            <a:endParaRPr lang="pt-BR" sz="1400" dirty="0">
              <a:latin typeface="+mn-lt"/>
            </a:endParaRPr>
          </a:p>
          <a:p>
            <a:endParaRPr lang="pt-BR" sz="1400" dirty="0">
              <a:latin typeface="+mn-lt"/>
            </a:endParaRPr>
          </a:p>
          <a:p>
            <a:r>
              <a:rPr lang="pt-BR" sz="1400" dirty="0">
                <a:latin typeface="+mn-lt"/>
              </a:rPr>
              <a:t>Equipe Comercial/Tecnica </a:t>
            </a:r>
          </a:p>
        </p:txBody>
      </p:sp>
    </p:spTree>
    <p:extLst>
      <p:ext uri="{BB962C8B-B14F-4D97-AF65-F5344CB8AC3E}">
        <p14:creationId xmlns:p14="http://schemas.microsoft.com/office/powerpoint/2010/main" val="1086244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1429" y="1236726"/>
            <a:ext cx="914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424453"/>
                </a:solidFill>
                <a:latin typeface="Georgia"/>
                <a:cs typeface="Georgia"/>
              </a:rPr>
              <a:t>Contatos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1429" y="2818141"/>
            <a:ext cx="2427655" cy="484107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200" dirty="0">
                <a:solidFill>
                  <a:srgbClr val="1F1F21"/>
                </a:solidFill>
                <a:latin typeface="Georgia"/>
                <a:cs typeface="Georgia"/>
              </a:rPr>
              <a:t>(11)</a:t>
            </a:r>
            <a:r>
              <a:rPr sz="1200" spc="-20" dirty="0">
                <a:solidFill>
                  <a:srgbClr val="1F1F21"/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rgbClr val="1F1F21"/>
                </a:solidFill>
                <a:latin typeface="Georgia"/>
                <a:cs typeface="Georgia"/>
              </a:rPr>
              <a:t>9</a:t>
            </a:r>
            <a:r>
              <a:rPr sz="1200" spc="-30" dirty="0">
                <a:solidFill>
                  <a:srgbClr val="1F1F21"/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rgbClr val="1F1F21"/>
                </a:solidFill>
                <a:latin typeface="Georgia"/>
                <a:cs typeface="Georgia"/>
              </a:rPr>
              <a:t>4060</a:t>
            </a:r>
            <a:r>
              <a:rPr sz="1200" spc="-30" dirty="0">
                <a:solidFill>
                  <a:srgbClr val="1F1F21"/>
                </a:solidFill>
                <a:latin typeface="Georgia"/>
                <a:cs typeface="Georgia"/>
              </a:rPr>
              <a:t> </a:t>
            </a:r>
            <a:r>
              <a:rPr sz="1200" spc="-20" dirty="0">
                <a:solidFill>
                  <a:srgbClr val="1F1F21"/>
                </a:solidFill>
                <a:latin typeface="Georgia"/>
                <a:cs typeface="Georgia"/>
              </a:rPr>
              <a:t>4779</a:t>
            </a:r>
            <a:endParaRPr sz="120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400" u="sng" spc="-10" dirty="0">
                <a:solidFill>
                  <a:srgbClr val="B546B8"/>
                </a:solidFill>
                <a:uFill>
                  <a:solidFill>
                    <a:srgbClr val="B546B8"/>
                  </a:solidFill>
                </a:uFill>
                <a:latin typeface="Georgia"/>
                <a:cs typeface="Georgia"/>
                <a:hlinkClick r:id="rId2"/>
              </a:rPr>
              <a:t>mmergulhao@cmetk.com.br</a:t>
            </a:r>
            <a:endParaRPr sz="1400" dirty="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24001" y="3932343"/>
            <a:ext cx="3321049" cy="118968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 marR="5080">
              <a:lnSpc>
                <a:spcPct val="119800"/>
              </a:lnSpc>
              <a:spcBef>
                <a:spcPts val="165"/>
              </a:spcBef>
            </a:pPr>
            <a:r>
              <a:rPr sz="1400" b="1" dirty="0">
                <a:latin typeface="Georgia"/>
                <a:cs typeface="Georgia"/>
              </a:rPr>
              <a:t>Escritório</a:t>
            </a:r>
            <a:r>
              <a:rPr sz="1400" b="1" spc="-60" dirty="0">
                <a:latin typeface="Georgia"/>
                <a:cs typeface="Georgia"/>
              </a:rPr>
              <a:t> </a:t>
            </a:r>
            <a:r>
              <a:rPr sz="1400" b="1" spc="-20" dirty="0">
                <a:latin typeface="Georgia"/>
                <a:cs typeface="Georgia"/>
              </a:rPr>
              <a:t>CMEtK </a:t>
            </a:r>
            <a:endParaRPr lang="pt-BR" sz="1400" b="1" spc="-20" dirty="0">
              <a:latin typeface="Georgia"/>
              <a:cs typeface="Georgia"/>
            </a:endParaRPr>
          </a:p>
          <a:p>
            <a:pPr marL="12700" marR="5080">
              <a:lnSpc>
                <a:spcPct val="119800"/>
              </a:lnSpc>
              <a:spcBef>
                <a:spcPts val="165"/>
              </a:spcBef>
            </a:pPr>
            <a:r>
              <a:rPr sz="1200" spc="-10" dirty="0" err="1">
                <a:solidFill>
                  <a:srgbClr val="1F1F21"/>
                </a:solidFill>
                <a:latin typeface="Georgia"/>
                <a:cs typeface="Georgia"/>
              </a:rPr>
              <a:t>Condomínio</a:t>
            </a:r>
            <a:r>
              <a:rPr sz="1200" spc="-65" dirty="0">
                <a:solidFill>
                  <a:srgbClr val="1F1F21"/>
                </a:solidFill>
                <a:latin typeface="Georgia"/>
                <a:cs typeface="Georgia"/>
              </a:rPr>
              <a:t> </a:t>
            </a:r>
            <a:r>
              <a:rPr sz="1200" spc="-10" dirty="0">
                <a:solidFill>
                  <a:srgbClr val="1F1F21"/>
                </a:solidFill>
                <a:latin typeface="Georgia"/>
                <a:cs typeface="Georgia"/>
              </a:rPr>
              <a:t>Villa</a:t>
            </a:r>
            <a:r>
              <a:rPr sz="1200" spc="-55" dirty="0">
                <a:solidFill>
                  <a:srgbClr val="1F1F21"/>
                </a:solidFill>
                <a:latin typeface="Georgia"/>
                <a:cs typeface="Georgia"/>
              </a:rPr>
              <a:t> </a:t>
            </a:r>
            <a:r>
              <a:rPr sz="1200" spc="-10" dirty="0">
                <a:solidFill>
                  <a:srgbClr val="1F1F21"/>
                </a:solidFill>
                <a:latin typeface="Georgia"/>
                <a:cs typeface="Georgia"/>
              </a:rPr>
              <a:t>Lobos</a:t>
            </a:r>
            <a:r>
              <a:rPr sz="1200" spc="-50" dirty="0">
                <a:solidFill>
                  <a:srgbClr val="1F1F21"/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rgbClr val="1F1F21"/>
                </a:solidFill>
                <a:latin typeface="Georgia"/>
                <a:cs typeface="Georgia"/>
              </a:rPr>
              <a:t>Office</a:t>
            </a:r>
            <a:r>
              <a:rPr sz="1200" spc="-75" dirty="0">
                <a:solidFill>
                  <a:srgbClr val="1F1F21"/>
                </a:solidFill>
                <a:latin typeface="Georgia"/>
                <a:cs typeface="Georgia"/>
              </a:rPr>
              <a:t> </a:t>
            </a:r>
            <a:r>
              <a:rPr sz="1200" spc="-20" dirty="0">
                <a:solidFill>
                  <a:srgbClr val="1F1F21"/>
                </a:solidFill>
                <a:latin typeface="Georgia"/>
                <a:cs typeface="Georgia"/>
              </a:rPr>
              <a:t>Park </a:t>
            </a:r>
            <a:r>
              <a:rPr sz="1200" dirty="0">
                <a:solidFill>
                  <a:srgbClr val="1F1F21"/>
                </a:solidFill>
                <a:latin typeface="Georgia"/>
                <a:cs typeface="Georgia"/>
              </a:rPr>
              <a:t>Av.</a:t>
            </a:r>
            <a:r>
              <a:rPr sz="1200" spc="-20" dirty="0">
                <a:solidFill>
                  <a:srgbClr val="1F1F21"/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rgbClr val="1F1F21"/>
                </a:solidFill>
                <a:latin typeface="Georgia"/>
                <a:cs typeface="Georgia"/>
              </a:rPr>
              <a:t>Queiroz</a:t>
            </a:r>
            <a:r>
              <a:rPr sz="1200" spc="-25" dirty="0">
                <a:solidFill>
                  <a:srgbClr val="1F1F21"/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rgbClr val="1F1F21"/>
                </a:solidFill>
                <a:latin typeface="Georgia"/>
                <a:cs typeface="Georgia"/>
              </a:rPr>
              <a:t>Filho,</a:t>
            </a:r>
            <a:r>
              <a:rPr sz="1200" spc="-15" dirty="0">
                <a:solidFill>
                  <a:srgbClr val="1F1F21"/>
                </a:solidFill>
                <a:latin typeface="Georgia"/>
                <a:cs typeface="Georgia"/>
              </a:rPr>
              <a:t> </a:t>
            </a:r>
            <a:r>
              <a:rPr sz="1200" spc="-20" dirty="0">
                <a:solidFill>
                  <a:srgbClr val="1F1F21"/>
                </a:solidFill>
                <a:latin typeface="Georgia"/>
                <a:cs typeface="Georgia"/>
              </a:rPr>
              <a:t>1700</a:t>
            </a:r>
            <a:endParaRPr sz="1200" dirty="0">
              <a:latin typeface="Georgia"/>
              <a:cs typeface="Georgia"/>
            </a:endParaRPr>
          </a:p>
          <a:p>
            <a:pPr marL="12700" marR="1576070">
              <a:lnSpc>
                <a:spcPts val="1739"/>
              </a:lnSpc>
              <a:spcBef>
                <a:spcPts val="85"/>
              </a:spcBef>
            </a:pPr>
            <a:r>
              <a:rPr sz="1200" spc="-20" dirty="0">
                <a:solidFill>
                  <a:srgbClr val="1F1F21"/>
                </a:solidFill>
                <a:latin typeface="Georgia"/>
                <a:cs typeface="Georgia"/>
              </a:rPr>
              <a:t>Torre</a:t>
            </a:r>
            <a:r>
              <a:rPr sz="1200" spc="-80" dirty="0">
                <a:solidFill>
                  <a:srgbClr val="1F1F21"/>
                </a:solidFill>
                <a:latin typeface="Georgia"/>
                <a:cs typeface="Georgia"/>
              </a:rPr>
              <a:t> </a:t>
            </a:r>
            <a:r>
              <a:rPr sz="1200" spc="-10" dirty="0">
                <a:solidFill>
                  <a:srgbClr val="1F1F21"/>
                </a:solidFill>
                <a:latin typeface="Georgia"/>
                <a:cs typeface="Georgia"/>
              </a:rPr>
              <a:t>E</a:t>
            </a:r>
            <a:r>
              <a:rPr sz="1200" spc="-65" dirty="0">
                <a:solidFill>
                  <a:srgbClr val="1F1F21"/>
                </a:solidFill>
                <a:latin typeface="Georgia"/>
                <a:cs typeface="Georgia"/>
              </a:rPr>
              <a:t> </a:t>
            </a:r>
            <a:r>
              <a:rPr sz="1200" spc="-10" dirty="0">
                <a:solidFill>
                  <a:srgbClr val="1F1F21"/>
                </a:solidFill>
                <a:latin typeface="Georgia"/>
                <a:cs typeface="Georgia"/>
              </a:rPr>
              <a:t>-</a:t>
            </a:r>
            <a:r>
              <a:rPr sz="1200" spc="-85" dirty="0">
                <a:solidFill>
                  <a:srgbClr val="1F1F21"/>
                </a:solidFill>
                <a:latin typeface="Georgia"/>
                <a:cs typeface="Georgia"/>
              </a:rPr>
              <a:t> </a:t>
            </a:r>
            <a:r>
              <a:rPr sz="1200" spc="-25" dirty="0">
                <a:solidFill>
                  <a:srgbClr val="1F1F21"/>
                </a:solidFill>
                <a:latin typeface="Georgia"/>
                <a:cs typeface="Georgia"/>
              </a:rPr>
              <a:t>511 </a:t>
            </a:r>
            <a:r>
              <a:rPr sz="1200" dirty="0">
                <a:solidFill>
                  <a:srgbClr val="1F1F21"/>
                </a:solidFill>
                <a:latin typeface="Georgia"/>
                <a:cs typeface="Georgia"/>
              </a:rPr>
              <a:t>São</a:t>
            </a:r>
            <a:r>
              <a:rPr sz="1200" spc="-10" dirty="0">
                <a:solidFill>
                  <a:srgbClr val="1F1F21"/>
                </a:solidFill>
                <a:latin typeface="Georgia"/>
                <a:cs typeface="Georgia"/>
              </a:rPr>
              <a:t> Paulo</a:t>
            </a:r>
            <a:endParaRPr sz="120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200" dirty="0">
                <a:solidFill>
                  <a:srgbClr val="1F1F21"/>
                </a:solidFill>
                <a:latin typeface="Georgia"/>
                <a:cs typeface="Georgia"/>
              </a:rPr>
              <a:t>(11)</a:t>
            </a:r>
            <a:r>
              <a:rPr sz="1200" spc="-30" dirty="0">
                <a:solidFill>
                  <a:srgbClr val="1F1F21"/>
                </a:solidFill>
                <a:latin typeface="Georgia"/>
                <a:cs typeface="Georgia"/>
              </a:rPr>
              <a:t> </a:t>
            </a:r>
            <a:r>
              <a:rPr sz="1200" spc="-10" dirty="0">
                <a:solidFill>
                  <a:srgbClr val="1F1F21"/>
                </a:solidFill>
                <a:latin typeface="Georgia"/>
                <a:cs typeface="Georgia"/>
              </a:rPr>
              <a:t>3644-</a:t>
            </a:r>
            <a:r>
              <a:rPr sz="1200" spc="-20" dirty="0">
                <a:solidFill>
                  <a:srgbClr val="1F1F21"/>
                </a:solidFill>
                <a:latin typeface="Georgia"/>
                <a:cs typeface="Georgia"/>
              </a:rPr>
              <a:t>9090</a:t>
            </a:r>
            <a:endParaRPr sz="1200" dirty="0">
              <a:latin typeface="Georgia"/>
              <a:cs typeface="Georg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0"/>
            <a:ext cx="6858000" cy="832485"/>
            <a:chOff x="0" y="0"/>
            <a:chExt cx="6858000" cy="832485"/>
          </a:xfrm>
        </p:grpSpPr>
        <p:sp>
          <p:nvSpPr>
            <p:cNvPr id="8" name="object 8"/>
            <p:cNvSpPr/>
            <p:nvPr/>
          </p:nvSpPr>
          <p:spPr>
            <a:xfrm>
              <a:off x="0" y="532980"/>
              <a:ext cx="4056379" cy="68580"/>
            </a:xfrm>
            <a:custGeom>
              <a:avLst/>
              <a:gdLst/>
              <a:ahLst/>
              <a:cxnLst/>
              <a:rect l="l" t="t" r="r" b="b"/>
              <a:pathLst>
                <a:path w="4056379" h="68579">
                  <a:moveTo>
                    <a:pt x="4056379" y="0"/>
                  </a:moveTo>
                  <a:lnTo>
                    <a:pt x="0" y="0"/>
                  </a:lnTo>
                  <a:lnTo>
                    <a:pt x="0" y="68529"/>
                  </a:lnTo>
                  <a:lnTo>
                    <a:pt x="4056379" y="68529"/>
                  </a:lnTo>
                  <a:lnTo>
                    <a:pt x="4056379" y="0"/>
                  </a:lnTo>
                  <a:close/>
                </a:path>
              </a:pathLst>
            </a:custGeom>
            <a:solidFill>
              <a:srgbClr val="438085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0"/>
              <a:ext cx="6858000" cy="414020"/>
            </a:xfrm>
            <a:custGeom>
              <a:avLst/>
              <a:gdLst/>
              <a:ahLst/>
              <a:cxnLst/>
              <a:rect l="l" t="t" r="r" b="b"/>
              <a:pathLst>
                <a:path w="6858000" h="414020">
                  <a:moveTo>
                    <a:pt x="6858000" y="0"/>
                  </a:moveTo>
                  <a:lnTo>
                    <a:pt x="0" y="0"/>
                  </a:lnTo>
                  <a:lnTo>
                    <a:pt x="0" y="413715"/>
                  </a:lnTo>
                  <a:lnTo>
                    <a:pt x="6858000" y="413715"/>
                  </a:lnTo>
                  <a:lnTo>
                    <a:pt x="6858000" y="0"/>
                  </a:lnTo>
                  <a:close/>
                </a:path>
              </a:pathLst>
            </a:custGeom>
            <a:solidFill>
              <a:srgbClr val="4244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411174"/>
              <a:ext cx="6858000" cy="190500"/>
            </a:xfrm>
            <a:custGeom>
              <a:avLst/>
              <a:gdLst/>
              <a:ahLst/>
              <a:cxnLst/>
              <a:rect l="l" t="t" r="r" b="b"/>
              <a:pathLst>
                <a:path w="6858000" h="190500">
                  <a:moveTo>
                    <a:pt x="6858000" y="0"/>
                  </a:moveTo>
                  <a:lnTo>
                    <a:pt x="0" y="0"/>
                  </a:lnTo>
                  <a:lnTo>
                    <a:pt x="0" y="121920"/>
                  </a:lnTo>
                  <a:lnTo>
                    <a:pt x="4056380" y="121920"/>
                  </a:lnTo>
                  <a:lnTo>
                    <a:pt x="4056380" y="190500"/>
                  </a:lnTo>
                  <a:lnTo>
                    <a:pt x="6858000" y="190500"/>
                  </a:lnTo>
                  <a:lnTo>
                    <a:pt x="6858000" y="121920"/>
                  </a:lnTo>
                  <a:lnTo>
                    <a:pt x="6858000" y="0"/>
                  </a:lnTo>
                  <a:close/>
                </a:path>
              </a:pathLst>
            </a:custGeom>
            <a:solidFill>
              <a:srgbClr val="4380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58920" y="586295"/>
              <a:ext cx="2799080" cy="241300"/>
            </a:xfrm>
            <a:custGeom>
              <a:avLst/>
              <a:gdLst/>
              <a:ahLst/>
              <a:cxnLst/>
              <a:rect l="l" t="t" r="r" b="b"/>
              <a:pathLst>
                <a:path w="2799079" h="241300">
                  <a:moveTo>
                    <a:pt x="2799079" y="0"/>
                  </a:moveTo>
                  <a:lnTo>
                    <a:pt x="0" y="0"/>
                  </a:lnTo>
                  <a:lnTo>
                    <a:pt x="0" y="241122"/>
                  </a:lnTo>
                  <a:lnTo>
                    <a:pt x="2799079" y="241122"/>
                  </a:lnTo>
                  <a:lnTo>
                    <a:pt x="2799079" y="0"/>
                  </a:lnTo>
                  <a:close/>
                </a:path>
              </a:pathLst>
            </a:custGeom>
            <a:solidFill>
              <a:srgbClr val="438085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056380" y="662444"/>
              <a:ext cx="2674620" cy="170180"/>
            </a:xfrm>
            <a:custGeom>
              <a:avLst/>
              <a:gdLst/>
              <a:ahLst/>
              <a:cxnLst/>
              <a:rect l="l" t="t" r="r" b="b"/>
              <a:pathLst>
                <a:path w="2674620" h="170180">
                  <a:moveTo>
                    <a:pt x="2296160" y="2794"/>
                  </a:moveTo>
                  <a:lnTo>
                    <a:pt x="2293366" y="0"/>
                  </a:lnTo>
                  <a:lnTo>
                    <a:pt x="2794" y="0"/>
                  </a:lnTo>
                  <a:lnTo>
                    <a:pt x="0" y="2794"/>
                  </a:lnTo>
                  <a:lnTo>
                    <a:pt x="0" y="35280"/>
                  </a:lnTo>
                  <a:lnTo>
                    <a:pt x="2794" y="38074"/>
                  </a:lnTo>
                  <a:lnTo>
                    <a:pt x="2293366" y="38074"/>
                  </a:lnTo>
                  <a:lnTo>
                    <a:pt x="2296160" y="35280"/>
                  </a:lnTo>
                  <a:lnTo>
                    <a:pt x="2296160" y="2794"/>
                  </a:lnTo>
                  <a:close/>
                </a:path>
                <a:path w="2674620" h="170180">
                  <a:moveTo>
                    <a:pt x="2674620" y="125374"/>
                  </a:moveTo>
                  <a:lnTo>
                    <a:pt x="2671064" y="121818"/>
                  </a:lnTo>
                  <a:lnTo>
                    <a:pt x="1476756" y="121818"/>
                  </a:lnTo>
                  <a:lnTo>
                    <a:pt x="1473200" y="125374"/>
                  </a:lnTo>
                  <a:lnTo>
                    <a:pt x="1473200" y="166497"/>
                  </a:lnTo>
                  <a:lnTo>
                    <a:pt x="1476756" y="170040"/>
                  </a:lnTo>
                  <a:lnTo>
                    <a:pt x="2671064" y="170040"/>
                  </a:lnTo>
                  <a:lnTo>
                    <a:pt x="2674620" y="166497"/>
                  </a:lnTo>
                  <a:lnTo>
                    <a:pt x="2674620" y="1253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814819" y="0"/>
              <a:ext cx="43180" cy="824865"/>
            </a:xfrm>
            <a:custGeom>
              <a:avLst/>
              <a:gdLst/>
              <a:ahLst/>
              <a:cxnLst/>
              <a:rect l="l" t="t" r="r" b="b"/>
              <a:pathLst>
                <a:path w="43179" h="824865">
                  <a:moveTo>
                    <a:pt x="43179" y="0"/>
                  </a:moveTo>
                  <a:lnTo>
                    <a:pt x="0" y="0"/>
                  </a:lnTo>
                  <a:lnTo>
                    <a:pt x="0" y="824865"/>
                  </a:lnTo>
                  <a:lnTo>
                    <a:pt x="43179" y="824865"/>
                  </a:lnTo>
                  <a:lnTo>
                    <a:pt x="43179" y="0"/>
                  </a:lnTo>
                  <a:close/>
                </a:path>
              </a:pathLst>
            </a:custGeom>
            <a:solidFill>
              <a:srgbClr val="FFFFFF">
                <a:alpha val="650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769100" y="0"/>
              <a:ext cx="7620" cy="824865"/>
            </a:xfrm>
            <a:custGeom>
              <a:avLst/>
              <a:gdLst/>
              <a:ahLst/>
              <a:cxnLst/>
              <a:rect l="l" t="t" r="r" b="b"/>
              <a:pathLst>
                <a:path w="7620" h="824865">
                  <a:moveTo>
                    <a:pt x="7620" y="0"/>
                  </a:moveTo>
                  <a:lnTo>
                    <a:pt x="0" y="0"/>
                  </a:lnTo>
                  <a:lnTo>
                    <a:pt x="0" y="824865"/>
                  </a:lnTo>
                  <a:lnTo>
                    <a:pt x="7620" y="824865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731000" y="0"/>
              <a:ext cx="20320" cy="824865"/>
            </a:xfrm>
            <a:custGeom>
              <a:avLst/>
              <a:gdLst/>
              <a:ahLst/>
              <a:cxnLst/>
              <a:rect l="l" t="t" r="r" b="b"/>
              <a:pathLst>
                <a:path w="20320" h="824865">
                  <a:moveTo>
                    <a:pt x="20320" y="0"/>
                  </a:moveTo>
                  <a:lnTo>
                    <a:pt x="0" y="0"/>
                  </a:lnTo>
                  <a:lnTo>
                    <a:pt x="0" y="824865"/>
                  </a:lnTo>
                  <a:lnTo>
                    <a:pt x="20320" y="824865"/>
                  </a:lnTo>
                  <a:lnTo>
                    <a:pt x="20320" y="0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654800" y="0"/>
              <a:ext cx="7620" cy="779780"/>
            </a:xfrm>
            <a:custGeom>
              <a:avLst/>
              <a:gdLst/>
              <a:ahLst/>
              <a:cxnLst/>
              <a:rect l="l" t="t" r="r" b="b"/>
              <a:pathLst>
                <a:path w="7620" h="779780">
                  <a:moveTo>
                    <a:pt x="7620" y="0"/>
                  </a:moveTo>
                  <a:lnTo>
                    <a:pt x="0" y="0"/>
                  </a:lnTo>
                  <a:lnTo>
                    <a:pt x="0" y="779183"/>
                  </a:lnTo>
                  <a:lnTo>
                    <a:pt x="7620" y="779183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FFFFFF">
                <a:alpha val="3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784326" y="0"/>
              <a:ext cx="20320" cy="824865"/>
            </a:xfrm>
            <a:custGeom>
              <a:avLst/>
              <a:gdLst/>
              <a:ahLst/>
              <a:cxnLst/>
              <a:rect l="l" t="t" r="r" b="b"/>
              <a:pathLst>
                <a:path w="20320" h="824865">
                  <a:moveTo>
                    <a:pt x="20320" y="0"/>
                  </a:moveTo>
                  <a:lnTo>
                    <a:pt x="0" y="0"/>
                  </a:lnTo>
                  <a:lnTo>
                    <a:pt x="0" y="824865"/>
                  </a:lnTo>
                  <a:lnTo>
                    <a:pt x="20320" y="824865"/>
                  </a:lnTo>
                  <a:lnTo>
                    <a:pt x="20320" y="0"/>
                  </a:lnTo>
                  <a:close/>
                </a:path>
              </a:pathLst>
            </a:custGeom>
            <a:solidFill>
              <a:srgbClr val="FFFFFF">
                <a:alpha val="650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687172" y="0"/>
              <a:ext cx="40640" cy="779780"/>
            </a:xfrm>
            <a:custGeom>
              <a:avLst/>
              <a:gdLst/>
              <a:ahLst/>
              <a:cxnLst/>
              <a:rect l="l" t="t" r="r" b="b"/>
              <a:pathLst>
                <a:path w="40640" h="779780">
                  <a:moveTo>
                    <a:pt x="40640" y="0"/>
                  </a:moveTo>
                  <a:lnTo>
                    <a:pt x="0" y="0"/>
                  </a:lnTo>
                  <a:lnTo>
                    <a:pt x="0" y="779183"/>
                  </a:lnTo>
                  <a:lnTo>
                    <a:pt x="40640" y="779183"/>
                  </a:lnTo>
                  <a:lnTo>
                    <a:pt x="40640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4046" y="5260080"/>
            <a:ext cx="5354319" cy="3007906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" dirty="0"/>
              <a:t>CMEtK</a:t>
            </a:r>
            <a:r>
              <a:rPr spc="-35" dirty="0"/>
              <a:t> </a:t>
            </a:r>
            <a:r>
              <a:rPr spc="-10" dirty="0"/>
              <a:t>Soluções</a:t>
            </a:r>
            <a:r>
              <a:rPr spc="-25" dirty="0"/>
              <a:t> </a:t>
            </a:r>
            <a:r>
              <a:rPr spc="-10" dirty="0"/>
              <a:t>Hospitalares</a:t>
            </a:r>
            <a:r>
              <a:rPr spc="-5" dirty="0"/>
              <a:t> </a:t>
            </a:r>
            <a:r>
              <a:rPr spc="-10" dirty="0"/>
              <a:t>Ltda</a:t>
            </a:r>
            <a:r>
              <a:rPr spc="-20" dirty="0"/>
              <a:t> </a:t>
            </a:r>
            <a:r>
              <a:rPr spc="-10" dirty="0"/>
              <a:t>-</a:t>
            </a:r>
            <a:r>
              <a:rPr spc="-30" dirty="0"/>
              <a:t> </a:t>
            </a:r>
            <a:r>
              <a:rPr spc="-10" dirty="0"/>
              <a:t>Confidencial</a:t>
            </a:r>
          </a:p>
        </p:txBody>
      </p:sp>
      <p:sp>
        <p:nvSpPr>
          <p:cNvPr id="23" name="object 3">
            <a:extLst>
              <a:ext uri="{FF2B5EF4-FFF2-40B4-BE49-F238E27FC236}">
                <a16:creationId xmlns:a16="http://schemas.microsoft.com/office/drawing/2014/main" id="{C32227C6-4E8C-ACB8-8BEE-BD67725A573D}"/>
              </a:ext>
            </a:extLst>
          </p:cNvPr>
          <p:cNvSpPr txBox="1"/>
          <p:nvPr/>
        </p:nvSpPr>
        <p:spPr>
          <a:xfrm>
            <a:off x="3203753" y="2059941"/>
            <a:ext cx="2840228" cy="11567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400" b="1" spc="-10" dirty="0">
                <a:latin typeface="Georgia"/>
                <a:cs typeface="Georgia"/>
              </a:rPr>
              <a:t>Especialista Produtos</a:t>
            </a:r>
            <a:endParaRPr sz="14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140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pt-BR" sz="1200" spc="-20" dirty="0">
                <a:solidFill>
                  <a:srgbClr val="1F1F21"/>
                </a:solidFill>
                <a:latin typeface="Georgia"/>
                <a:cs typeface="Georgia"/>
              </a:rPr>
              <a:t>Camila Cadamuro</a:t>
            </a:r>
            <a:endParaRPr sz="120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200" dirty="0">
                <a:solidFill>
                  <a:srgbClr val="1F1F21"/>
                </a:solidFill>
                <a:latin typeface="Georgia"/>
                <a:cs typeface="Georgia"/>
              </a:rPr>
              <a:t>(</a:t>
            </a:r>
            <a:r>
              <a:rPr lang="pt-BR" sz="1200" dirty="0">
                <a:solidFill>
                  <a:srgbClr val="1F1F21"/>
                </a:solidFill>
                <a:latin typeface="Georgia"/>
                <a:cs typeface="Georgia"/>
              </a:rPr>
              <a:t>61</a:t>
            </a:r>
            <a:r>
              <a:rPr sz="1200" dirty="0">
                <a:solidFill>
                  <a:srgbClr val="1F1F21"/>
                </a:solidFill>
                <a:latin typeface="Georgia"/>
                <a:cs typeface="Georgia"/>
              </a:rPr>
              <a:t>)</a:t>
            </a:r>
            <a:r>
              <a:rPr lang="pt-BR" sz="1200" dirty="0">
                <a:solidFill>
                  <a:srgbClr val="1F1F21"/>
                </a:solidFill>
                <a:latin typeface="Georgia"/>
                <a:cs typeface="Georgia"/>
              </a:rPr>
              <a:t>8230-2858</a:t>
            </a:r>
            <a:endParaRPr sz="120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lang="pt-BR" sz="1400" u="sng" spc="-10" dirty="0" err="1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Georgia"/>
                <a:cs typeface="Georgia"/>
                <a:hlinkClick r:id="rId4"/>
              </a:rPr>
              <a:t>camila</a:t>
            </a:r>
            <a:r>
              <a:rPr sz="1400" u="sng" spc="-10" dirty="0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Georgia"/>
                <a:cs typeface="Georgia"/>
                <a:hlinkClick r:id="rId4"/>
              </a:rPr>
              <a:t>@cmetk.com.br</a:t>
            </a:r>
            <a:endParaRPr sz="1400" dirty="0">
              <a:latin typeface="Georgia"/>
              <a:cs typeface="Georgia"/>
            </a:endParaRPr>
          </a:p>
        </p:txBody>
      </p:sp>
      <p:sp>
        <p:nvSpPr>
          <p:cNvPr id="21" name="object 4"/>
          <p:cNvSpPr txBox="1"/>
          <p:nvPr/>
        </p:nvSpPr>
        <p:spPr>
          <a:xfrm>
            <a:off x="411429" y="2627640"/>
            <a:ext cx="1798371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1F1F21"/>
                </a:solidFill>
                <a:latin typeface="Georgia"/>
                <a:cs typeface="Georgia"/>
              </a:rPr>
              <a:t>Marcelo </a:t>
            </a:r>
            <a:r>
              <a:rPr lang="pt-BR" sz="1200" spc="-10" dirty="0">
                <a:solidFill>
                  <a:srgbClr val="1F1F21"/>
                </a:solidFill>
                <a:latin typeface="Georgia"/>
                <a:cs typeface="Georgia"/>
              </a:rPr>
              <a:t>Mergulhão</a:t>
            </a:r>
            <a:endParaRPr sz="1200" dirty="0">
              <a:latin typeface="Georgia"/>
              <a:cs typeface="Georgia"/>
            </a:endParaRPr>
          </a:p>
        </p:txBody>
      </p:sp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67747BFA-1598-0DDC-86B5-CBDDA7BD09D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947527"/>
            <a:ext cx="2329063" cy="10194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1207</TotalTime>
  <Words>828</Words>
  <Application>Microsoft Office PowerPoint</Application>
  <PresentationFormat>Apresentação na tela (4:3)</PresentationFormat>
  <Paragraphs>100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Calibri</vt:lpstr>
      <vt:lpstr>Georgia</vt:lpstr>
      <vt:lpstr>Trebuchet MS</vt:lpstr>
      <vt:lpstr>Wingdings</vt:lpstr>
      <vt:lpstr>Office Theme</vt:lpstr>
      <vt:lpstr>Apresentação da Empresa  e Proposta Comercial  H Olhos  Paraiso  SP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Marcelo HB</dc:creator>
  <cp:lastModifiedBy>Marcelo Mergulhao</cp:lastModifiedBy>
  <cp:revision>10</cp:revision>
  <dcterms:created xsi:type="dcterms:W3CDTF">2024-12-06T18:50:39Z</dcterms:created>
  <dcterms:modified xsi:type="dcterms:W3CDTF">2025-08-14T12:10:20Z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2024-12-06T00:00:00Z</vt:filetime>
  </property>
  <property fmtid="{D5CDD505-2E9C-101B-9397-08002B2CF9AE}" pid="3" name="Creator">
    <vt:lpwstr>Acrobat PDFMaker 24 para Word</vt:lpwstr>
  </property>
  <property fmtid="{D5CDD505-2E9C-101B-9397-08002B2CF9AE}" pid="4" name="LastSaved">
    <vt:filetime>2024-12-06T00:00:00Z</vt:filetime>
  </property>
  <property fmtid="{D5CDD505-2E9C-101B-9397-08002B2CF9AE}" pid="5" name="Producer">
    <vt:lpwstr>Adobe PDF Library 24.4.48</vt:lpwstr>
  </property>
  <property fmtid="{D5CDD505-2E9C-101B-9397-08002B2CF9AE}" pid="6" name="SourceModified">
    <vt:lpwstr>D:20231012132143</vt:lpwstr>
  </property>
</Properties>
</file>