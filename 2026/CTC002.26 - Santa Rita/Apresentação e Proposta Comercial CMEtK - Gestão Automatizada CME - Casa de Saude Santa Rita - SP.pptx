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5" r:id="rId8"/>
    <p:sldId id="301" r:id="rId9"/>
    <p:sldId id="266" r:id="rId10"/>
    <p:sldId id="269" r:id="rId11"/>
    <p:sldId id="271" r:id="rId12"/>
    <p:sldId id="272" r:id="rId13"/>
    <p:sldId id="273" r:id="rId14"/>
    <p:sldId id="262" r:id="rId15"/>
  </p:sldIdLst>
  <p:sldSz cx="6858000" cy="9144000" type="screen4x3"/>
  <p:notesSz cx="6858000" cy="9144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DA1F7E-D69D-459C-83F4-66EA09F546DC}" v="6" dt="2026-02-03T20:42:46.186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337" autoAdjust="0"/>
  </p:normalViewPr>
  <p:slideViewPr>
    <p:cSldViewPr>
      <p:cViewPr varScale="1">
        <p:scale>
          <a:sx n="71" d="100"/>
          <a:sy n="71" d="100"/>
        </p:scale>
        <p:origin x="5052" y="28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75BD706-2045-4FEB-BC8E-FA576E7B3DD7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1945F21A-4A0E-4B5A-A674-1E5B649D6E98}">
      <dgm:prSet phldrT="[Texto]"/>
      <dgm:spPr/>
      <dgm:t>
        <a:bodyPr/>
        <a:lstStyle/>
        <a:p>
          <a:r>
            <a:rPr lang="pt-BR" dirty="0"/>
            <a:t>Controles</a:t>
          </a:r>
        </a:p>
      </dgm:t>
    </dgm:pt>
    <dgm:pt modelId="{FC990388-AD1D-4237-AB59-F510784ED2CA}" type="parTrans" cxnId="{54EAD716-3695-42E0-A47E-2F07B924FECE}">
      <dgm:prSet/>
      <dgm:spPr/>
      <dgm:t>
        <a:bodyPr/>
        <a:lstStyle/>
        <a:p>
          <a:endParaRPr lang="pt-BR"/>
        </a:p>
      </dgm:t>
    </dgm:pt>
    <dgm:pt modelId="{5D8C0DB1-B4E7-48BB-9F61-56617A113F37}" type="sibTrans" cxnId="{54EAD716-3695-42E0-A47E-2F07B924FECE}">
      <dgm:prSet/>
      <dgm:spPr/>
      <dgm:t>
        <a:bodyPr/>
        <a:lstStyle/>
        <a:p>
          <a:endParaRPr lang="pt-BR"/>
        </a:p>
      </dgm:t>
    </dgm:pt>
    <dgm:pt modelId="{DF515DFC-B2E2-4222-86E7-5D6AF8DD4F73}">
      <dgm:prSet phldrT="[Texto]"/>
      <dgm:spPr/>
      <dgm:t>
        <a:bodyPr/>
        <a:lstStyle/>
        <a:p>
          <a:r>
            <a:rPr lang="pt-BR" dirty="0"/>
            <a:t>Manutenção</a:t>
          </a:r>
        </a:p>
      </dgm:t>
    </dgm:pt>
    <dgm:pt modelId="{E44E4C2F-ECB0-4968-ABA6-D4BC63E22F6E}" type="parTrans" cxnId="{880A05DD-A2FB-4D5C-B720-5CBAB7CC41FC}">
      <dgm:prSet/>
      <dgm:spPr/>
      <dgm:t>
        <a:bodyPr/>
        <a:lstStyle/>
        <a:p>
          <a:endParaRPr lang="pt-BR"/>
        </a:p>
      </dgm:t>
    </dgm:pt>
    <dgm:pt modelId="{A5421FDE-194A-4A9B-8215-4B015831B0CC}" type="sibTrans" cxnId="{880A05DD-A2FB-4D5C-B720-5CBAB7CC41FC}">
      <dgm:prSet/>
      <dgm:spPr/>
      <dgm:t>
        <a:bodyPr/>
        <a:lstStyle/>
        <a:p>
          <a:endParaRPr lang="pt-BR"/>
        </a:p>
      </dgm:t>
    </dgm:pt>
    <dgm:pt modelId="{35279FF8-339E-4DBC-BC58-5323CF0A5D76}">
      <dgm:prSet phldrT="[Texto]"/>
      <dgm:spPr/>
      <dgm:t>
        <a:bodyPr/>
        <a:lstStyle/>
        <a:p>
          <a:r>
            <a:rPr lang="pt-BR" dirty="0"/>
            <a:t>Materiais</a:t>
          </a:r>
        </a:p>
      </dgm:t>
    </dgm:pt>
    <dgm:pt modelId="{1B3ACE90-AD3A-493A-90CC-D04E6EAEE16D}" type="parTrans" cxnId="{EDEB0B82-9172-4089-8BF2-D02ECEE608D8}">
      <dgm:prSet/>
      <dgm:spPr/>
      <dgm:t>
        <a:bodyPr/>
        <a:lstStyle/>
        <a:p>
          <a:endParaRPr lang="pt-BR"/>
        </a:p>
      </dgm:t>
    </dgm:pt>
    <dgm:pt modelId="{41BE94CB-C9DB-463F-AAD7-22768D5BB9ED}" type="sibTrans" cxnId="{EDEB0B82-9172-4089-8BF2-D02ECEE608D8}">
      <dgm:prSet/>
      <dgm:spPr/>
      <dgm:t>
        <a:bodyPr/>
        <a:lstStyle/>
        <a:p>
          <a:endParaRPr lang="pt-BR"/>
        </a:p>
      </dgm:t>
    </dgm:pt>
    <dgm:pt modelId="{4B83C3B2-6C84-494B-B9CF-4AE74BF172F8}">
      <dgm:prSet/>
      <dgm:spPr/>
      <dgm:t>
        <a:bodyPr/>
        <a:lstStyle/>
        <a:p>
          <a:r>
            <a:rPr lang="pt-BR" dirty="0"/>
            <a:t>Educação Continuada</a:t>
          </a:r>
        </a:p>
      </dgm:t>
    </dgm:pt>
    <dgm:pt modelId="{C7EE76D3-5FE3-42A0-B4F0-41AEB4B09725}" type="parTrans" cxnId="{AC658957-AF91-4531-8D78-31E64BE8E245}">
      <dgm:prSet/>
      <dgm:spPr/>
      <dgm:t>
        <a:bodyPr/>
        <a:lstStyle/>
        <a:p>
          <a:endParaRPr lang="pt-BR"/>
        </a:p>
      </dgm:t>
    </dgm:pt>
    <dgm:pt modelId="{7117F55E-AED1-45C0-BC43-2B960EB22598}" type="sibTrans" cxnId="{AC658957-AF91-4531-8D78-31E64BE8E245}">
      <dgm:prSet/>
      <dgm:spPr/>
      <dgm:t>
        <a:bodyPr/>
        <a:lstStyle/>
        <a:p>
          <a:endParaRPr lang="pt-BR"/>
        </a:p>
      </dgm:t>
    </dgm:pt>
    <dgm:pt modelId="{D2F27A36-8631-4AC6-BACB-44C558AC600C}" type="pres">
      <dgm:prSet presAssocID="{B75BD706-2045-4FEB-BC8E-FA576E7B3DD7}" presName="matrix" presStyleCnt="0">
        <dgm:presLayoutVars>
          <dgm:chMax val="1"/>
          <dgm:dir/>
          <dgm:resizeHandles val="exact"/>
        </dgm:presLayoutVars>
      </dgm:prSet>
      <dgm:spPr/>
    </dgm:pt>
    <dgm:pt modelId="{93CF586B-3856-49F9-ADBC-7114B18552B4}" type="pres">
      <dgm:prSet presAssocID="{B75BD706-2045-4FEB-BC8E-FA576E7B3DD7}" presName="diamond" presStyleLbl="bgShp" presStyleIdx="0" presStyleCnt="1"/>
      <dgm:spPr/>
    </dgm:pt>
    <dgm:pt modelId="{658E4A4D-67D7-4230-BDA9-7D723FA7C4C0}" type="pres">
      <dgm:prSet presAssocID="{B75BD706-2045-4FEB-BC8E-FA576E7B3DD7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3CD6B150-3859-4E84-8C1B-C670E883D963}" type="pres">
      <dgm:prSet presAssocID="{B75BD706-2045-4FEB-BC8E-FA576E7B3DD7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30432268-9A92-43D6-B66C-A32C42C1984E}" type="pres">
      <dgm:prSet presAssocID="{B75BD706-2045-4FEB-BC8E-FA576E7B3DD7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83C5C435-A8C9-473B-A381-34239EF1B166}" type="pres">
      <dgm:prSet presAssocID="{B75BD706-2045-4FEB-BC8E-FA576E7B3DD7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54EAD716-3695-42E0-A47E-2F07B924FECE}" srcId="{B75BD706-2045-4FEB-BC8E-FA576E7B3DD7}" destId="{1945F21A-4A0E-4B5A-A674-1E5B649D6E98}" srcOrd="0" destOrd="0" parTransId="{FC990388-AD1D-4237-AB59-F510784ED2CA}" sibTransId="{5D8C0DB1-B4E7-48BB-9F61-56617A113F37}"/>
    <dgm:cxn modelId="{A681972A-340B-4B96-AEF1-D8CBFD2E09AF}" type="presOf" srcId="{1945F21A-4A0E-4B5A-A674-1E5B649D6E98}" destId="{658E4A4D-67D7-4230-BDA9-7D723FA7C4C0}" srcOrd="0" destOrd="0" presId="urn:microsoft.com/office/officeart/2005/8/layout/matrix3"/>
    <dgm:cxn modelId="{FAEA7430-4564-4CB0-B1E8-B7FBEFBB989C}" type="presOf" srcId="{4B83C3B2-6C84-494B-B9CF-4AE74BF172F8}" destId="{83C5C435-A8C9-473B-A381-34239EF1B166}" srcOrd="0" destOrd="0" presId="urn:microsoft.com/office/officeart/2005/8/layout/matrix3"/>
    <dgm:cxn modelId="{7EA52931-00AC-4F93-8387-EF6B40F05CD3}" type="presOf" srcId="{35279FF8-339E-4DBC-BC58-5323CF0A5D76}" destId="{30432268-9A92-43D6-B66C-A32C42C1984E}" srcOrd="0" destOrd="0" presId="urn:microsoft.com/office/officeart/2005/8/layout/matrix3"/>
    <dgm:cxn modelId="{B18F3175-39DA-4E0A-94D2-32DA96F6809E}" type="presOf" srcId="{B75BD706-2045-4FEB-BC8E-FA576E7B3DD7}" destId="{D2F27A36-8631-4AC6-BACB-44C558AC600C}" srcOrd="0" destOrd="0" presId="urn:microsoft.com/office/officeart/2005/8/layout/matrix3"/>
    <dgm:cxn modelId="{AC658957-AF91-4531-8D78-31E64BE8E245}" srcId="{B75BD706-2045-4FEB-BC8E-FA576E7B3DD7}" destId="{4B83C3B2-6C84-494B-B9CF-4AE74BF172F8}" srcOrd="3" destOrd="0" parTransId="{C7EE76D3-5FE3-42A0-B4F0-41AEB4B09725}" sibTransId="{7117F55E-AED1-45C0-BC43-2B960EB22598}"/>
    <dgm:cxn modelId="{A36EA080-4F03-4041-98CB-65D1BDE7E564}" type="presOf" srcId="{DF515DFC-B2E2-4222-86E7-5D6AF8DD4F73}" destId="{3CD6B150-3859-4E84-8C1B-C670E883D963}" srcOrd="0" destOrd="0" presId="urn:microsoft.com/office/officeart/2005/8/layout/matrix3"/>
    <dgm:cxn modelId="{EDEB0B82-9172-4089-8BF2-D02ECEE608D8}" srcId="{B75BD706-2045-4FEB-BC8E-FA576E7B3DD7}" destId="{35279FF8-339E-4DBC-BC58-5323CF0A5D76}" srcOrd="2" destOrd="0" parTransId="{1B3ACE90-AD3A-493A-90CC-D04E6EAEE16D}" sibTransId="{41BE94CB-C9DB-463F-AAD7-22768D5BB9ED}"/>
    <dgm:cxn modelId="{880A05DD-A2FB-4D5C-B720-5CBAB7CC41FC}" srcId="{B75BD706-2045-4FEB-BC8E-FA576E7B3DD7}" destId="{DF515DFC-B2E2-4222-86E7-5D6AF8DD4F73}" srcOrd="1" destOrd="0" parTransId="{E44E4C2F-ECB0-4968-ABA6-D4BC63E22F6E}" sibTransId="{A5421FDE-194A-4A9B-8215-4B015831B0CC}"/>
    <dgm:cxn modelId="{B4813795-02A3-43E6-87C9-D124E2D5E9C9}" type="presParOf" srcId="{D2F27A36-8631-4AC6-BACB-44C558AC600C}" destId="{93CF586B-3856-49F9-ADBC-7114B18552B4}" srcOrd="0" destOrd="0" presId="urn:microsoft.com/office/officeart/2005/8/layout/matrix3"/>
    <dgm:cxn modelId="{83F7C59A-2391-41BC-A845-432A0201FCF8}" type="presParOf" srcId="{D2F27A36-8631-4AC6-BACB-44C558AC600C}" destId="{658E4A4D-67D7-4230-BDA9-7D723FA7C4C0}" srcOrd="1" destOrd="0" presId="urn:microsoft.com/office/officeart/2005/8/layout/matrix3"/>
    <dgm:cxn modelId="{5933EEC0-96C5-4DDA-BAD6-F6C25CE82AC1}" type="presParOf" srcId="{D2F27A36-8631-4AC6-BACB-44C558AC600C}" destId="{3CD6B150-3859-4E84-8C1B-C670E883D963}" srcOrd="2" destOrd="0" presId="urn:microsoft.com/office/officeart/2005/8/layout/matrix3"/>
    <dgm:cxn modelId="{CFFD8C5F-C416-43AF-A14A-A4E8B31D1671}" type="presParOf" srcId="{D2F27A36-8631-4AC6-BACB-44C558AC600C}" destId="{30432268-9A92-43D6-B66C-A32C42C1984E}" srcOrd="3" destOrd="0" presId="urn:microsoft.com/office/officeart/2005/8/layout/matrix3"/>
    <dgm:cxn modelId="{B2265035-F584-46A3-9151-8B2DD32E7E93}" type="presParOf" srcId="{D2F27A36-8631-4AC6-BACB-44C558AC600C}" destId="{83C5C435-A8C9-473B-A381-34239EF1B166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CF586B-3856-49F9-ADBC-7114B18552B4}">
      <dsp:nvSpPr>
        <dsp:cNvPr id="0" name=""/>
        <dsp:cNvSpPr/>
      </dsp:nvSpPr>
      <dsp:spPr>
        <a:xfrm>
          <a:off x="752470" y="0"/>
          <a:ext cx="2645569" cy="2645569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8E4A4D-67D7-4230-BDA9-7D723FA7C4C0}">
      <dsp:nvSpPr>
        <dsp:cNvPr id="0" name=""/>
        <dsp:cNvSpPr/>
      </dsp:nvSpPr>
      <dsp:spPr>
        <a:xfrm>
          <a:off x="1003799" y="251329"/>
          <a:ext cx="1031771" cy="103177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/>
            <a:t>Controles</a:t>
          </a:r>
        </a:p>
      </dsp:txBody>
      <dsp:txXfrm>
        <a:off x="1054166" y="301696"/>
        <a:ext cx="931037" cy="931037"/>
      </dsp:txXfrm>
    </dsp:sp>
    <dsp:sp modelId="{3CD6B150-3859-4E84-8C1B-C670E883D963}">
      <dsp:nvSpPr>
        <dsp:cNvPr id="0" name=""/>
        <dsp:cNvSpPr/>
      </dsp:nvSpPr>
      <dsp:spPr>
        <a:xfrm>
          <a:off x="2114938" y="251329"/>
          <a:ext cx="1031771" cy="103177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/>
            <a:t>Manutenção</a:t>
          </a:r>
        </a:p>
      </dsp:txBody>
      <dsp:txXfrm>
        <a:off x="2165305" y="301696"/>
        <a:ext cx="931037" cy="931037"/>
      </dsp:txXfrm>
    </dsp:sp>
    <dsp:sp modelId="{30432268-9A92-43D6-B66C-A32C42C1984E}">
      <dsp:nvSpPr>
        <dsp:cNvPr id="0" name=""/>
        <dsp:cNvSpPr/>
      </dsp:nvSpPr>
      <dsp:spPr>
        <a:xfrm>
          <a:off x="1003799" y="1362468"/>
          <a:ext cx="1031771" cy="103177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/>
            <a:t>Materiais</a:t>
          </a:r>
        </a:p>
      </dsp:txBody>
      <dsp:txXfrm>
        <a:off x="1054166" y="1412835"/>
        <a:ext cx="931037" cy="931037"/>
      </dsp:txXfrm>
    </dsp:sp>
    <dsp:sp modelId="{83C5C435-A8C9-473B-A381-34239EF1B166}">
      <dsp:nvSpPr>
        <dsp:cNvPr id="0" name=""/>
        <dsp:cNvSpPr/>
      </dsp:nvSpPr>
      <dsp:spPr>
        <a:xfrm>
          <a:off x="2114938" y="1362468"/>
          <a:ext cx="1031771" cy="103177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/>
            <a:t>Educação Continuada</a:t>
          </a:r>
        </a:p>
      </dsp:txBody>
      <dsp:txXfrm>
        <a:off x="2165305" y="1412835"/>
        <a:ext cx="931037" cy="9310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14350" y="2834640"/>
            <a:ext cx="5829300" cy="1920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028700" y="5120640"/>
            <a:ext cx="4800600" cy="2286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10" dirty="0"/>
              <a:t>CMEtK</a:t>
            </a:r>
            <a:r>
              <a:rPr spc="-35" dirty="0"/>
              <a:t> </a:t>
            </a:r>
            <a:r>
              <a:rPr spc="-10" dirty="0"/>
              <a:t>Soluções</a:t>
            </a:r>
            <a:r>
              <a:rPr spc="-25" dirty="0"/>
              <a:t> </a:t>
            </a:r>
            <a:r>
              <a:rPr spc="-10" dirty="0"/>
              <a:t>Hospitalares</a:t>
            </a:r>
            <a:r>
              <a:rPr spc="-5" dirty="0"/>
              <a:t> </a:t>
            </a:r>
            <a:r>
              <a:rPr spc="-10" dirty="0"/>
              <a:t>Ltda</a:t>
            </a:r>
            <a:r>
              <a:rPr spc="-20" dirty="0"/>
              <a:t> </a:t>
            </a:r>
            <a:r>
              <a:rPr spc="-10" dirty="0"/>
              <a:t>-</a:t>
            </a:r>
            <a:r>
              <a:rPr spc="-30" dirty="0"/>
              <a:t> </a:t>
            </a:r>
            <a:r>
              <a:rPr spc="-10" dirty="0"/>
              <a:t>Confidencial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056379" y="5080000"/>
            <a:ext cx="2801620" cy="121920"/>
          </a:xfrm>
          <a:custGeom>
            <a:avLst/>
            <a:gdLst/>
            <a:ahLst/>
            <a:cxnLst/>
            <a:rect l="l" t="t" r="r" b="b"/>
            <a:pathLst>
              <a:path w="2801620" h="121920">
                <a:moveTo>
                  <a:pt x="2801620" y="0"/>
                </a:moveTo>
                <a:lnTo>
                  <a:pt x="0" y="0"/>
                </a:lnTo>
                <a:lnTo>
                  <a:pt x="0" y="121920"/>
                </a:lnTo>
                <a:lnTo>
                  <a:pt x="2801620" y="121920"/>
                </a:lnTo>
                <a:lnTo>
                  <a:pt x="2801620" y="0"/>
                </a:lnTo>
                <a:close/>
              </a:path>
            </a:pathLst>
          </a:custGeom>
          <a:solidFill>
            <a:srgbClr val="4380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058920" y="5196840"/>
            <a:ext cx="2799080" cy="254000"/>
          </a:xfrm>
          <a:custGeom>
            <a:avLst/>
            <a:gdLst/>
            <a:ahLst/>
            <a:cxnLst/>
            <a:rect l="l" t="t" r="r" b="b"/>
            <a:pathLst>
              <a:path w="2799079" h="254000">
                <a:moveTo>
                  <a:pt x="2799079" y="0"/>
                </a:moveTo>
                <a:lnTo>
                  <a:pt x="0" y="0"/>
                </a:lnTo>
                <a:lnTo>
                  <a:pt x="0" y="254000"/>
                </a:lnTo>
                <a:lnTo>
                  <a:pt x="2799079" y="254000"/>
                </a:lnTo>
                <a:lnTo>
                  <a:pt x="2799079" y="0"/>
                </a:lnTo>
                <a:close/>
              </a:path>
            </a:pathLst>
          </a:custGeom>
          <a:solidFill>
            <a:srgbClr val="438085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058920" y="5486400"/>
            <a:ext cx="2799080" cy="12700"/>
          </a:xfrm>
          <a:custGeom>
            <a:avLst/>
            <a:gdLst/>
            <a:ahLst/>
            <a:cxnLst/>
            <a:rect l="l" t="t" r="r" b="b"/>
            <a:pathLst>
              <a:path w="2799079" h="12700">
                <a:moveTo>
                  <a:pt x="2799079" y="0"/>
                </a:moveTo>
                <a:lnTo>
                  <a:pt x="0" y="0"/>
                </a:lnTo>
                <a:lnTo>
                  <a:pt x="0" y="12700"/>
                </a:lnTo>
                <a:lnTo>
                  <a:pt x="2799079" y="12700"/>
                </a:lnTo>
                <a:lnTo>
                  <a:pt x="2799079" y="0"/>
                </a:lnTo>
                <a:close/>
              </a:path>
            </a:pathLst>
          </a:custGeom>
          <a:solidFill>
            <a:srgbClr val="438085">
              <a:alpha val="650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4056380" y="5283200"/>
            <a:ext cx="2674620" cy="180340"/>
          </a:xfrm>
          <a:custGeom>
            <a:avLst/>
            <a:gdLst/>
            <a:ahLst/>
            <a:cxnLst/>
            <a:rect l="l" t="t" r="r" b="b"/>
            <a:pathLst>
              <a:path w="2674620" h="180339">
                <a:moveTo>
                  <a:pt x="2296160" y="2667"/>
                </a:moveTo>
                <a:lnTo>
                  <a:pt x="2293493" y="0"/>
                </a:lnTo>
                <a:lnTo>
                  <a:pt x="2667" y="0"/>
                </a:lnTo>
                <a:lnTo>
                  <a:pt x="0" y="2667"/>
                </a:lnTo>
                <a:lnTo>
                  <a:pt x="0" y="32893"/>
                </a:lnTo>
                <a:lnTo>
                  <a:pt x="2667" y="35560"/>
                </a:lnTo>
                <a:lnTo>
                  <a:pt x="2293493" y="35560"/>
                </a:lnTo>
                <a:lnTo>
                  <a:pt x="2296160" y="32893"/>
                </a:lnTo>
                <a:lnTo>
                  <a:pt x="2296160" y="2667"/>
                </a:lnTo>
                <a:close/>
              </a:path>
              <a:path w="2674620" h="180339">
                <a:moveTo>
                  <a:pt x="2674620" y="133350"/>
                </a:moveTo>
                <a:lnTo>
                  <a:pt x="2670810" y="129540"/>
                </a:lnTo>
                <a:lnTo>
                  <a:pt x="1477010" y="129540"/>
                </a:lnTo>
                <a:lnTo>
                  <a:pt x="1473200" y="133350"/>
                </a:lnTo>
                <a:lnTo>
                  <a:pt x="1473200" y="176530"/>
                </a:lnTo>
                <a:lnTo>
                  <a:pt x="1477010" y="180340"/>
                </a:lnTo>
                <a:lnTo>
                  <a:pt x="2670810" y="180340"/>
                </a:lnTo>
                <a:lnTo>
                  <a:pt x="2674620" y="176530"/>
                </a:lnTo>
                <a:lnTo>
                  <a:pt x="2674620" y="1333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0" y="5087620"/>
            <a:ext cx="6858000" cy="104139"/>
          </a:xfrm>
          <a:custGeom>
            <a:avLst/>
            <a:gdLst/>
            <a:ahLst/>
            <a:cxnLst/>
            <a:rect l="l" t="t" r="r" b="b"/>
            <a:pathLst>
              <a:path w="6858000" h="104139">
                <a:moveTo>
                  <a:pt x="6858000" y="0"/>
                </a:moveTo>
                <a:lnTo>
                  <a:pt x="0" y="0"/>
                </a:lnTo>
                <a:lnTo>
                  <a:pt x="0" y="104139"/>
                </a:lnTo>
                <a:lnTo>
                  <a:pt x="6858000" y="104139"/>
                </a:lnTo>
                <a:lnTo>
                  <a:pt x="6858000" y="0"/>
                </a:lnTo>
                <a:close/>
              </a:path>
            </a:pathLst>
          </a:custGeom>
          <a:solidFill>
            <a:srgbClr val="438085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0" y="4935245"/>
            <a:ext cx="6858000" cy="254000"/>
          </a:xfrm>
          <a:custGeom>
            <a:avLst/>
            <a:gdLst/>
            <a:ahLst/>
            <a:cxnLst/>
            <a:rect l="l" t="t" r="r" b="b"/>
            <a:pathLst>
              <a:path w="6858000" h="254000">
                <a:moveTo>
                  <a:pt x="6858000" y="0"/>
                </a:moveTo>
                <a:lnTo>
                  <a:pt x="0" y="0"/>
                </a:lnTo>
                <a:lnTo>
                  <a:pt x="0" y="152400"/>
                </a:lnTo>
                <a:lnTo>
                  <a:pt x="4810760" y="152400"/>
                </a:lnTo>
                <a:lnTo>
                  <a:pt x="4810760" y="254000"/>
                </a:lnTo>
                <a:lnTo>
                  <a:pt x="6858000" y="254000"/>
                </a:lnTo>
                <a:lnTo>
                  <a:pt x="6858000" y="152400"/>
                </a:lnTo>
                <a:lnTo>
                  <a:pt x="6858000" y="0"/>
                </a:lnTo>
                <a:close/>
              </a:path>
            </a:pathLst>
          </a:custGeom>
          <a:solidFill>
            <a:srgbClr val="4380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0" y="0"/>
            <a:ext cx="6858000" cy="4935220"/>
          </a:xfrm>
          <a:custGeom>
            <a:avLst/>
            <a:gdLst/>
            <a:ahLst/>
            <a:cxnLst/>
            <a:rect l="l" t="t" r="r" b="b"/>
            <a:pathLst>
              <a:path w="6858000" h="4935220">
                <a:moveTo>
                  <a:pt x="6858000" y="0"/>
                </a:moveTo>
                <a:lnTo>
                  <a:pt x="0" y="0"/>
                </a:lnTo>
                <a:lnTo>
                  <a:pt x="0" y="4935220"/>
                </a:lnTo>
                <a:lnTo>
                  <a:pt x="6858000" y="4935220"/>
                </a:lnTo>
                <a:lnTo>
                  <a:pt x="6858000" y="0"/>
                </a:lnTo>
                <a:close/>
              </a:path>
            </a:pathLst>
          </a:custGeom>
          <a:solidFill>
            <a:srgbClr val="42445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3" name="bg 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4439" y="1833879"/>
            <a:ext cx="4567171" cy="805430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5539" y="3863352"/>
            <a:ext cx="4734810" cy="470139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87879" y="4259592"/>
            <a:ext cx="2850121" cy="470127"/>
          </a:xfrm>
          <a:prstGeom prst="rect">
            <a:avLst/>
          </a:prstGeom>
        </p:spPr>
      </p:pic>
      <p:sp>
        <p:nvSpPr>
          <p:cNvPr id="26" name="bg object 26"/>
          <p:cNvSpPr/>
          <p:nvPr/>
        </p:nvSpPr>
        <p:spPr>
          <a:xfrm>
            <a:off x="4058920" y="5549900"/>
            <a:ext cx="1473200" cy="25400"/>
          </a:xfrm>
          <a:custGeom>
            <a:avLst/>
            <a:gdLst/>
            <a:ahLst/>
            <a:cxnLst/>
            <a:rect l="l" t="t" r="r" b="b"/>
            <a:pathLst>
              <a:path w="1473200" h="25400">
                <a:moveTo>
                  <a:pt x="1473200" y="0"/>
                </a:moveTo>
                <a:lnTo>
                  <a:pt x="0" y="0"/>
                </a:lnTo>
                <a:lnTo>
                  <a:pt x="0" y="25120"/>
                </a:lnTo>
                <a:lnTo>
                  <a:pt x="1473200" y="25120"/>
                </a:lnTo>
                <a:lnTo>
                  <a:pt x="1473200" y="0"/>
                </a:lnTo>
                <a:close/>
              </a:path>
            </a:pathLst>
          </a:custGeom>
          <a:solidFill>
            <a:srgbClr val="438085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4058920" y="5595124"/>
            <a:ext cx="1473200" cy="12700"/>
          </a:xfrm>
          <a:custGeom>
            <a:avLst/>
            <a:gdLst/>
            <a:ahLst/>
            <a:cxnLst/>
            <a:rect l="l" t="t" r="r" b="b"/>
            <a:pathLst>
              <a:path w="1473200" h="12700">
                <a:moveTo>
                  <a:pt x="1473200" y="0"/>
                </a:moveTo>
                <a:lnTo>
                  <a:pt x="0" y="0"/>
                </a:lnTo>
                <a:lnTo>
                  <a:pt x="0" y="12560"/>
                </a:lnTo>
                <a:lnTo>
                  <a:pt x="1473200" y="12560"/>
                </a:lnTo>
                <a:lnTo>
                  <a:pt x="1473200" y="0"/>
                </a:lnTo>
                <a:close/>
              </a:path>
            </a:pathLst>
          </a:custGeom>
          <a:solidFill>
            <a:srgbClr val="438085">
              <a:alpha val="650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8" name="bg object 2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52805" y="6939280"/>
            <a:ext cx="2725699" cy="1849118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931920" y="7303148"/>
            <a:ext cx="2542942" cy="12471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10" dirty="0"/>
              <a:t>CMEtK</a:t>
            </a:r>
            <a:r>
              <a:rPr spc="-35" dirty="0"/>
              <a:t> </a:t>
            </a:r>
            <a:r>
              <a:rPr spc="-10" dirty="0"/>
              <a:t>Soluções</a:t>
            </a:r>
            <a:r>
              <a:rPr spc="-25" dirty="0"/>
              <a:t> </a:t>
            </a:r>
            <a:r>
              <a:rPr spc="-10" dirty="0"/>
              <a:t>Hospitalares</a:t>
            </a:r>
            <a:r>
              <a:rPr spc="-5" dirty="0"/>
              <a:t> </a:t>
            </a:r>
            <a:r>
              <a:rPr spc="-10" dirty="0"/>
              <a:t>Ltda</a:t>
            </a:r>
            <a:r>
              <a:rPr spc="-20" dirty="0"/>
              <a:t> </a:t>
            </a:r>
            <a:r>
              <a:rPr spc="-10" dirty="0"/>
              <a:t>-</a:t>
            </a:r>
            <a:r>
              <a:rPr spc="-30" dirty="0"/>
              <a:t> </a:t>
            </a:r>
            <a:r>
              <a:rPr spc="-10" dirty="0"/>
              <a:t>Confidencial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42900" y="2103120"/>
            <a:ext cx="298323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531870" y="2103120"/>
            <a:ext cx="298323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10" dirty="0"/>
              <a:t>CMEtK</a:t>
            </a:r>
            <a:r>
              <a:rPr spc="-35" dirty="0"/>
              <a:t> </a:t>
            </a:r>
            <a:r>
              <a:rPr spc="-10" dirty="0"/>
              <a:t>Soluções</a:t>
            </a:r>
            <a:r>
              <a:rPr spc="-25" dirty="0"/>
              <a:t> </a:t>
            </a:r>
            <a:r>
              <a:rPr spc="-10" dirty="0"/>
              <a:t>Hospitalares</a:t>
            </a:r>
            <a:r>
              <a:rPr spc="-5" dirty="0"/>
              <a:t> </a:t>
            </a:r>
            <a:r>
              <a:rPr spc="-10" dirty="0"/>
              <a:t>Ltda</a:t>
            </a:r>
            <a:r>
              <a:rPr spc="-20" dirty="0"/>
              <a:t> </a:t>
            </a:r>
            <a:r>
              <a:rPr spc="-10" dirty="0"/>
              <a:t>-</a:t>
            </a:r>
            <a:r>
              <a:rPr spc="-30" dirty="0"/>
              <a:t> </a:t>
            </a:r>
            <a:r>
              <a:rPr spc="-10" dirty="0"/>
              <a:t>Confidencial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10" dirty="0"/>
              <a:t>CMEtK</a:t>
            </a:r>
            <a:r>
              <a:rPr spc="-35" dirty="0"/>
              <a:t> </a:t>
            </a:r>
            <a:r>
              <a:rPr spc="-10" dirty="0"/>
              <a:t>Soluções</a:t>
            </a:r>
            <a:r>
              <a:rPr spc="-25" dirty="0"/>
              <a:t> </a:t>
            </a:r>
            <a:r>
              <a:rPr spc="-10" dirty="0"/>
              <a:t>Hospitalares</a:t>
            </a:r>
            <a:r>
              <a:rPr spc="-5" dirty="0"/>
              <a:t> </a:t>
            </a:r>
            <a:r>
              <a:rPr spc="-10" dirty="0"/>
              <a:t>Ltda</a:t>
            </a:r>
            <a:r>
              <a:rPr spc="-20" dirty="0"/>
              <a:t> </a:t>
            </a:r>
            <a:r>
              <a:rPr spc="-10" dirty="0"/>
              <a:t>-</a:t>
            </a:r>
            <a:r>
              <a:rPr spc="-30" dirty="0"/>
              <a:t> </a:t>
            </a:r>
            <a:r>
              <a:rPr spc="-10" dirty="0"/>
              <a:t>Confidencial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10" dirty="0"/>
              <a:t>CMEtK</a:t>
            </a:r>
            <a:r>
              <a:rPr spc="-35" dirty="0"/>
              <a:t> </a:t>
            </a:r>
            <a:r>
              <a:rPr spc="-10" dirty="0"/>
              <a:t>Soluções</a:t>
            </a:r>
            <a:r>
              <a:rPr spc="-25" dirty="0"/>
              <a:t> </a:t>
            </a:r>
            <a:r>
              <a:rPr spc="-10" dirty="0"/>
              <a:t>Hospitalares</a:t>
            </a:r>
            <a:r>
              <a:rPr spc="-5" dirty="0"/>
              <a:t> </a:t>
            </a:r>
            <a:r>
              <a:rPr spc="-10" dirty="0"/>
              <a:t>Ltda</a:t>
            </a:r>
            <a:r>
              <a:rPr spc="-20" dirty="0"/>
              <a:t> </a:t>
            </a:r>
            <a:r>
              <a:rPr spc="-10" dirty="0"/>
              <a:t>-</a:t>
            </a:r>
            <a:r>
              <a:rPr spc="-30" dirty="0"/>
              <a:t> </a:t>
            </a:r>
            <a:r>
              <a:rPr spc="-10" dirty="0"/>
              <a:t>Confidencial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532980"/>
            <a:ext cx="4056379" cy="68580"/>
          </a:xfrm>
          <a:custGeom>
            <a:avLst/>
            <a:gdLst/>
            <a:ahLst/>
            <a:cxnLst/>
            <a:rect l="l" t="t" r="r" b="b"/>
            <a:pathLst>
              <a:path w="4056379" h="68579">
                <a:moveTo>
                  <a:pt x="4056379" y="0"/>
                </a:moveTo>
                <a:lnTo>
                  <a:pt x="0" y="0"/>
                </a:lnTo>
                <a:lnTo>
                  <a:pt x="0" y="68529"/>
                </a:lnTo>
                <a:lnTo>
                  <a:pt x="4056379" y="68529"/>
                </a:lnTo>
                <a:lnTo>
                  <a:pt x="4056379" y="0"/>
                </a:lnTo>
                <a:close/>
              </a:path>
            </a:pathLst>
          </a:custGeom>
          <a:solidFill>
            <a:srgbClr val="438085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6858000" cy="414020"/>
          </a:xfrm>
          <a:custGeom>
            <a:avLst/>
            <a:gdLst/>
            <a:ahLst/>
            <a:cxnLst/>
            <a:rect l="l" t="t" r="r" b="b"/>
            <a:pathLst>
              <a:path w="6858000" h="414020">
                <a:moveTo>
                  <a:pt x="6858000" y="0"/>
                </a:moveTo>
                <a:lnTo>
                  <a:pt x="0" y="0"/>
                </a:lnTo>
                <a:lnTo>
                  <a:pt x="0" y="413715"/>
                </a:lnTo>
                <a:lnTo>
                  <a:pt x="6858000" y="413715"/>
                </a:lnTo>
                <a:lnTo>
                  <a:pt x="6858000" y="0"/>
                </a:lnTo>
                <a:close/>
              </a:path>
            </a:pathLst>
          </a:custGeom>
          <a:solidFill>
            <a:srgbClr val="4244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411174"/>
            <a:ext cx="6858000" cy="190500"/>
          </a:xfrm>
          <a:custGeom>
            <a:avLst/>
            <a:gdLst/>
            <a:ahLst/>
            <a:cxnLst/>
            <a:rect l="l" t="t" r="r" b="b"/>
            <a:pathLst>
              <a:path w="6858000" h="190500">
                <a:moveTo>
                  <a:pt x="6858000" y="0"/>
                </a:moveTo>
                <a:lnTo>
                  <a:pt x="0" y="0"/>
                </a:lnTo>
                <a:lnTo>
                  <a:pt x="0" y="121920"/>
                </a:lnTo>
                <a:lnTo>
                  <a:pt x="4056380" y="121920"/>
                </a:lnTo>
                <a:lnTo>
                  <a:pt x="4056380" y="190500"/>
                </a:lnTo>
                <a:lnTo>
                  <a:pt x="6858000" y="190500"/>
                </a:lnTo>
                <a:lnTo>
                  <a:pt x="6858000" y="121920"/>
                </a:lnTo>
                <a:lnTo>
                  <a:pt x="6858000" y="0"/>
                </a:lnTo>
                <a:close/>
              </a:path>
            </a:pathLst>
          </a:custGeom>
          <a:solidFill>
            <a:srgbClr val="4380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4058920" y="586295"/>
            <a:ext cx="2799080" cy="241300"/>
          </a:xfrm>
          <a:custGeom>
            <a:avLst/>
            <a:gdLst/>
            <a:ahLst/>
            <a:cxnLst/>
            <a:rect l="l" t="t" r="r" b="b"/>
            <a:pathLst>
              <a:path w="2799079" h="241300">
                <a:moveTo>
                  <a:pt x="2799079" y="0"/>
                </a:moveTo>
                <a:lnTo>
                  <a:pt x="0" y="0"/>
                </a:lnTo>
                <a:lnTo>
                  <a:pt x="0" y="241122"/>
                </a:lnTo>
                <a:lnTo>
                  <a:pt x="2799079" y="241122"/>
                </a:lnTo>
                <a:lnTo>
                  <a:pt x="2799079" y="0"/>
                </a:lnTo>
                <a:close/>
              </a:path>
            </a:pathLst>
          </a:custGeom>
          <a:solidFill>
            <a:srgbClr val="438085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4056380" y="662444"/>
            <a:ext cx="2674620" cy="170180"/>
          </a:xfrm>
          <a:custGeom>
            <a:avLst/>
            <a:gdLst/>
            <a:ahLst/>
            <a:cxnLst/>
            <a:rect l="l" t="t" r="r" b="b"/>
            <a:pathLst>
              <a:path w="2674620" h="170180">
                <a:moveTo>
                  <a:pt x="2296160" y="2794"/>
                </a:moveTo>
                <a:lnTo>
                  <a:pt x="2293366" y="0"/>
                </a:lnTo>
                <a:lnTo>
                  <a:pt x="2794" y="0"/>
                </a:lnTo>
                <a:lnTo>
                  <a:pt x="0" y="2794"/>
                </a:lnTo>
                <a:lnTo>
                  <a:pt x="0" y="35280"/>
                </a:lnTo>
                <a:lnTo>
                  <a:pt x="2794" y="38074"/>
                </a:lnTo>
                <a:lnTo>
                  <a:pt x="2293366" y="38074"/>
                </a:lnTo>
                <a:lnTo>
                  <a:pt x="2296160" y="35280"/>
                </a:lnTo>
                <a:lnTo>
                  <a:pt x="2296160" y="2794"/>
                </a:lnTo>
                <a:close/>
              </a:path>
              <a:path w="2674620" h="170180">
                <a:moveTo>
                  <a:pt x="2674620" y="125374"/>
                </a:moveTo>
                <a:lnTo>
                  <a:pt x="2671064" y="121818"/>
                </a:lnTo>
                <a:lnTo>
                  <a:pt x="1476756" y="121818"/>
                </a:lnTo>
                <a:lnTo>
                  <a:pt x="1473200" y="125374"/>
                </a:lnTo>
                <a:lnTo>
                  <a:pt x="1473200" y="166497"/>
                </a:lnTo>
                <a:lnTo>
                  <a:pt x="1476756" y="170040"/>
                </a:lnTo>
                <a:lnTo>
                  <a:pt x="2671064" y="170040"/>
                </a:lnTo>
                <a:lnTo>
                  <a:pt x="2674620" y="166497"/>
                </a:lnTo>
                <a:lnTo>
                  <a:pt x="2674620" y="12537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6814819" y="0"/>
            <a:ext cx="43180" cy="824865"/>
          </a:xfrm>
          <a:custGeom>
            <a:avLst/>
            <a:gdLst/>
            <a:ahLst/>
            <a:cxnLst/>
            <a:rect l="l" t="t" r="r" b="b"/>
            <a:pathLst>
              <a:path w="43179" h="824865">
                <a:moveTo>
                  <a:pt x="43179" y="0"/>
                </a:moveTo>
                <a:lnTo>
                  <a:pt x="0" y="0"/>
                </a:lnTo>
                <a:lnTo>
                  <a:pt x="0" y="824865"/>
                </a:lnTo>
                <a:lnTo>
                  <a:pt x="43179" y="824865"/>
                </a:lnTo>
                <a:lnTo>
                  <a:pt x="43179" y="0"/>
                </a:lnTo>
                <a:close/>
              </a:path>
            </a:pathLst>
          </a:custGeom>
          <a:solidFill>
            <a:srgbClr val="FFFFFF">
              <a:alpha val="650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6769100" y="0"/>
            <a:ext cx="7620" cy="824865"/>
          </a:xfrm>
          <a:custGeom>
            <a:avLst/>
            <a:gdLst/>
            <a:ahLst/>
            <a:cxnLst/>
            <a:rect l="l" t="t" r="r" b="b"/>
            <a:pathLst>
              <a:path w="7620" h="824865">
                <a:moveTo>
                  <a:pt x="7620" y="0"/>
                </a:moveTo>
                <a:lnTo>
                  <a:pt x="0" y="0"/>
                </a:lnTo>
                <a:lnTo>
                  <a:pt x="0" y="824865"/>
                </a:lnTo>
                <a:lnTo>
                  <a:pt x="7620" y="824865"/>
                </a:lnTo>
                <a:lnTo>
                  <a:pt x="7620" y="0"/>
                </a:lnTo>
                <a:close/>
              </a:path>
            </a:pathLst>
          </a:custGeom>
          <a:solidFill>
            <a:srgbClr val="FFFFFF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6731000" y="0"/>
            <a:ext cx="20320" cy="824865"/>
          </a:xfrm>
          <a:custGeom>
            <a:avLst/>
            <a:gdLst/>
            <a:ahLst/>
            <a:cxnLst/>
            <a:rect l="l" t="t" r="r" b="b"/>
            <a:pathLst>
              <a:path w="20320" h="824865">
                <a:moveTo>
                  <a:pt x="20320" y="0"/>
                </a:moveTo>
                <a:lnTo>
                  <a:pt x="0" y="0"/>
                </a:lnTo>
                <a:lnTo>
                  <a:pt x="0" y="824865"/>
                </a:lnTo>
                <a:lnTo>
                  <a:pt x="20320" y="824865"/>
                </a:lnTo>
                <a:lnTo>
                  <a:pt x="20320" y="0"/>
                </a:lnTo>
                <a:close/>
              </a:path>
            </a:pathLst>
          </a:custGeom>
          <a:solidFill>
            <a:srgbClr val="FFFFFF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6654800" y="0"/>
            <a:ext cx="7620" cy="779780"/>
          </a:xfrm>
          <a:custGeom>
            <a:avLst/>
            <a:gdLst/>
            <a:ahLst/>
            <a:cxnLst/>
            <a:rect l="l" t="t" r="r" b="b"/>
            <a:pathLst>
              <a:path w="7620" h="779780">
                <a:moveTo>
                  <a:pt x="7620" y="0"/>
                </a:moveTo>
                <a:lnTo>
                  <a:pt x="0" y="0"/>
                </a:lnTo>
                <a:lnTo>
                  <a:pt x="0" y="779183"/>
                </a:lnTo>
                <a:lnTo>
                  <a:pt x="7620" y="779183"/>
                </a:lnTo>
                <a:lnTo>
                  <a:pt x="7620" y="0"/>
                </a:lnTo>
                <a:close/>
              </a:path>
            </a:pathLst>
          </a:custGeom>
          <a:solidFill>
            <a:srgbClr val="FFFFFF">
              <a:alpha val="3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73250" y="1930552"/>
            <a:ext cx="4070350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2900" y="2103120"/>
            <a:ext cx="617220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080260" y="8905622"/>
            <a:ext cx="2764790" cy="1701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10" dirty="0"/>
              <a:t>CMEtK</a:t>
            </a:r>
            <a:r>
              <a:rPr spc="-35" dirty="0"/>
              <a:t> </a:t>
            </a:r>
            <a:r>
              <a:rPr spc="-10" dirty="0"/>
              <a:t>Soluções</a:t>
            </a:r>
            <a:r>
              <a:rPr spc="-25" dirty="0"/>
              <a:t> </a:t>
            </a:r>
            <a:r>
              <a:rPr spc="-10" dirty="0"/>
              <a:t>Hospitalares</a:t>
            </a:r>
            <a:r>
              <a:rPr spc="-5" dirty="0"/>
              <a:t> </a:t>
            </a:r>
            <a:r>
              <a:rPr spc="-10" dirty="0"/>
              <a:t>Ltda</a:t>
            </a:r>
            <a:r>
              <a:rPr spc="-20" dirty="0"/>
              <a:t> </a:t>
            </a:r>
            <a:r>
              <a:rPr spc="-10" dirty="0"/>
              <a:t>-</a:t>
            </a:r>
            <a:r>
              <a:rPr spc="-30" dirty="0"/>
              <a:t> </a:t>
            </a:r>
            <a:r>
              <a:rPr spc="-10" dirty="0"/>
              <a:t>Confidencial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42900" y="8503920"/>
            <a:ext cx="157734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937760" y="8503920"/>
            <a:ext cx="157734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png"/><Relationship Id="rId4" Type="http://schemas.openxmlformats.org/officeDocument/2006/relationships/image" Target="../media/image1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sv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mailto:vinicius@cmetk.com.br" TargetMode="External"/><Relationship Id="rId2" Type="http://schemas.openxmlformats.org/officeDocument/2006/relationships/hyperlink" Target="mailto:mmergulhao@cmetk.com.br" TargetMode="Externa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919A5292-9B70-C329-4F32-E664884AEF7D}"/>
              </a:ext>
            </a:extLst>
          </p:cNvPr>
          <p:cNvSpPr txBox="1"/>
          <p:nvPr/>
        </p:nvSpPr>
        <p:spPr>
          <a:xfrm>
            <a:off x="0" y="0"/>
            <a:ext cx="6858000" cy="5136768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01" y="1720977"/>
            <a:ext cx="5486400" cy="17363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pc="-10" dirty="0" err="1"/>
              <a:t>Apresentação</a:t>
            </a:r>
            <a:r>
              <a:rPr spc="-130" dirty="0"/>
              <a:t> </a:t>
            </a:r>
            <a:r>
              <a:rPr lang="pt-BR" spc="-130" dirty="0"/>
              <a:t> </a:t>
            </a:r>
            <a:r>
              <a:rPr lang="pt-BR" spc="-10" dirty="0"/>
              <a:t>e Proposta Comercial </a:t>
            </a:r>
            <a:br>
              <a:rPr lang="pt-BR" spc="-10" dirty="0"/>
            </a:br>
            <a:br>
              <a:rPr lang="pt-BR" spc="-10" dirty="0"/>
            </a:br>
            <a:r>
              <a:rPr lang="pt-BR" spc="-10" dirty="0"/>
              <a:t>Gestão Automatizada da CME</a:t>
            </a:r>
            <a:endParaRPr spc="-10" dirty="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2080260" y="8905622"/>
            <a:ext cx="2764790" cy="155812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10" dirty="0">
                <a:solidFill>
                  <a:schemeClr val="tx2">
                    <a:lumMod val="50000"/>
                  </a:schemeClr>
                </a:solidFill>
              </a:rPr>
              <a:t>CMEtK</a:t>
            </a:r>
            <a:r>
              <a:rPr spc="-35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spc="-10" dirty="0">
                <a:solidFill>
                  <a:schemeClr val="tx2">
                    <a:lumMod val="50000"/>
                  </a:schemeClr>
                </a:solidFill>
              </a:rPr>
              <a:t>Soluções</a:t>
            </a:r>
            <a:r>
              <a:rPr spc="-25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spc="-10" dirty="0">
                <a:solidFill>
                  <a:schemeClr val="tx2">
                    <a:lumMod val="50000"/>
                  </a:schemeClr>
                </a:solidFill>
              </a:rPr>
              <a:t>Hospitalares</a:t>
            </a:r>
            <a:r>
              <a:rPr spc="-5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spc="-10" dirty="0">
                <a:solidFill>
                  <a:schemeClr val="tx2">
                    <a:lumMod val="50000"/>
                  </a:schemeClr>
                </a:solidFill>
              </a:rPr>
              <a:t>Ltda</a:t>
            </a:r>
            <a:r>
              <a:rPr spc="-2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spc="-10" dirty="0">
                <a:solidFill>
                  <a:schemeClr val="tx2">
                    <a:lumMod val="50000"/>
                  </a:schemeClr>
                </a:solidFill>
              </a:rPr>
              <a:t>-</a:t>
            </a:r>
            <a:r>
              <a:rPr spc="-3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spc="-10" dirty="0">
                <a:solidFill>
                  <a:schemeClr val="tx2">
                    <a:lumMod val="50000"/>
                  </a:schemeClr>
                </a:solidFill>
              </a:rPr>
              <a:t>Confidencial</a:t>
            </a:r>
          </a:p>
        </p:txBody>
      </p:sp>
      <p:pic>
        <p:nvPicPr>
          <p:cNvPr id="6" name="Imagem 5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CDA27BDC-E5DB-3702-0E9A-ABFE6143C77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0740" y="5475350"/>
            <a:ext cx="2764790" cy="27647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63525" y="305873"/>
            <a:ext cx="22764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2B475E"/>
                </a:solidFill>
                <a:latin typeface="Trebuchet MS"/>
                <a:cs typeface="Trebuchet MS"/>
              </a:rPr>
              <a:t>Apresentação</a:t>
            </a:r>
            <a:r>
              <a:rPr sz="1200" b="1" spc="5" dirty="0">
                <a:solidFill>
                  <a:srgbClr val="2B475E"/>
                </a:solidFill>
                <a:latin typeface="Trebuchet MS"/>
                <a:cs typeface="Trebuchet MS"/>
              </a:rPr>
              <a:t> </a:t>
            </a:r>
            <a:r>
              <a:rPr sz="1200" b="1" spc="-20" dirty="0" err="1">
                <a:solidFill>
                  <a:srgbClr val="2B475E"/>
                </a:solidFill>
                <a:latin typeface="Trebuchet MS"/>
                <a:cs typeface="Trebuchet MS"/>
              </a:rPr>
              <a:t>Institucional</a:t>
            </a:r>
            <a:r>
              <a:rPr sz="1200" b="1" spc="35" dirty="0">
                <a:solidFill>
                  <a:srgbClr val="2B475E"/>
                </a:solidFill>
                <a:latin typeface="Trebuchet MS"/>
                <a:cs typeface="Trebuchet MS"/>
              </a:rPr>
              <a:t> </a:t>
            </a:r>
            <a:r>
              <a:rPr sz="1200" b="1" spc="-20" dirty="0">
                <a:solidFill>
                  <a:srgbClr val="2B475E"/>
                </a:solidFill>
                <a:latin typeface="Trebuchet MS"/>
                <a:cs typeface="Trebuchet MS"/>
              </a:rPr>
              <a:t>202</a:t>
            </a:r>
            <a:r>
              <a:rPr lang="pt-BR" sz="1200" b="1" spc="-20" dirty="0">
                <a:solidFill>
                  <a:srgbClr val="2B475E"/>
                </a:solidFill>
                <a:latin typeface="Trebuchet MS"/>
                <a:cs typeface="Trebuchet MS"/>
              </a:rPr>
              <a:t>5</a:t>
            </a:r>
            <a:r>
              <a:rPr sz="1200" b="1" spc="-20" dirty="0">
                <a:solidFill>
                  <a:srgbClr val="2B475E"/>
                </a:solidFill>
                <a:latin typeface="Trebuchet MS"/>
                <a:cs typeface="Trebuchet MS"/>
              </a:rPr>
              <a:t> </a:t>
            </a:r>
            <a:r>
              <a:rPr sz="1200" b="1" dirty="0">
                <a:solidFill>
                  <a:srgbClr val="2B475E"/>
                </a:solidFill>
                <a:latin typeface="Trebuchet MS"/>
                <a:cs typeface="Trebuchet MS"/>
              </a:rPr>
              <a:t>CMEtK</a:t>
            </a:r>
            <a:r>
              <a:rPr sz="1200" b="1" spc="-20" dirty="0">
                <a:solidFill>
                  <a:srgbClr val="2B475E"/>
                </a:solidFill>
                <a:latin typeface="Trebuchet MS"/>
                <a:cs typeface="Trebuchet MS"/>
              </a:rPr>
              <a:t> </a:t>
            </a:r>
            <a:r>
              <a:rPr sz="1200" b="1" dirty="0">
                <a:solidFill>
                  <a:srgbClr val="2B475E"/>
                </a:solidFill>
                <a:latin typeface="Trebuchet MS"/>
                <a:cs typeface="Trebuchet MS"/>
              </a:rPr>
              <a:t>Soluções</a:t>
            </a:r>
            <a:r>
              <a:rPr sz="1200" b="1" spc="-10" dirty="0">
                <a:solidFill>
                  <a:srgbClr val="2B475E"/>
                </a:solidFill>
                <a:latin typeface="Trebuchet MS"/>
                <a:cs typeface="Trebuchet MS"/>
              </a:rPr>
              <a:t> Hospitalares</a:t>
            </a:r>
            <a:endParaRPr sz="1200" dirty="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525" y="5781507"/>
            <a:ext cx="2538463" cy="142811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90106" y="1427073"/>
            <a:ext cx="18808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24453"/>
                </a:solidFill>
                <a:latin typeface="Georgia"/>
                <a:cs typeface="Georgia"/>
              </a:rPr>
              <a:t>Valores</a:t>
            </a:r>
            <a:r>
              <a:rPr sz="1800" spc="-65" dirty="0">
                <a:solidFill>
                  <a:srgbClr val="424453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424453"/>
                </a:solidFill>
                <a:latin typeface="Georgia"/>
                <a:cs typeface="Georgia"/>
              </a:rPr>
              <a:t>da </a:t>
            </a:r>
            <a:r>
              <a:rPr sz="1800" spc="-10" dirty="0">
                <a:solidFill>
                  <a:srgbClr val="424453"/>
                </a:solidFill>
                <a:latin typeface="Georgia"/>
                <a:cs typeface="Georgia"/>
              </a:rPr>
              <a:t>CMEtK</a:t>
            </a:r>
            <a:endParaRPr sz="1800" dirty="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9547" y="2068095"/>
            <a:ext cx="5978525" cy="27828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just"/>
            <a:r>
              <a:rPr lang="pt-BR"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</a:rPr>
              <a:t>Em 2010, nascia a </a:t>
            </a:r>
            <a:r>
              <a:rPr lang="pt-BR" sz="1200" b="1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</a:rPr>
              <a:t>CMEtK Soluções Hospitalares</a:t>
            </a:r>
            <a:r>
              <a:rPr lang="pt-BR"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</a:rPr>
              <a:t>, com uma proposta clara e objetiva:</a:t>
            </a:r>
          </a:p>
          <a:p>
            <a:pPr algn="just"/>
            <a:endParaRPr lang="pt-BR" sz="1200" dirty="0">
              <a:solidFill>
                <a:schemeClr val="tx2">
                  <a:lumMod val="50000"/>
                </a:schemeClr>
              </a:solidFill>
              <a:latin typeface="Georgia" panose="02040502050405020303" pitchFamily="18" charset="0"/>
            </a:endParaRPr>
          </a:p>
          <a:p>
            <a:pPr algn="just"/>
            <a:r>
              <a:rPr lang="pt-BR" sz="1200" b="1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</a:rPr>
              <a:t>Entregar informação, controle e qualidade aos processos operacionais da CME e do Centro Cirúrgico.</a:t>
            </a:r>
          </a:p>
          <a:p>
            <a:pPr algn="just"/>
            <a:endParaRPr lang="pt-BR" sz="1200" dirty="0">
              <a:solidFill>
                <a:schemeClr val="tx2">
                  <a:lumMod val="50000"/>
                </a:schemeClr>
              </a:solidFill>
              <a:latin typeface="Georgia" panose="02040502050405020303" pitchFamily="18" charset="0"/>
            </a:endParaRPr>
          </a:p>
          <a:p>
            <a:pPr algn="just"/>
            <a:r>
              <a:rPr lang="pt-BR"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</a:rPr>
              <a:t>Ao longo destes 15 anos de atuação na área hospitalar — tanto no setor privado quanto no público —, fomos reconhecidos como um case de sucesso, pela entrega de </a:t>
            </a:r>
            <a:r>
              <a:rPr lang="pt-BR" sz="1200" b="1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</a:rPr>
              <a:t>valor real</a:t>
            </a:r>
            <a:r>
              <a:rPr lang="pt-BR"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</a:rPr>
              <a:t> e </a:t>
            </a:r>
            <a:r>
              <a:rPr lang="pt-BR" sz="1200" b="1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</a:rPr>
              <a:t>melhorias significativas</a:t>
            </a:r>
            <a:r>
              <a:rPr lang="pt-BR"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</a:rPr>
              <a:t> nos processos em que atuamos junto aos nossos clientes.</a:t>
            </a:r>
          </a:p>
          <a:p>
            <a:pPr algn="just"/>
            <a:endParaRPr lang="pt-BR" sz="1200" dirty="0">
              <a:solidFill>
                <a:schemeClr val="tx2">
                  <a:lumMod val="50000"/>
                </a:schemeClr>
              </a:solidFill>
              <a:latin typeface="Georgia" panose="02040502050405020303" pitchFamily="18" charset="0"/>
            </a:endParaRPr>
          </a:p>
          <a:p>
            <a:pPr algn="just"/>
            <a:r>
              <a:rPr lang="pt-BR"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</a:rPr>
              <a:t>Controles efetivos, redução de custos, padronização e aprimoramento contínuo dos processos.</a:t>
            </a:r>
          </a:p>
          <a:p>
            <a:pPr algn="just"/>
            <a:endParaRPr lang="pt-BR" sz="1200" dirty="0">
              <a:solidFill>
                <a:schemeClr val="tx2">
                  <a:lumMod val="50000"/>
                </a:schemeClr>
              </a:solidFill>
              <a:latin typeface="Georgia" panose="02040502050405020303" pitchFamily="18" charset="0"/>
            </a:endParaRPr>
          </a:p>
          <a:p>
            <a:pPr algn="just"/>
            <a:r>
              <a:rPr lang="pt-BR"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</a:rPr>
              <a:t>Acreditamos que a </a:t>
            </a:r>
            <a:r>
              <a:rPr lang="pt-BR" sz="1200" b="1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</a:rPr>
              <a:t>melhoria é um processo contínuo</a:t>
            </a:r>
            <a:r>
              <a:rPr lang="pt-BR"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</a:rPr>
              <a:t>, sustentado por </a:t>
            </a:r>
            <a:r>
              <a:rPr lang="pt-BR" sz="1200" b="1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</a:rPr>
              <a:t>pilares sólidos</a:t>
            </a:r>
            <a:r>
              <a:rPr lang="pt-BR"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</a:rPr>
              <a:t> e </a:t>
            </a:r>
            <a:r>
              <a:rPr lang="pt-BR" sz="1200" b="1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</a:rPr>
              <a:t>desenvolvido de forma inteligente</a:t>
            </a:r>
            <a:r>
              <a:rPr lang="pt-BR"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</a:rPr>
              <a:t>.</a:t>
            </a: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71853" y="5851908"/>
            <a:ext cx="3722622" cy="1390002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10" dirty="0"/>
              <a:t>CMEtK</a:t>
            </a:r>
            <a:r>
              <a:rPr spc="-35" dirty="0"/>
              <a:t> </a:t>
            </a:r>
            <a:r>
              <a:rPr spc="-10" dirty="0"/>
              <a:t>Soluções</a:t>
            </a:r>
            <a:r>
              <a:rPr spc="-25" dirty="0"/>
              <a:t> </a:t>
            </a:r>
            <a:r>
              <a:rPr spc="-10" dirty="0"/>
              <a:t>Hospitalares</a:t>
            </a:r>
            <a:r>
              <a:rPr spc="-5" dirty="0"/>
              <a:t> </a:t>
            </a:r>
            <a:r>
              <a:rPr spc="-10" dirty="0"/>
              <a:t>Ltda</a:t>
            </a:r>
            <a:r>
              <a:rPr spc="-20" dirty="0"/>
              <a:t> </a:t>
            </a:r>
            <a:r>
              <a:rPr spc="-10" dirty="0"/>
              <a:t>-</a:t>
            </a:r>
            <a:r>
              <a:rPr spc="-30" dirty="0"/>
              <a:t> </a:t>
            </a:r>
            <a:r>
              <a:rPr spc="-10" dirty="0"/>
              <a:t>Confidencial</a:t>
            </a:r>
          </a:p>
        </p:txBody>
      </p:sp>
      <p:pic>
        <p:nvPicPr>
          <p:cNvPr id="2" name="Imagem 1" descr="Logotipo&#10;&#10;O conteúdo gerado por IA pode estar incorreto.">
            <a:extLst>
              <a:ext uri="{FF2B5EF4-FFF2-40B4-BE49-F238E27FC236}">
                <a16:creationId xmlns:a16="http://schemas.microsoft.com/office/drawing/2014/main" id="{C0A4ADAE-9740-3DFD-7EA9-6A67B81ED19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8100"/>
            <a:ext cx="2117186" cy="92670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6858000" cy="832485"/>
            <a:chOff x="0" y="0"/>
            <a:chExt cx="6858000" cy="832485"/>
          </a:xfrm>
        </p:grpSpPr>
        <p:sp>
          <p:nvSpPr>
            <p:cNvPr id="3" name="object 3"/>
            <p:cNvSpPr/>
            <p:nvPr/>
          </p:nvSpPr>
          <p:spPr>
            <a:xfrm>
              <a:off x="6784326" y="0"/>
              <a:ext cx="20320" cy="825500"/>
            </a:xfrm>
            <a:custGeom>
              <a:avLst/>
              <a:gdLst/>
              <a:ahLst/>
              <a:cxnLst/>
              <a:rect l="l" t="t" r="r" b="b"/>
              <a:pathLst>
                <a:path w="20320" h="825500">
                  <a:moveTo>
                    <a:pt x="20320" y="0"/>
                  </a:moveTo>
                  <a:lnTo>
                    <a:pt x="0" y="0"/>
                  </a:lnTo>
                  <a:lnTo>
                    <a:pt x="0" y="825068"/>
                  </a:lnTo>
                  <a:lnTo>
                    <a:pt x="20320" y="825068"/>
                  </a:lnTo>
                  <a:lnTo>
                    <a:pt x="20320" y="0"/>
                  </a:lnTo>
                  <a:close/>
                </a:path>
              </a:pathLst>
            </a:custGeom>
            <a:solidFill>
              <a:srgbClr val="FFFFFF">
                <a:alpha val="650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687172" y="203"/>
              <a:ext cx="40640" cy="779780"/>
            </a:xfrm>
            <a:custGeom>
              <a:avLst/>
              <a:gdLst/>
              <a:ahLst/>
              <a:cxnLst/>
              <a:rect l="l" t="t" r="r" b="b"/>
              <a:pathLst>
                <a:path w="40640" h="779780">
                  <a:moveTo>
                    <a:pt x="40640" y="0"/>
                  </a:moveTo>
                  <a:lnTo>
                    <a:pt x="0" y="0"/>
                  </a:lnTo>
                  <a:lnTo>
                    <a:pt x="0" y="779183"/>
                  </a:lnTo>
                  <a:lnTo>
                    <a:pt x="40640" y="779183"/>
                  </a:lnTo>
                  <a:lnTo>
                    <a:pt x="40640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14258" y="97006"/>
            <a:ext cx="2296795" cy="386003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700" marR="5080">
              <a:lnSpc>
                <a:spcPts val="1360"/>
              </a:lnSpc>
              <a:spcBef>
                <a:spcPts val="210"/>
              </a:spcBef>
            </a:pPr>
            <a:r>
              <a:rPr sz="1200" b="1" spc="-10" dirty="0">
                <a:solidFill>
                  <a:srgbClr val="2B475E"/>
                </a:solidFill>
                <a:latin typeface="Trebuchet MS"/>
                <a:cs typeface="Trebuchet MS"/>
              </a:rPr>
              <a:t>Apresentação</a:t>
            </a:r>
            <a:r>
              <a:rPr sz="1200" b="1" spc="-5" dirty="0">
                <a:solidFill>
                  <a:srgbClr val="2B475E"/>
                </a:solidFill>
                <a:latin typeface="Trebuchet MS"/>
                <a:cs typeface="Trebuchet MS"/>
              </a:rPr>
              <a:t> </a:t>
            </a:r>
            <a:r>
              <a:rPr sz="1200" b="1" spc="-10" dirty="0" err="1">
                <a:solidFill>
                  <a:srgbClr val="2B475E"/>
                </a:solidFill>
                <a:latin typeface="Trebuchet MS"/>
                <a:cs typeface="Trebuchet MS"/>
              </a:rPr>
              <a:t>Institucional</a:t>
            </a:r>
            <a:r>
              <a:rPr sz="1200" b="1" spc="5" dirty="0">
                <a:solidFill>
                  <a:srgbClr val="2B475E"/>
                </a:solidFill>
                <a:latin typeface="Trebuchet MS"/>
                <a:cs typeface="Trebuchet MS"/>
              </a:rPr>
              <a:t> </a:t>
            </a:r>
            <a:r>
              <a:rPr sz="1200" b="1" spc="-20" dirty="0">
                <a:solidFill>
                  <a:srgbClr val="2B475E"/>
                </a:solidFill>
                <a:latin typeface="Trebuchet MS"/>
                <a:cs typeface="Trebuchet MS"/>
              </a:rPr>
              <a:t>202</a:t>
            </a:r>
            <a:r>
              <a:rPr lang="pt-BR" sz="1200" b="1" spc="-20" dirty="0">
                <a:solidFill>
                  <a:srgbClr val="2B475E"/>
                </a:solidFill>
                <a:latin typeface="Trebuchet MS"/>
                <a:cs typeface="Trebuchet MS"/>
              </a:rPr>
              <a:t>5</a:t>
            </a:r>
            <a:r>
              <a:rPr sz="1200" b="1" spc="-20" dirty="0">
                <a:solidFill>
                  <a:srgbClr val="2B475E"/>
                </a:solidFill>
                <a:latin typeface="Trebuchet MS"/>
                <a:cs typeface="Trebuchet MS"/>
              </a:rPr>
              <a:t> </a:t>
            </a:r>
            <a:r>
              <a:rPr sz="1200" b="1" dirty="0">
                <a:solidFill>
                  <a:srgbClr val="2B475E"/>
                </a:solidFill>
                <a:latin typeface="Trebuchet MS"/>
                <a:cs typeface="Trebuchet MS"/>
              </a:rPr>
              <a:t>CMEtK</a:t>
            </a:r>
            <a:r>
              <a:rPr sz="1200" b="1" spc="-60" dirty="0">
                <a:solidFill>
                  <a:srgbClr val="2B475E"/>
                </a:solidFill>
                <a:latin typeface="Trebuchet MS"/>
                <a:cs typeface="Trebuchet MS"/>
              </a:rPr>
              <a:t> </a:t>
            </a:r>
            <a:r>
              <a:rPr sz="1200" b="1" dirty="0">
                <a:solidFill>
                  <a:srgbClr val="2B475E"/>
                </a:solidFill>
                <a:latin typeface="Trebuchet MS"/>
                <a:cs typeface="Trebuchet MS"/>
              </a:rPr>
              <a:t>Soluções</a:t>
            </a:r>
            <a:r>
              <a:rPr sz="1200" b="1" spc="-50" dirty="0">
                <a:solidFill>
                  <a:srgbClr val="2B475E"/>
                </a:solidFill>
                <a:latin typeface="Trebuchet MS"/>
                <a:cs typeface="Trebuchet MS"/>
              </a:rPr>
              <a:t> </a:t>
            </a:r>
            <a:r>
              <a:rPr sz="1200" b="1" spc="-10" dirty="0">
                <a:solidFill>
                  <a:srgbClr val="2B475E"/>
                </a:solidFill>
                <a:latin typeface="Trebuchet MS"/>
                <a:cs typeface="Trebuchet MS"/>
              </a:rPr>
              <a:t>Hospitalares</a:t>
            </a:r>
            <a:endParaRPr sz="1200" dirty="0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4397568"/>
            <a:ext cx="1921955" cy="129860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12465" y="3980036"/>
            <a:ext cx="2450146" cy="136422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73637" y="1372136"/>
            <a:ext cx="2764790" cy="32419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dirty="0">
                <a:solidFill>
                  <a:srgbClr val="424453"/>
                </a:solidFill>
                <a:latin typeface="Georgia"/>
              </a:rPr>
              <a:t>Nossas Soluções</a:t>
            </a:r>
          </a:p>
          <a:p>
            <a:pPr>
              <a:lnSpc>
                <a:spcPct val="100000"/>
              </a:lnSpc>
              <a:spcBef>
                <a:spcPts val="1110"/>
              </a:spcBef>
            </a:pPr>
            <a:endParaRPr sz="1800" dirty="0">
              <a:latin typeface="Georgia"/>
              <a:cs typeface="Georgia"/>
            </a:endParaRPr>
          </a:p>
          <a:p>
            <a:pPr marL="12700">
              <a:spcBef>
                <a:spcPts val="100"/>
              </a:spcBef>
            </a:pPr>
            <a:r>
              <a:rPr lang="pt-BR" sz="1600" b="1" dirty="0">
                <a:solidFill>
                  <a:schemeClr val="tx2">
                    <a:lumMod val="50000"/>
                  </a:schemeClr>
                </a:solidFill>
                <a:latin typeface="Georgia"/>
              </a:rPr>
              <a:t>Venda</a:t>
            </a:r>
            <a:r>
              <a:rPr lang="pt-BR" sz="1400" b="1" dirty="0">
                <a:solidFill>
                  <a:schemeClr val="tx2">
                    <a:lumMod val="50000"/>
                  </a:schemeClr>
                </a:solidFill>
                <a:latin typeface="Georgia"/>
              </a:rPr>
              <a:t> </a:t>
            </a:r>
            <a:r>
              <a:rPr lang="pt-BR" sz="1400" dirty="0">
                <a:solidFill>
                  <a:schemeClr val="tx2">
                    <a:lumMod val="50000"/>
                  </a:schemeClr>
                </a:solidFill>
                <a:latin typeface="Georgia"/>
              </a:rPr>
              <a:t>de Materiais Cirúrgicos de Alta Qualidade</a:t>
            </a:r>
          </a:p>
          <a:p>
            <a:endParaRPr lang="pt-BR" sz="1000" b="1" dirty="0">
              <a:solidFill>
                <a:schemeClr val="tx2">
                  <a:lumMod val="50000"/>
                </a:scheme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pt-BR"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</a:rPr>
              <a:t>Somos representantes oficiais da marca americana </a:t>
            </a:r>
            <a:r>
              <a:rPr lang="pt-BR" sz="1200" dirty="0" err="1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</a:rPr>
              <a:t>Fentex</a:t>
            </a:r>
            <a:r>
              <a:rPr lang="pt-BR"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</a:rPr>
              <a:t>, reconhecida por sua excelência e confiabilidade.</a:t>
            </a:r>
            <a:br>
              <a:rPr lang="pt-BR"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</a:rPr>
            </a:br>
            <a:r>
              <a:rPr lang="pt-BR"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</a:rPr>
              <a:t>Sua qualidade é comprovada e homologada por hospitais de referência no Brasil.</a:t>
            </a:r>
          </a:p>
          <a:p>
            <a:pPr marL="99060">
              <a:lnSpc>
                <a:spcPct val="100000"/>
              </a:lnSpc>
              <a:spcBef>
                <a:spcPts val="700"/>
              </a:spcBef>
            </a:pPr>
            <a:endParaRPr sz="1000" dirty="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5565" y="5948927"/>
            <a:ext cx="3576044" cy="356508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1800" b="1" dirty="0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S</a:t>
            </a:r>
            <a:r>
              <a:rPr lang="pt-BR" b="1" dirty="0" err="1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istema</a:t>
            </a:r>
            <a:r>
              <a:rPr lang="pt-BR" b="1" dirty="0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 de Rastreabilidade</a:t>
            </a:r>
            <a:endParaRPr sz="1800" dirty="0">
              <a:solidFill>
                <a:schemeClr val="tx2">
                  <a:lumMod val="50000"/>
                </a:schemeClr>
              </a:solidFill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011979" y="1600200"/>
            <a:ext cx="2268856" cy="755335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610"/>
              </a:spcBef>
            </a:pPr>
            <a:r>
              <a:rPr lang="pt-BR" sz="1600" b="1" dirty="0">
                <a:solidFill>
                  <a:schemeClr val="tx2">
                    <a:lumMod val="50000"/>
                  </a:schemeClr>
                </a:solidFill>
              </a:rPr>
              <a:t>Locação </a:t>
            </a:r>
            <a:r>
              <a:rPr lang="pt-BR" sz="14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</a:rPr>
              <a:t>de Containers e Instrumentais Cirúrgicos com Excelência Garantida</a:t>
            </a:r>
            <a:endParaRPr sz="1400" dirty="0">
              <a:solidFill>
                <a:schemeClr val="tx2">
                  <a:lumMod val="50000"/>
                </a:schemeClr>
              </a:solidFill>
              <a:latin typeface="Georgia" panose="02040502050405020303" pitchFamily="18" charset="0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01346" y="2435525"/>
            <a:ext cx="2672384" cy="1364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lang="pt-BR"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</a:rPr>
              <a:t>Oferecemos disponibilidade, precisão e qualidade na composição de caixas e kits cirúrgicos, com um portfólio diversificado de materiais para atender às diferentes especialidades médicas.</a:t>
            </a:r>
            <a:endParaRPr sz="1200" dirty="0">
              <a:solidFill>
                <a:schemeClr val="tx2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87767" y="5948927"/>
            <a:ext cx="2066811" cy="971198"/>
          </a:xfrm>
          <a:prstGeom prst="rect">
            <a:avLst/>
          </a:prstGeom>
        </p:spPr>
      </p:pic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xfrm>
            <a:off x="2080260" y="8905622"/>
            <a:ext cx="2764790" cy="155812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10" dirty="0">
                <a:solidFill>
                  <a:schemeClr val="tx2">
                    <a:lumMod val="50000"/>
                  </a:schemeClr>
                </a:solidFill>
              </a:rPr>
              <a:t>CMEtK</a:t>
            </a:r>
            <a:r>
              <a:rPr spc="-35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spc="-10" dirty="0">
                <a:solidFill>
                  <a:schemeClr val="tx2">
                    <a:lumMod val="50000"/>
                  </a:schemeClr>
                </a:solidFill>
              </a:rPr>
              <a:t>Soluções</a:t>
            </a:r>
            <a:r>
              <a:rPr spc="-25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spc="-10" dirty="0">
                <a:solidFill>
                  <a:schemeClr val="tx2">
                    <a:lumMod val="50000"/>
                  </a:schemeClr>
                </a:solidFill>
              </a:rPr>
              <a:t>Hospitalares</a:t>
            </a:r>
            <a:r>
              <a:rPr spc="-5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spc="-10" dirty="0">
                <a:solidFill>
                  <a:schemeClr val="tx2">
                    <a:lumMod val="50000"/>
                  </a:schemeClr>
                </a:solidFill>
              </a:rPr>
              <a:t>Ltda</a:t>
            </a:r>
            <a:r>
              <a:rPr spc="-2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spc="-10" dirty="0">
                <a:solidFill>
                  <a:schemeClr val="tx2">
                    <a:lumMod val="50000"/>
                  </a:schemeClr>
                </a:solidFill>
              </a:rPr>
              <a:t>-</a:t>
            </a:r>
            <a:r>
              <a:rPr spc="-3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spc="-10" dirty="0">
                <a:solidFill>
                  <a:schemeClr val="tx2">
                    <a:lumMod val="50000"/>
                  </a:schemeClr>
                </a:solidFill>
              </a:rPr>
              <a:t>Confidencial</a:t>
            </a:r>
          </a:p>
        </p:txBody>
      </p:sp>
      <p:pic>
        <p:nvPicPr>
          <p:cNvPr id="9" name="Imagem 8" descr="Logotipo&#10;&#10;O conteúdo gerado por IA pode estar incorreto.">
            <a:extLst>
              <a:ext uri="{FF2B5EF4-FFF2-40B4-BE49-F238E27FC236}">
                <a16:creationId xmlns:a16="http://schemas.microsoft.com/office/drawing/2014/main" id="{E45EBC48-FAD7-1E57-D014-357183B72F8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6330" y="38100"/>
            <a:ext cx="1762856" cy="771613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3B4DBC14-0B19-AA02-C980-AB29386F64F8}"/>
              </a:ext>
            </a:extLst>
          </p:cNvPr>
          <p:cNvSpPr txBox="1"/>
          <p:nvPr/>
        </p:nvSpPr>
        <p:spPr>
          <a:xfrm>
            <a:off x="239829" y="6434526"/>
            <a:ext cx="4126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</a:rPr>
              <a:t>Garantimos rastreabilidade total em todas as etapas, desde a limpeza até a utilização no ponto de atendimento.</a:t>
            </a:r>
          </a:p>
        </p:txBody>
      </p:sp>
      <p:sp>
        <p:nvSpPr>
          <p:cNvPr id="17" name="object 10">
            <a:extLst>
              <a:ext uri="{FF2B5EF4-FFF2-40B4-BE49-F238E27FC236}">
                <a16:creationId xmlns:a16="http://schemas.microsoft.com/office/drawing/2014/main" id="{682EE142-49D4-43B4-970C-D9D2F61906BF}"/>
              </a:ext>
            </a:extLst>
          </p:cNvPr>
          <p:cNvSpPr txBox="1"/>
          <p:nvPr/>
        </p:nvSpPr>
        <p:spPr>
          <a:xfrm>
            <a:off x="421758" y="7259647"/>
            <a:ext cx="3576044" cy="356508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lang="pt-BR" b="1" dirty="0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Consultoria Técnica</a:t>
            </a:r>
            <a:endParaRPr sz="1800" dirty="0">
              <a:solidFill>
                <a:schemeClr val="tx2">
                  <a:lumMod val="50000"/>
                </a:schemeClr>
              </a:solidFill>
              <a:latin typeface="Georgia"/>
              <a:cs typeface="Georgia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E0B80598-8833-56BF-EA56-76C0FC07B5B8}"/>
              </a:ext>
            </a:extLst>
          </p:cNvPr>
          <p:cNvSpPr txBox="1"/>
          <p:nvPr/>
        </p:nvSpPr>
        <p:spPr>
          <a:xfrm>
            <a:off x="369742" y="7711169"/>
            <a:ext cx="60629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</a:rPr>
              <a:t>Contamos com um time de especialistas para a avaliação quantitativa e qualitativa do seu arsenal, atuando junto às equipes cirúrgicas na identificação das necessidades específicas. Ademais, oferecemos treinamento completo e acompanhamento no pós-venda.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97653" y="188940"/>
            <a:ext cx="22764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spc="-20" dirty="0" err="1">
                <a:solidFill>
                  <a:srgbClr val="2B475E"/>
                </a:solidFill>
                <a:latin typeface="Trebuchet MS"/>
                <a:cs typeface="Trebuchet MS"/>
              </a:rPr>
              <a:t>Apresentação</a:t>
            </a:r>
            <a:r>
              <a:rPr sz="1200" b="1" spc="5" dirty="0">
                <a:solidFill>
                  <a:srgbClr val="2B475E"/>
                </a:solidFill>
                <a:latin typeface="Trebuchet MS"/>
                <a:cs typeface="Trebuchet MS"/>
              </a:rPr>
              <a:t> </a:t>
            </a:r>
            <a:r>
              <a:rPr sz="1200" b="1" spc="-20" dirty="0" err="1">
                <a:solidFill>
                  <a:srgbClr val="2B475E"/>
                </a:solidFill>
                <a:latin typeface="Trebuchet MS"/>
                <a:cs typeface="Trebuchet MS"/>
              </a:rPr>
              <a:t>Institu</a:t>
            </a:r>
            <a:r>
              <a:rPr lang="pt-BR" sz="1200" b="1" spc="-20" dirty="0">
                <a:solidFill>
                  <a:srgbClr val="2B475E"/>
                </a:solidFill>
                <a:latin typeface="Trebuchet MS"/>
                <a:cs typeface="Trebuchet MS"/>
              </a:rPr>
              <a:t>c</a:t>
            </a:r>
            <a:r>
              <a:rPr sz="1200" b="1" spc="-20" dirty="0" err="1">
                <a:solidFill>
                  <a:srgbClr val="2B475E"/>
                </a:solidFill>
                <a:latin typeface="Trebuchet MS"/>
                <a:cs typeface="Trebuchet MS"/>
              </a:rPr>
              <a:t>ional</a:t>
            </a:r>
            <a:r>
              <a:rPr sz="1200" b="1" spc="35" dirty="0">
                <a:solidFill>
                  <a:srgbClr val="2B475E"/>
                </a:solidFill>
                <a:latin typeface="Trebuchet MS"/>
                <a:cs typeface="Trebuchet MS"/>
              </a:rPr>
              <a:t> </a:t>
            </a:r>
            <a:r>
              <a:rPr sz="1200" b="1" spc="-20" dirty="0">
                <a:solidFill>
                  <a:srgbClr val="2B475E"/>
                </a:solidFill>
                <a:latin typeface="Trebuchet MS"/>
                <a:cs typeface="Trebuchet MS"/>
              </a:rPr>
              <a:t>202</a:t>
            </a:r>
            <a:r>
              <a:rPr lang="pt-BR" sz="1200" b="1" spc="-20" dirty="0">
                <a:solidFill>
                  <a:srgbClr val="2B475E"/>
                </a:solidFill>
                <a:latin typeface="Trebuchet MS"/>
                <a:cs typeface="Trebuchet MS"/>
              </a:rPr>
              <a:t>5</a:t>
            </a:r>
            <a:r>
              <a:rPr sz="1200" b="1" spc="-20" dirty="0">
                <a:solidFill>
                  <a:srgbClr val="2B475E"/>
                </a:solidFill>
                <a:latin typeface="Trebuchet MS"/>
                <a:cs typeface="Trebuchet MS"/>
              </a:rPr>
              <a:t> </a:t>
            </a:r>
            <a:r>
              <a:rPr sz="1200" b="1" dirty="0">
                <a:solidFill>
                  <a:srgbClr val="2B475E"/>
                </a:solidFill>
                <a:latin typeface="Trebuchet MS"/>
                <a:cs typeface="Trebuchet MS"/>
              </a:rPr>
              <a:t>CMEtK</a:t>
            </a:r>
            <a:r>
              <a:rPr sz="1200" b="1" spc="-20" dirty="0">
                <a:solidFill>
                  <a:srgbClr val="2B475E"/>
                </a:solidFill>
                <a:latin typeface="Trebuchet MS"/>
                <a:cs typeface="Trebuchet MS"/>
              </a:rPr>
              <a:t> </a:t>
            </a:r>
            <a:r>
              <a:rPr sz="1200" b="1" dirty="0">
                <a:solidFill>
                  <a:srgbClr val="2B475E"/>
                </a:solidFill>
                <a:latin typeface="Trebuchet MS"/>
                <a:cs typeface="Trebuchet MS"/>
              </a:rPr>
              <a:t>Soluções</a:t>
            </a:r>
            <a:r>
              <a:rPr sz="1200" b="1" spc="-10" dirty="0">
                <a:solidFill>
                  <a:srgbClr val="2B475E"/>
                </a:solidFill>
                <a:latin typeface="Trebuchet MS"/>
                <a:cs typeface="Trebuchet MS"/>
              </a:rPr>
              <a:t> Hospitalares</a:t>
            </a:r>
            <a:endParaRPr sz="12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0652" y="1321394"/>
            <a:ext cx="29330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24453"/>
                </a:solidFill>
                <a:latin typeface="Georgia"/>
                <a:cs typeface="Georgia"/>
              </a:rPr>
              <a:t>Locação</a:t>
            </a:r>
            <a:r>
              <a:rPr sz="1800" spc="-65" dirty="0">
                <a:solidFill>
                  <a:srgbClr val="424453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424453"/>
                </a:solidFill>
                <a:latin typeface="Georgia"/>
                <a:cs typeface="Georgia"/>
              </a:rPr>
              <a:t>de</a:t>
            </a:r>
            <a:r>
              <a:rPr sz="1800" spc="-60" dirty="0">
                <a:solidFill>
                  <a:srgbClr val="424453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424453"/>
                </a:solidFill>
                <a:latin typeface="Georgia"/>
                <a:cs typeface="Georgia"/>
              </a:rPr>
              <a:t>Caixas</a:t>
            </a:r>
            <a:r>
              <a:rPr sz="1800" spc="-40" dirty="0">
                <a:solidFill>
                  <a:srgbClr val="424453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424453"/>
                </a:solidFill>
                <a:latin typeface="Georgia"/>
                <a:cs typeface="Georgia"/>
              </a:rPr>
              <a:t>Cirúrgicas</a:t>
            </a:r>
            <a:endParaRPr sz="1800" dirty="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0190" y="1809395"/>
            <a:ext cx="6098210" cy="17389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2880" marR="5080" algn="just">
              <a:lnSpc>
                <a:spcPct val="150000"/>
              </a:lnSpc>
              <a:spcBef>
                <a:spcPts val="100"/>
              </a:spcBef>
            </a:pPr>
            <a:r>
              <a:rPr sz="1200" dirty="0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A</a:t>
            </a:r>
            <a:r>
              <a:rPr sz="1200" spc="-20" dirty="0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sz="1200" spc="-10" dirty="0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solução</a:t>
            </a:r>
            <a:r>
              <a:rPr sz="1200" spc="-50" dirty="0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sz="1200" dirty="0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em</a:t>
            </a:r>
            <a:r>
              <a:rPr sz="1200" spc="-30" dirty="0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sz="1200" spc="-10" dirty="0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locação</a:t>
            </a:r>
            <a:r>
              <a:rPr sz="1200" spc="-45" dirty="0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sz="1200" dirty="0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de</a:t>
            </a:r>
            <a:r>
              <a:rPr sz="1200" spc="-30" dirty="0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sz="1200" spc="-10" dirty="0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caixas/containers</a:t>
            </a:r>
            <a:r>
              <a:rPr sz="1200" spc="-40" dirty="0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sz="1200" spc="-10" dirty="0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cirúrgicos</a:t>
            </a:r>
            <a:r>
              <a:rPr sz="1200" spc="-40" dirty="0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sz="1200" dirty="0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vem</a:t>
            </a:r>
            <a:r>
              <a:rPr sz="1200" spc="-30" dirty="0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sz="1200" dirty="0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em</a:t>
            </a:r>
            <a:r>
              <a:rPr sz="1200" spc="-30" dirty="0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sz="1200" spc="-10" dirty="0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linha</a:t>
            </a:r>
            <a:r>
              <a:rPr sz="1200" spc="-55" dirty="0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sz="1200" dirty="0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com</a:t>
            </a:r>
            <a:r>
              <a:rPr sz="1200" spc="-50" dirty="0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sz="1200" dirty="0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os</a:t>
            </a:r>
            <a:r>
              <a:rPr sz="1200" spc="5" dirty="0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sz="1200" dirty="0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novos</a:t>
            </a:r>
            <a:r>
              <a:rPr sz="1200" spc="-20" dirty="0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sz="1200" dirty="0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valores</a:t>
            </a:r>
            <a:r>
              <a:rPr sz="1200" spc="5" dirty="0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sz="1200" dirty="0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para</a:t>
            </a:r>
            <a:r>
              <a:rPr sz="1200" spc="-35" dirty="0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sz="1200" dirty="0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com</a:t>
            </a:r>
            <a:r>
              <a:rPr sz="1200" spc="-50" dirty="0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sz="1200" dirty="0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a</a:t>
            </a:r>
            <a:r>
              <a:rPr sz="1200" spc="-15" dirty="0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sz="1200" spc="-10" dirty="0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gestão </a:t>
            </a:r>
            <a:r>
              <a:rPr sz="1200" dirty="0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hospitalar</a:t>
            </a:r>
            <a:r>
              <a:rPr sz="1200" spc="-10" dirty="0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 eficiente, inteligente</a:t>
            </a:r>
            <a:r>
              <a:rPr sz="1200" spc="-15" dirty="0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sz="1200" dirty="0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e</a:t>
            </a:r>
            <a:r>
              <a:rPr sz="1200" spc="-15" dirty="0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sz="1200" dirty="0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com</a:t>
            </a:r>
            <a:r>
              <a:rPr sz="1200" spc="-20" dirty="0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sz="1200" dirty="0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segurança</a:t>
            </a:r>
            <a:r>
              <a:rPr sz="1200" spc="-20" dirty="0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sz="1200" dirty="0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para</a:t>
            </a:r>
            <a:r>
              <a:rPr sz="1200" spc="-25" dirty="0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sz="1200" dirty="0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os</a:t>
            </a:r>
            <a:r>
              <a:rPr sz="1200" spc="-5" dirty="0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sz="1200" dirty="0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pacientes</a:t>
            </a:r>
            <a:r>
              <a:rPr sz="1200" spc="-10" dirty="0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sz="1200" dirty="0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e</a:t>
            </a:r>
            <a:r>
              <a:rPr sz="1200" spc="-15" dirty="0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sz="1200" dirty="0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equipes</a:t>
            </a:r>
            <a:r>
              <a:rPr sz="1200" spc="-10" dirty="0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sz="1200" spc="-10" dirty="0" err="1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médicas</a:t>
            </a:r>
            <a:r>
              <a:rPr sz="1200" spc="-10" dirty="0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.</a:t>
            </a:r>
            <a:endParaRPr lang="pt-BR" sz="1200" spc="-10" dirty="0">
              <a:solidFill>
                <a:schemeClr val="tx2">
                  <a:lumMod val="50000"/>
                </a:schemeClr>
              </a:solidFill>
              <a:latin typeface="Georgia"/>
              <a:cs typeface="Georgia"/>
            </a:endParaRPr>
          </a:p>
          <a:p>
            <a:pPr marL="182880" marR="5080">
              <a:lnSpc>
                <a:spcPct val="150000"/>
              </a:lnSpc>
              <a:spcBef>
                <a:spcPts val="100"/>
              </a:spcBef>
            </a:pPr>
            <a:endParaRPr sz="1200" dirty="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endParaRPr lang="pt-BR" sz="1200" dirty="0">
              <a:solidFill>
                <a:srgbClr val="424453"/>
              </a:solidFill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1400" dirty="0" err="1">
                <a:solidFill>
                  <a:srgbClr val="424453"/>
                </a:solidFill>
                <a:latin typeface="Georgia"/>
                <a:cs typeface="Georgia"/>
              </a:rPr>
              <a:t>Escopo</a:t>
            </a:r>
            <a:r>
              <a:rPr sz="1400" spc="-65" dirty="0">
                <a:solidFill>
                  <a:srgbClr val="424453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424453"/>
                </a:solidFill>
                <a:latin typeface="Georgia"/>
                <a:cs typeface="Georgia"/>
              </a:rPr>
              <a:t>do</a:t>
            </a:r>
            <a:r>
              <a:rPr sz="1400" spc="-45" dirty="0">
                <a:solidFill>
                  <a:srgbClr val="424453"/>
                </a:solidFill>
                <a:latin typeface="Georgia"/>
                <a:cs typeface="Georgia"/>
              </a:rPr>
              <a:t> </a:t>
            </a:r>
            <a:r>
              <a:rPr sz="1400" dirty="0" err="1">
                <a:solidFill>
                  <a:srgbClr val="424453"/>
                </a:solidFill>
                <a:latin typeface="Georgia"/>
                <a:cs typeface="Georgia"/>
              </a:rPr>
              <a:t>Projeto</a:t>
            </a:r>
            <a:endParaRPr sz="1400" dirty="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4340" y="7449532"/>
            <a:ext cx="6056630" cy="8100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lang="pt-BR" sz="1200" dirty="0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Nota: </a:t>
            </a:r>
            <a:r>
              <a:rPr lang="pt-BR" sz="1200" dirty="0">
                <a:solidFill>
                  <a:schemeClr val="tx2">
                    <a:lumMod val="50000"/>
                  </a:schemeClr>
                </a:solidFill>
              </a:rPr>
              <a:t>O serviço/projeto é totalmente personalizado de acordo com as necessidades do cliente, sendo estruturado a partir de reuniões que visam compreender as demandas reais do hospital</a:t>
            </a:r>
            <a:endParaRPr sz="1200" dirty="0">
              <a:solidFill>
                <a:schemeClr val="tx2">
                  <a:lumMod val="50000"/>
                </a:schemeClr>
              </a:solidFill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0190" y="4320527"/>
            <a:ext cx="2021494" cy="6773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lang="pt-BR" sz="1000" dirty="0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Rastreabilidade completa dos ciclos, equipamentos e relatórios gerenciais</a:t>
            </a:r>
            <a:endParaRPr sz="1000" dirty="0">
              <a:solidFill>
                <a:schemeClr val="tx2">
                  <a:lumMod val="50000"/>
                </a:schemeClr>
              </a:solidFill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34379" y="4235168"/>
            <a:ext cx="1882924" cy="13697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sz="1000" dirty="0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Manutenções</a:t>
            </a:r>
            <a:r>
              <a:rPr sz="1000" spc="-15" dirty="0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sz="1000" dirty="0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corretivas</a:t>
            </a:r>
            <a:r>
              <a:rPr sz="1000" spc="-15" dirty="0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sz="1000" dirty="0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e</a:t>
            </a:r>
            <a:r>
              <a:rPr sz="1000" spc="-15" dirty="0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sz="1000" spc="-10" dirty="0" err="1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preventivas</a:t>
            </a:r>
            <a:r>
              <a:rPr sz="1000" spc="-15" dirty="0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pt-BR" sz="1000" spc="-15" dirty="0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com precisão e agilidade, garantindo o pleno funcionamento e disponibilidade dos materiais. Segurança para </a:t>
            </a:r>
            <a:r>
              <a:rPr sz="1000" spc="-50" dirty="0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a</a:t>
            </a:r>
            <a:r>
              <a:rPr sz="1000" spc="500" dirty="0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sz="1000" spc="-10" dirty="0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equipe</a:t>
            </a:r>
            <a:r>
              <a:rPr sz="1000" spc="5" dirty="0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sz="1000" dirty="0" err="1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médica</a:t>
            </a:r>
            <a:r>
              <a:rPr sz="1000" spc="5" dirty="0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pt-BR" sz="1000" spc="5" dirty="0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e pacientes</a:t>
            </a:r>
            <a:r>
              <a:rPr sz="1000" spc="-10" dirty="0">
                <a:solidFill>
                  <a:schemeClr val="tx2"/>
                </a:solidFill>
                <a:latin typeface="Georgia"/>
                <a:cs typeface="Georgia"/>
              </a:rPr>
              <a:t>.</a:t>
            </a:r>
            <a:endParaRPr sz="1000" dirty="0">
              <a:solidFill>
                <a:schemeClr val="tx2"/>
              </a:solidFill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9052" y="5450858"/>
            <a:ext cx="1882924" cy="11389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sz="1000" dirty="0">
                <a:solidFill>
                  <a:schemeClr val="tx2">
                    <a:lumMod val="50000"/>
                  </a:schemeClr>
                </a:solidFill>
                <a:latin typeface="Georgia"/>
              </a:rPr>
              <a:t>Containers </a:t>
            </a:r>
            <a:r>
              <a:rPr lang="pt-BR" sz="1000" dirty="0">
                <a:solidFill>
                  <a:schemeClr val="tx2">
                    <a:lumMod val="50000"/>
                  </a:schemeClr>
                </a:solidFill>
                <a:latin typeface="Georgia"/>
              </a:rPr>
              <a:t>e instrumentais de alta </a:t>
            </a:r>
            <a:r>
              <a:rPr sz="1000" dirty="0" err="1">
                <a:solidFill>
                  <a:schemeClr val="tx2">
                    <a:lumMod val="50000"/>
                  </a:schemeClr>
                </a:solidFill>
                <a:latin typeface="Georgia"/>
              </a:rPr>
              <a:t>qualidade</a:t>
            </a:r>
            <a:r>
              <a:rPr sz="1000" dirty="0">
                <a:solidFill>
                  <a:schemeClr val="tx2">
                    <a:lumMod val="50000"/>
                  </a:schemeClr>
                </a:solidFill>
                <a:latin typeface="Georgia"/>
              </a:rPr>
              <a:t>, </a:t>
            </a:r>
            <a:r>
              <a:rPr sz="1000" dirty="0" err="1">
                <a:solidFill>
                  <a:schemeClr val="tx2">
                    <a:lumMod val="50000"/>
                  </a:schemeClr>
                </a:solidFill>
                <a:latin typeface="Georgia"/>
              </a:rPr>
              <a:t>padronizado</a:t>
            </a:r>
            <a:r>
              <a:rPr lang="pt-BR" sz="1000" dirty="0">
                <a:solidFill>
                  <a:schemeClr val="tx2">
                    <a:lumMod val="50000"/>
                  </a:schemeClr>
                </a:solidFill>
                <a:latin typeface="Georgia"/>
              </a:rPr>
              <a:t>s</a:t>
            </a:r>
            <a:r>
              <a:rPr sz="1000" dirty="0">
                <a:solidFill>
                  <a:schemeClr val="tx2">
                    <a:lumMod val="50000"/>
                  </a:schemeClr>
                </a:solidFill>
                <a:latin typeface="Georgia"/>
              </a:rPr>
              <a:t> e</a:t>
            </a:r>
            <a:r>
              <a:rPr lang="pt-BR" sz="1000" dirty="0">
                <a:solidFill>
                  <a:schemeClr val="tx2">
                    <a:lumMod val="50000"/>
                  </a:schemeClr>
                </a:solidFill>
                <a:latin typeface="Georgia"/>
              </a:rPr>
              <a:t> disponíveis na quantidade e </a:t>
            </a:r>
            <a:r>
              <a:rPr lang="pt-BR" sz="1000" dirty="0" err="1">
                <a:solidFill>
                  <a:schemeClr val="tx2">
                    <a:lumMod val="50000"/>
                  </a:schemeClr>
                </a:solidFill>
                <a:latin typeface="Georgia"/>
              </a:rPr>
              <a:t>especificidaderequerida</a:t>
            </a:r>
            <a:r>
              <a:rPr lang="pt-BR" sz="1000" dirty="0">
                <a:solidFill>
                  <a:schemeClr val="tx2">
                    <a:lumMod val="50000"/>
                  </a:schemeClr>
                </a:solidFill>
                <a:latin typeface="Georgia"/>
              </a:rPr>
              <a:t> pelas equipes médicas.</a:t>
            </a:r>
            <a:endParaRPr sz="1000" dirty="0">
              <a:solidFill>
                <a:schemeClr val="tx2">
                  <a:lumMod val="50000"/>
                </a:schemeClr>
              </a:solidFill>
              <a:latin typeface="Georgia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xfrm>
            <a:off x="2080260" y="8905622"/>
            <a:ext cx="2764790" cy="155812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10" dirty="0">
                <a:solidFill>
                  <a:schemeClr val="tx2">
                    <a:lumMod val="50000"/>
                  </a:schemeClr>
                </a:solidFill>
              </a:rPr>
              <a:t>CMEtK</a:t>
            </a:r>
            <a:r>
              <a:rPr spc="-35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spc="-10" dirty="0">
                <a:solidFill>
                  <a:schemeClr val="tx2">
                    <a:lumMod val="50000"/>
                  </a:schemeClr>
                </a:solidFill>
              </a:rPr>
              <a:t>Soluções</a:t>
            </a:r>
            <a:r>
              <a:rPr spc="-25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spc="-10" dirty="0">
                <a:solidFill>
                  <a:schemeClr val="tx2">
                    <a:lumMod val="50000"/>
                  </a:schemeClr>
                </a:solidFill>
              </a:rPr>
              <a:t>Hospitalares</a:t>
            </a:r>
            <a:r>
              <a:rPr spc="-5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spc="-10" dirty="0">
                <a:solidFill>
                  <a:schemeClr val="tx2">
                    <a:lumMod val="50000"/>
                  </a:schemeClr>
                </a:solidFill>
              </a:rPr>
              <a:t>Ltda</a:t>
            </a:r>
            <a:r>
              <a:rPr spc="-2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spc="-10" dirty="0">
                <a:solidFill>
                  <a:schemeClr val="tx2">
                    <a:lumMod val="50000"/>
                  </a:schemeClr>
                </a:solidFill>
              </a:rPr>
              <a:t>-</a:t>
            </a:r>
            <a:r>
              <a:rPr spc="-3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spc="-10" dirty="0">
                <a:solidFill>
                  <a:schemeClr val="tx2">
                    <a:lumMod val="50000"/>
                  </a:schemeClr>
                </a:solidFill>
              </a:rPr>
              <a:t>Confidencial</a:t>
            </a:r>
          </a:p>
        </p:txBody>
      </p:sp>
      <p:pic>
        <p:nvPicPr>
          <p:cNvPr id="2" name="Imagem 1" descr="Logotipo&#10;&#10;O conteúdo gerado por IA pode estar incorreto.">
            <a:extLst>
              <a:ext uri="{FF2B5EF4-FFF2-40B4-BE49-F238E27FC236}">
                <a16:creationId xmlns:a16="http://schemas.microsoft.com/office/drawing/2014/main" id="{CC3C67DA-900B-D015-2F12-69A45F877DF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5050" y="38100"/>
            <a:ext cx="1844136" cy="807190"/>
          </a:xfrm>
          <a:prstGeom prst="rect">
            <a:avLst/>
          </a:prstGeom>
        </p:spPr>
      </p:pic>
      <p:graphicFrame>
        <p:nvGraphicFramePr>
          <p:cNvPr id="18" name="Diagrama 17">
            <a:extLst>
              <a:ext uri="{FF2B5EF4-FFF2-40B4-BE49-F238E27FC236}">
                <a16:creationId xmlns:a16="http://schemas.microsoft.com/office/drawing/2014/main" id="{CA16BB50-9EA8-95A5-BA92-7F6E2A3F03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80464787"/>
              </p:ext>
            </p:extLst>
          </p:nvPr>
        </p:nvGraphicFramePr>
        <p:xfrm>
          <a:off x="1335891" y="3997785"/>
          <a:ext cx="4150509" cy="26455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0" name="CaixaDeTexto 19">
            <a:extLst>
              <a:ext uri="{FF2B5EF4-FFF2-40B4-BE49-F238E27FC236}">
                <a16:creationId xmlns:a16="http://schemas.microsoft.com/office/drawing/2014/main" id="{25C5C037-1B15-CD07-4974-A7C70C387433}"/>
              </a:ext>
            </a:extLst>
          </p:cNvPr>
          <p:cNvSpPr txBox="1"/>
          <p:nvPr/>
        </p:nvSpPr>
        <p:spPr>
          <a:xfrm>
            <a:off x="4781177" y="5842350"/>
            <a:ext cx="1989328" cy="7568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000" spc="5" dirty="0">
                <a:solidFill>
                  <a:schemeClr val="tx2">
                    <a:lumMod val="50000"/>
                  </a:schemeClr>
                </a:solidFill>
                <a:latin typeface="Georgia"/>
              </a:rPr>
              <a:t>Treinamentos e suporte técnicos constantes, realizado pelo nosso time de especialistas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6858000" cy="832485"/>
            <a:chOff x="0" y="0"/>
            <a:chExt cx="6858000" cy="832485"/>
          </a:xfrm>
        </p:grpSpPr>
        <p:sp>
          <p:nvSpPr>
            <p:cNvPr id="3" name="object 3"/>
            <p:cNvSpPr/>
            <p:nvPr/>
          </p:nvSpPr>
          <p:spPr>
            <a:xfrm>
              <a:off x="6784326" y="0"/>
              <a:ext cx="20320" cy="825500"/>
            </a:xfrm>
            <a:custGeom>
              <a:avLst/>
              <a:gdLst/>
              <a:ahLst/>
              <a:cxnLst/>
              <a:rect l="l" t="t" r="r" b="b"/>
              <a:pathLst>
                <a:path w="20320" h="825500">
                  <a:moveTo>
                    <a:pt x="20320" y="0"/>
                  </a:moveTo>
                  <a:lnTo>
                    <a:pt x="0" y="0"/>
                  </a:lnTo>
                  <a:lnTo>
                    <a:pt x="0" y="825068"/>
                  </a:lnTo>
                  <a:lnTo>
                    <a:pt x="20320" y="825068"/>
                  </a:lnTo>
                  <a:lnTo>
                    <a:pt x="20320" y="0"/>
                  </a:lnTo>
                  <a:close/>
                </a:path>
              </a:pathLst>
            </a:custGeom>
            <a:solidFill>
              <a:srgbClr val="FFFFFF">
                <a:alpha val="650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687172" y="203"/>
              <a:ext cx="40640" cy="779780"/>
            </a:xfrm>
            <a:custGeom>
              <a:avLst/>
              <a:gdLst/>
              <a:ahLst/>
              <a:cxnLst/>
              <a:rect l="l" t="t" r="r" b="b"/>
              <a:pathLst>
                <a:path w="40640" h="779780">
                  <a:moveTo>
                    <a:pt x="40640" y="0"/>
                  </a:moveTo>
                  <a:lnTo>
                    <a:pt x="0" y="0"/>
                  </a:lnTo>
                  <a:lnTo>
                    <a:pt x="0" y="779183"/>
                  </a:lnTo>
                  <a:lnTo>
                    <a:pt x="40640" y="779183"/>
                  </a:lnTo>
                  <a:lnTo>
                    <a:pt x="40640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68814" y="204817"/>
            <a:ext cx="2296795" cy="370551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700" marR="5080">
              <a:lnSpc>
                <a:spcPts val="1360"/>
              </a:lnSpc>
              <a:spcBef>
                <a:spcPts val="210"/>
              </a:spcBef>
            </a:pPr>
            <a:r>
              <a:rPr sz="1000" b="1" spc="-10" dirty="0">
                <a:solidFill>
                  <a:srgbClr val="2B475E"/>
                </a:solidFill>
                <a:latin typeface="Trebuchet MS"/>
                <a:cs typeface="Trebuchet MS"/>
              </a:rPr>
              <a:t>Apresentação</a:t>
            </a:r>
            <a:r>
              <a:rPr sz="1000" b="1" spc="-5" dirty="0">
                <a:solidFill>
                  <a:srgbClr val="2B475E"/>
                </a:solidFill>
                <a:latin typeface="Trebuchet MS"/>
                <a:cs typeface="Trebuchet MS"/>
              </a:rPr>
              <a:t> </a:t>
            </a:r>
            <a:r>
              <a:rPr sz="1000" b="1" spc="-10" dirty="0" err="1">
                <a:solidFill>
                  <a:srgbClr val="2B475E"/>
                </a:solidFill>
                <a:latin typeface="Trebuchet MS"/>
                <a:cs typeface="Trebuchet MS"/>
              </a:rPr>
              <a:t>Institucional</a:t>
            </a:r>
            <a:r>
              <a:rPr sz="1000" b="1" spc="5" dirty="0">
                <a:solidFill>
                  <a:srgbClr val="2B475E"/>
                </a:solidFill>
                <a:latin typeface="Trebuchet MS"/>
                <a:cs typeface="Trebuchet MS"/>
              </a:rPr>
              <a:t> </a:t>
            </a:r>
            <a:r>
              <a:rPr sz="1000" b="1" spc="-20" dirty="0">
                <a:solidFill>
                  <a:srgbClr val="2B475E"/>
                </a:solidFill>
                <a:latin typeface="Trebuchet MS"/>
                <a:cs typeface="Trebuchet MS"/>
              </a:rPr>
              <a:t>202</a:t>
            </a:r>
            <a:r>
              <a:rPr lang="pt-BR" sz="1000" b="1" spc="-20" dirty="0">
                <a:solidFill>
                  <a:srgbClr val="2B475E"/>
                </a:solidFill>
                <a:latin typeface="Trebuchet MS"/>
                <a:cs typeface="Trebuchet MS"/>
              </a:rPr>
              <a:t>5</a:t>
            </a:r>
            <a:r>
              <a:rPr sz="1000" b="1" spc="-20" dirty="0">
                <a:solidFill>
                  <a:srgbClr val="2B475E"/>
                </a:solidFill>
                <a:latin typeface="Trebuchet MS"/>
                <a:cs typeface="Trebuchet MS"/>
              </a:rPr>
              <a:t> </a:t>
            </a:r>
            <a:r>
              <a:rPr sz="1000" b="1" dirty="0">
                <a:solidFill>
                  <a:srgbClr val="2B475E"/>
                </a:solidFill>
                <a:latin typeface="Trebuchet MS"/>
                <a:cs typeface="Trebuchet MS"/>
              </a:rPr>
              <a:t>CMEtK</a:t>
            </a:r>
            <a:r>
              <a:rPr sz="1000" b="1" spc="-60" dirty="0">
                <a:solidFill>
                  <a:srgbClr val="2B475E"/>
                </a:solidFill>
                <a:latin typeface="Trebuchet MS"/>
                <a:cs typeface="Trebuchet MS"/>
              </a:rPr>
              <a:t> </a:t>
            </a:r>
            <a:r>
              <a:rPr sz="1000" b="1" dirty="0">
                <a:solidFill>
                  <a:srgbClr val="2B475E"/>
                </a:solidFill>
                <a:latin typeface="Trebuchet MS"/>
                <a:cs typeface="Trebuchet MS"/>
              </a:rPr>
              <a:t>Soluções</a:t>
            </a:r>
            <a:r>
              <a:rPr sz="1000" b="1" spc="-50" dirty="0">
                <a:solidFill>
                  <a:srgbClr val="2B475E"/>
                </a:solidFill>
                <a:latin typeface="Trebuchet MS"/>
                <a:cs typeface="Trebuchet MS"/>
              </a:rPr>
              <a:t> </a:t>
            </a:r>
            <a:r>
              <a:rPr sz="1000" b="1" spc="-10" dirty="0">
                <a:solidFill>
                  <a:srgbClr val="2B475E"/>
                </a:solidFill>
                <a:latin typeface="Trebuchet MS"/>
                <a:cs typeface="Trebuchet MS"/>
              </a:rPr>
              <a:t>Hospitalares</a:t>
            </a:r>
            <a:endParaRPr sz="1000" dirty="0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83842" y="7343784"/>
            <a:ext cx="3339943" cy="142428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02620" y="973666"/>
            <a:ext cx="2933065" cy="830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24453"/>
                </a:solidFill>
                <a:latin typeface="Georgia"/>
                <a:cs typeface="Georgia"/>
              </a:rPr>
              <a:t>Locação</a:t>
            </a:r>
            <a:r>
              <a:rPr sz="1800" spc="-65" dirty="0">
                <a:solidFill>
                  <a:srgbClr val="424453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424453"/>
                </a:solidFill>
                <a:latin typeface="Georgia"/>
                <a:cs typeface="Georgia"/>
              </a:rPr>
              <a:t>de</a:t>
            </a:r>
            <a:r>
              <a:rPr sz="1800" spc="-60" dirty="0">
                <a:solidFill>
                  <a:srgbClr val="424453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424453"/>
                </a:solidFill>
                <a:latin typeface="Georgia"/>
                <a:cs typeface="Georgia"/>
              </a:rPr>
              <a:t>Caixas</a:t>
            </a:r>
            <a:r>
              <a:rPr sz="1800" spc="-40" dirty="0">
                <a:solidFill>
                  <a:srgbClr val="424453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424453"/>
                </a:solidFill>
                <a:latin typeface="Georgia"/>
                <a:cs typeface="Georgia"/>
              </a:rPr>
              <a:t>Cirúrgicas</a:t>
            </a:r>
            <a:endParaRPr sz="18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endParaRPr sz="1800" dirty="0">
              <a:latin typeface="Georgia"/>
              <a:cs typeface="Georgia"/>
            </a:endParaRPr>
          </a:p>
          <a:p>
            <a:pPr marL="80645">
              <a:lnSpc>
                <a:spcPct val="100000"/>
              </a:lnSpc>
              <a:spcBef>
                <a:spcPts val="5"/>
              </a:spcBef>
            </a:pPr>
            <a:r>
              <a:rPr sz="1400" i="1" spc="-10" dirty="0">
                <a:solidFill>
                  <a:srgbClr val="424453"/>
                </a:solidFill>
                <a:latin typeface="Georgia"/>
                <a:cs typeface="Georgia"/>
              </a:rPr>
              <a:t>Alguns</a:t>
            </a:r>
            <a:r>
              <a:rPr sz="1400" i="1" spc="-40" dirty="0">
                <a:solidFill>
                  <a:srgbClr val="424453"/>
                </a:solidFill>
                <a:latin typeface="Georgia"/>
                <a:cs typeface="Georgia"/>
              </a:rPr>
              <a:t> </a:t>
            </a:r>
            <a:r>
              <a:rPr sz="1400" i="1" spc="-10" dirty="0">
                <a:solidFill>
                  <a:srgbClr val="424453"/>
                </a:solidFill>
                <a:latin typeface="Georgia"/>
                <a:cs typeface="Georgia"/>
              </a:rPr>
              <a:t>Benefícios</a:t>
            </a:r>
            <a:r>
              <a:rPr sz="1400" i="1" spc="-40" dirty="0">
                <a:solidFill>
                  <a:srgbClr val="424453"/>
                </a:solidFill>
                <a:latin typeface="Georgia"/>
                <a:cs typeface="Georgia"/>
              </a:rPr>
              <a:t> </a:t>
            </a:r>
            <a:r>
              <a:rPr sz="1400" i="1" dirty="0">
                <a:solidFill>
                  <a:srgbClr val="424453"/>
                </a:solidFill>
                <a:latin typeface="Georgia"/>
                <a:cs typeface="Georgia"/>
              </a:rPr>
              <a:t>da</a:t>
            </a:r>
            <a:r>
              <a:rPr sz="1400" i="1" spc="-10" dirty="0">
                <a:solidFill>
                  <a:srgbClr val="424453"/>
                </a:solidFill>
                <a:latin typeface="Georgia"/>
                <a:cs typeface="Georgia"/>
              </a:rPr>
              <a:t> Locação</a:t>
            </a:r>
            <a:r>
              <a:rPr sz="1500" spc="-10" dirty="0">
                <a:solidFill>
                  <a:srgbClr val="424453"/>
                </a:solidFill>
                <a:latin typeface="Georgia"/>
                <a:cs typeface="Georgia"/>
              </a:rPr>
              <a:t>:</a:t>
            </a:r>
            <a:endParaRPr sz="1500" dirty="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2620" y="1992945"/>
            <a:ext cx="5513705" cy="5277086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1200" b="1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Para</a:t>
            </a:r>
            <a:r>
              <a:rPr sz="1200" b="1" spc="-5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b="1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a</a:t>
            </a:r>
            <a:r>
              <a:rPr sz="1200" b="1" spc="-2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b="1" spc="-1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equipe médica:</a:t>
            </a:r>
            <a:endParaRPr sz="1200" dirty="0">
              <a:solidFill>
                <a:schemeClr val="tx2">
                  <a:lumMod val="50000"/>
                </a:schemeClr>
              </a:solidFill>
              <a:latin typeface="Georgia" panose="02040502050405020303" pitchFamily="18" charset="0"/>
              <a:cs typeface="Calibri"/>
            </a:endParaRPr>
          </a:p>
          <a:p>
            <a:pPr marL="299720" indent="-287020" algn="just">
              <a:lnSpc>
                <a:spcPct val="100000"/>
              </a:lnSpc>
              <a:spcBef>
                <a:spcPts val="760"/>
              </a:spcBef>
              <a:buFont typeface="Wingdings"/>
              <a:buChar char=""/>
              <a:tabLst>
                <a:tab pos="299720" algn="l"/>
              </a:tabLst>
            </a:pPr>
            <a:r>
              <a:rPr sz="1200" spc="-1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Customização</a:t>
            </a:r>
            <a:r>
              <a:rPr sz="1200" spc="-35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spc="-1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e</a:t>
            </a:r>
            <a:r>
              <a:rPr sz="1200" spc="-5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spc="-1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padronização </a:t>
            </a:r>
            <a:r>
              <a:rPr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das</a:t>
            </a:r>
            <a:r>
              <a:rPr sz="1200" spc="5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spc="-1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composições</a:t>
            </a:r>
            <a:r>
              <a:rPr sz="1200" spc="-25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das</a:t>
            </a:r>
            <a:r>
              <a:rPr sz="1200" spc="5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spc="-1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caixas</a:t>
            </a:r>
            <a:r>
              <a:rPr sz="1200" spc="-25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spc="-1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junto </a:t>
            </a:r>
            <a:r>
              <a:rPr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a</a:t>
            </a:r>
            <a:r>
              <a:rPr sz="1200" spc="-2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spc="-1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equipe</a:t>
            </a:r>
            <a:r>
              <a:rPr sz="1200" spc="-25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spc="-1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médica;</a:t>
            </a:r>
            <a:endParaRPr sz="1200" dirty="0">
              <a:solidFill>
                <a:schemeClr val="tx2">
                  <a:lumMod val="50000"/>
                </a:schemeClr>
              </a:solidFill>
              <a:latin typeface="Georgia" panose="02040502050405020303" pitchFamily="18" charset="0"/>
              <a:cs typeface="Calibri"/>
            </a:endParaRPr>
          </a:p>
          <a:p>
            <a:pPr marL="299720" indent="-287020" algn="just">
              <a:lnSpc>
                <a:spcPct val="100000"/>
              </a:lnSpc>
              <a:spcBef>
                <a:spcPts val="340"/>
              </a:spcBef>
              <a:buFont typeface="Wingdings"/>
              <a:buChar char=""/>
              <a:tabLst>
                <a:tab pos="299720" algn="l"/>
              </a:tabLst>
            </a:pPr>
            <a:r>
              <a:rPr sz="1200" spc="-1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Atendimento</a:t>
            </a:r>
            <a:r>
              <a:rPr sz="1200" spc="-5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spc="-1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personalizado</a:t>
            </a:r>
            <a:r>
              <a:rPr sz="1200" spc="-2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spc="-1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e</a:t>
            </a:r>
            <a:r>
              <a:rPr sz="1200" spc="-35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spc="-1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totalmente</a:t>
            </a:r>
            <a:r>
              <a:rPr sz="1200" spc="-3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spc="-1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voltado</a:t>
            </a:r>
            <a:r>
              <a:rPr sz="1200" spc="-2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a</a:t>
            </a:r>
            <a:r>
              <a:rPr sz="1200" spc="-1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equipe</a:t>
            </a:r>
            <a:r>
              <a:rPr sz="1200" spc="15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spc="-1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cirúrgica</a:t>
            </a:r>
            <a:endParaRPr sz="1200" dirty="0">
              <a:solidFill>
                <a:schemeClr val="tx2">
                  <a:lumMod val="50000"/>
                </a:schemeClr>
              </a:solidFill>
              <a:latin typeface="Georgia" panose="02040502050405020303" pitchFamily="18" charset="0"/>
              <a:cs typeface="Calibri"/>
            </a:endParaRPr>
          </a:p>
          <a:p>
            <a:pPr marL="300355" indent="-287020" algn="just">
              <a:lnSpc>
                <a:spcPct val="100000"/>
              </a:lnSpc>
              <a:spcBef>
                <a:spcPts val="320"/>
              </a:spcBef>
              <a:buFont typeface="Wingdings"/>
              <a:buChar char=""/>
              <a:tabLst>
                <a:tab pos="300355" algn="l"/>
              </a:tabLst>
            </a:pPr>
            <a:r>
              <a:rPr sz="1200" spc="-1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Mais</a:t>
            </a:r>
            <a:r>
              <a:rPr sz="1200" spc="-6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de</a:t>
            </a:r>
            <a:r>
              <a:rPr sz="1200" spc="-4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28</a:t>
            </a:r>
            <a:r>
              <a:rPr sz="1200" spc="-3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mil</a:t>
            </a:r>
            <a:r>
              <a:rPr sz="1200" spc="-6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itens</a:t>
            </a:r>
            <a:r>
              <a:rPr sz="1200" spc="-2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de</a:t>
            </a:r>
            <a:r>
              <a:rPr sz="1200" spc="-4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todas</a:t>
            </a:r>
            <a:r>
              <a:rPr sz="1200" spc="-2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as</a:t>
            </a:r>
            <a:r>
              <a:rPr sz="1200" spc="-4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especialidades</a:t>
            </a:r>
            <a:r>
              <a:rPr sz="1200" spc="-45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spc="-1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médicas</a:t>
            </a:r>
            <a:endParaRPr sz="1200" dirty="0">
              <a:solidFill>
                <a:schemeClr val="tx2">
                  <a:lumMod val="50000"/>
                </a:schemeClr>
              </a:solidFill>
              <a:latin typeface="Georgia" panose="02040502050405020303" pitchFamily="18" charset="0"/>
              <a:cs typeface="Calibri"/>
            </a:endParaRPr>
          </a:p>
          <a:p>
            <a:pPr marL="300355" algn="just">
              <a:lnSpc>
                <a:spcPct val="100000"/>
              </a:lnSpc>
              <a:spcBef>
                <a:spcPts val="320"/>
              </a:spcBef>
            </a:pPr>
            <a:r>
              <a:rPr sz="1200" spc="-1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Equipe</a:t>
            </a:r>
            <a:r>
              <a:rPr sz="1200" spc="-8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spc="-1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cirúrgica</a:t>
            </a:r>
            <a:r>
              <a:rPr sz="1200" spc="-55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spc="-1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sempre</a:t>
            </a:r>
            <a:r>
              <a:rPr sz="1200" spc="-55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satisfeita</a:t>
            </a:r>
            <a:r>
              <a:rPr sz="1200" spc="-5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com a</a:t>
            </a:r>
            <a:r>
              <a:rPr sz="1200" spc="-35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spc="-10" dirty="0" err="1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especifi</a:t>
            </a:r>
            <a:r>
              <a:rPr lang="pt-BR" sz="1200" spc="-1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cidade</a:t>
            </a:r>
            <a:r>
              <a:rPr sz="1200" spc="-25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spc="-1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e</a:t>
            </a:r>
            <a:r>
              <a:rPr sz="1200" spc="-35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qualidade</a:t>
            </a:r>
            <a:r>
              <a:rPr sz="1200" spc="-55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dos</a:t>
            </a:r>
            <a:r>
              <a:rPr sz="1200" spc="35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spc="-1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produtos</a:t>
            </a:r>
            <a:endParaRPr sz="1200" dirty="0">
              <a:solidFill>
                <a:schemeClr val="tx2">
                  <a:lumMod val="50000"/>
                </a:schemeClr>
              </a:solidFill>
              <a:latin typeface="Georgia" panose="02040502050405020303" pitchFamily="18" charset="0"/>
              <a:cs typeface="Calibri"/>
            </a:endParaRPr>
          </a:p>
          <a:p>
            <a:pPr marL="13335" algn="just">
              <a:lnSpc>
                <a:spcPct val="100000"/>
              </a:lnSpc>
              <a:spcBef>
                <a:spcPts val="1320"/>
              </a:spcBef>
            </a:pPr>
            <a:r>
              <a:rPr sz="1200" b="1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Para</a:t>
            </a:r>
            <a:r>
              <a:rPr sz="1200" b="1" spc="-3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b="1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a</a:t>
            </a:r>
            <a:r>
              <a:rPr sz="1200" b="1" spc="-3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b="1" spc="-1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equipe</a:t>
            </a:r>
            <a:r>
              <a:rPr sz="1200" b="1" spc="-6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b="1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da</a:t>
            </a:r>
            <a:r>
              <a:rPr sz="1200" b="1" spc="-25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b="1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CME</a:t>
            </a:r>
            <a:r>
              <a:rPr sz="1200" b="1" spc="-5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b="1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e</a:t>
            </a:r>
            <a:r>
              <a:rPr sz="1200" b="1" spc="-2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b="1" spc="-1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Gestão:</a:t>
            </a:r>
            <a:endParaRPr sz="1200" dirty="0">
              <a:solidFill>
                <a:schemeClr val="tx2">
                  <a:lumMod val="50000"/>
                </a:schemeClr>
              </a:solidFill>
              <a:latin typeface="Georgia" panose="02040502050405020303" pitchFamily="18" charset="0"/>
              <a:cs typeface="Calibri"/>
            </a:endParaRPr>
          </a:p>
          <a:p>
            <a:pPr algn="just">
              <a:lnSpc>
                <a:spcPct val="100000"/>
              </a:lnSpc>
              <a:spcBef>
                <a:spcPts val="35"/>
              </a:spcBef>
            </a:pPr>
            <a:endParaRPr sz="1200" dirty="0">
              <a:solidFill>
                <a:schemeClr val="tx2">
                  <a:lumMod val="50000"/>
                </a:schemeClr>
              </a:solidFill>
              <a:latin typeface="Georgia" panose="02040502050405020303" pitchFamily="18" charset="0"/>
              <a:cs typeface="Calibri"/>
            </a:endParaRPr>
          </a:p>
          <a:p>
            <a:pPr marL="300355" indent="-287020" algn="just">
              <a:lnSpc>
                <a:spcPct val="100000"/>
              </a:lnSpc>
              <a:buFont typeface="Wingdings"/>
              <a:buChar char=""/>
              <a:tabLst>
                <a:tab pos="300355" algn="l"/>
              </a:tabLst>
            </a:pPr>
            <a:r>
              <a:rPr sz="1200" spc="-1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Manutenção</a:t>
            </a:r>
            <a:r>
              <a:rPr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spc="-1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Preventiva</a:t>
            </a:r>
            <a:r>
              <a:rPr sz="1200" spc="-5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spc="-1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e</a:t>
            </a:r>
            <a:r>
              <a:rPr sz="1200" spc="-2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spc="-10" dirty="0" err="1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Corretiva</a:t>
            </a:r>
            <a:r>
              <a:rPr sz="1200" spc="-5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lang="pt-BR" sz="1200" spc="-5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e/</a:t>
            </a:r>
            <a:r>
              <a:rPr sz="1200" spc="-10" dirty="0" err="1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ou</a:t>
            </a:r>
            <a:r>
              <a:rPr sz="1200" spc="-35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lang="pt-BR" sz="1200" spc="-1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r</a:t>
            </a:r>
            <a:r>
              <a:rPr sz="1200" spc="-10" dirty="0" err="1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eposição</a:t>
            </a:r>
            <a:r>
              <a:rPr sz="1200" spc="-35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dos </a:t>
            </a:r>
            <a:r>
              <a:rPr sz="1200" spc="-1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materiais;</a:t>
            </a:r>
            <a:endParaRPr sz="1200" dirty="0">
              <a:solidFill>
                <a:schemeClr val="tx2">
                  <a:lumMod val="50000"/>
                </a:schemeClr>
              </a:solidFill>
              <a:latin typeface="Georgia" panose="02040502050405020303" pitchFamily="18" charset="0"/>
              <a:cs typeface="Calibri"/>
            </a:endParaRPr>
          </a:p>
          <a:p>
            <a:pPr marL="300990" indent="-287020" algn="just">
              <a:lnSpc>
                <a:spcPct val="100000"/>
              </a:lnSpc>
              <a:spcBef>
                <a:spcPts val="340"/>
              </a:spcBef>
              <a:buFont typeface="Wingdings"/>
              <a:buChar char=""/>
              <a:tabLst>
                <a:tab pos="300990" algn="l"/>
              </a:tabLst>
            </a:pPr>
            <a:r>
              <a:rPr sz="1200" spc="-1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Caixas</a:t>
            </a:r>
            <a:r>
              <a:rPr sz="1200" spc="-5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spc="-1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sempre</a:t>
            </a:r>
            <a:r>
              <a:rPr sz="1200" spc="-25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spc="-1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completas</a:t>
            </a:r>
            <a:r>
              <a:rPr sz="1200" spc="-2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spc="-1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garantindo</a:t>
            </a:r>
            <a:r>
              <a:rPr sz="1200" spc="-15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a</a:t>
            </a:r>
            <a:r>
              <a:rPr sz="1200" spc="-2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spc="-1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segurança</a:t>
            </a:r>
            <a:r>
              <a:rPr sz="1200" spc="-25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do</a:t>
            </a:r>
            <a:r>
              <a:rPr sz="1200" spc="-1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paciente</a:t>
            </a:r>
            <a:r>
              <a:rPr sz="1200" spc="-25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spc="-1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e</a:t>
            </a:r>
            <a:r>
              <a:rPr sz="1200" spc="-25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o</a:t>
            </a:r>
            <a:r>
              <a:rPr sz="1200" spc="15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spc="-1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trabalho</a:t>
            </a:r>
            <a:r>
              <a:rPr sz="1200" spc="-15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da </a:t>
            </a:r>
            <a:r>
              <a:rPr sz="1200" spc="-1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equipe</a:t>
            </a:r>
            <a:r>
              <a:rPr sz="1200" spc="-2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spc="-1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médica.</a:t>
            </a:r>
            <a:endParaRPr sz="1200" dirty="0">
              <a:solidFill>
                <a:schemeClr val="tx2">
                  <a:lumMod val="50000"/>
                </a:schemeClr>
              </a:solidFill>
              <a:latin typeface="Georgia" panose="02040502050405020303" pitchFamily="18" charset="0"/>
              <a:cs typeface="Calibri"/>
            </a:endParaRPr>
          </a:p>
          <a:p>
            <a:pPr marL="300990" indent="-287020" algn="just">
              <a:lnSpc>
                <a:spcPct val="100000"/>
              </a:lnSpc>
              <a:spcBef>
                <a:spcPts val="320"/>
              </a:spcBef>
              <a:buFont typeface="Wingdings"/>
              <a:buChar char=""/>
              <a:tabLst>
                <a:tab pos="300990" algn="l"/>
              </a:tabLst>
            </a:pPr>
            <a:r>
              <a:rPr sz="1200" spc="-1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Garantindo</a:t>
            </a:r>
            <a:r>
              <a:rPr sz="1200" spc="-65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o</a:t>
            </a:r>
            <a:r>
              <a:rPr sz="1200" spc="-15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bom</a:t>
            </a:r>
            <a:r>
              <a:rPr sz="1200" spc="-4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spc="-1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armazenamento</a:t>
            </a:r>
            <a:r>
              <a:rPr sz="1200" spc="5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spc="-1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e</a:t>
            </a:r>
            <a:r>
              <a:rPr sz="1200" spc="-3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spc="-1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esterilização</a:t>
            </a:r>
            <a:r>
              <a:rPr sz="1200" spc="-15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dos</a:t>
            </a:r>
            <a:r>
              <a:rPr sz="1200" spc="-25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spc="-1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produtos;</a:t>
            </a:r>
            <a:endParaRPr sz="1200" dirty="0">
              <a:solidFill>
                <a:schemeClr val="tx2">
                  <a:lumMod val="50000"/>
                </a:schemeClr>
              </a:solidFill>
              <a:latin typeface="Georgia" panose="02040502050405020303" pitchFamily="18" charset="0"/>
              <a:cs typeface="Calibri"/>
            </a:endParaRPr>
          </a:p>
          <a:p>
            <a:pPr marL="301625" indent="-287020" algn="just">
              <a:lnSpc>
                <a:spcPct val="100000"/>
              </a:lnSpc>
              <a:spcBef>
                <a:spcPts val="340"/>
              </a:spcBef>
              <a:buFont typeface="Wingdings"/>
              <a:buChar char=""/>
              <a:tabLst>
                <a:tab pos="301625" algn="l"/>
              </a:tabLst>
            </a:pPr>
            <a:r>
              <a:rPr sz="1200" dirty="0" err="1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Incluso</a:t>
            </a:r>
            <a:r>
              <a:rPr sz="1200" spc="-4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spc="-10" dirty="0" err="1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insumos</a:t>
            </a:r>
            <a:r>
              <a:rPr lang="pt-BR" sz="1200" spc="-1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tais</a:t>
            </a:r>
            <a:r>
              <a:rPr sz="1200" spc="-65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spc="-10" dirty="0" err="1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como</a:t>
            </a:r>
            <a:r>
              <a:rPr sz="1200" spc="-5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dirty="0" err="1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filtros</a:t>
            </a:r>
            <a:r>
              <a:rPr lang="pt-BR"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e </a:t>
            </a:r>
            <a:r>
              <a:rPr sz="1200" spc="-10" dirty="0" err="1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lacres</a:t>
            </a:r>
            <a:r>
              <a:rPr lang="pt-BR" sz="1200" spc="-1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, no caso de acondicionamento em sistema de barreira rígida - container; </a:t>
            </a:r>
            <a:endParaRPr sz="1200" dirty="0">
              <a:solidFill>
                <a:schemeClr val="tx2">
                  <a:lumMod val="50000"/>
                </a:schemeClr>
              </a:solidFill>
              <a:latin typeface="Georgia" panose="02040502050405020303" pitchFamily="18" charset="0"/>
              <a:cs typeface="Calibri"/>
            </a:endParaRPr>
          </a:p>
          <a:p>
            <a:pPr marL="304165" indent="-289560" algn="just">
              <a:lnSpc>
                <a:spcPct val="100000"/>
              </a:lnSpc>
              <a:spcBef>
                <a:spcPts val="360"/>
              </a:spcBef>
              <a:buFont typeface="Wingdings"/>
              <a:buChar char=""/>
              <a:tabLst>
                <a:tab pos="304165" algn="l"/>
              </a:tabLst>
            </a:pPr>
            <a:r>
              <a:rPr sz="1200" spc="-1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Fácil</a:t>
            </a:r>
            <a:r>
              <a:rPr sz="1200" spc="-4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spc="-1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identificação</a:t>
            </a:r>
            <a:r>
              <a:rPr sz="1200" spc="-6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por</a:t>
            </a:r>
            <a:r>
              <a:rPr sz="1200" spc="-25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cores</a:t>
            </a:r>
            <a:r>
              <a:rPr sz="1200" spc="-3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de</a:t>
            </a:r>
            <a:r>
              <a:rPr sz="1200" spc="-3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tampas</a:t>
            </a:r>
            <a:r>
              <a:rPr sz="1200" spc="-1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e</a:t>
            </a:r>
            <a:r>
              <a:rPr sz="1200" spc="-55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placas</a:t>
            </a:r>
            <a:r>
              <a:rPr sz="1200" spc="-3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spc="-1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coloridas</a:t>
            </a:r>
            <a:endParaRPr sz="1200" dirty="0">
              <a:solidFill>
                <a:schemeClr val="tx2">
                  <a:lumMod val="50000"/>
                </a:schemeClr>
              </a:solidFill>
              <a:latin typeface="Georgia" panose="02040502050405020303" pitchFamily="18" charset="0"/>
              <a:cs typeface="Calibri"/>
            </a:endParaRPr>
          </a:p>
          <a:p>
            <a:pPr marL="304165" indent="-289560" algn="just">
              <a:lnSpc>
                <a:spcPct val="100000"/>
              </a:lnSpc>
              <a:spcBef>
                <a:spcPts val="340"/>
              </a:spcBef>
              <a:buFont typeface="Wingdings"/>
              <a:buChar char=""/>
              <a:tabLst>
                <a:tab pos="304165" algn="l"/>
              </a:tabLst>
            </a:pPr>
            <a:r>
              <a:rPr sz="1200" spc="-1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Sistema</a:t>
            </a:r>
            <a:r>
              <a:rPr sz="1200" spc="-9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de</a:t>
            </a:r>
            <a:r>
              <a:rPr sz="1200" spc="-2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spc="-1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controle</a:t>
            </a:r>
            <a:r>
              <a:rPr sz="1200" spc="-45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de</a:t>
            </a:r>
            <a:r>
              <a:rPr sz="1200" spc="-4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montagem</a:t>
            </a:r>
            <a:r>
              <a:rPr sz="1200" spc="-35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por</a:t>
            </a:r>
            <a:r>
              <a:rPr sz="1200" spc="-35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leitura </a:t>
            </a:r>
            <a:r>
              <a:rPr sz="1200" spc="-1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individualizada</a:t>
            </a:r>
            <a:r>
              <a:rPr sz="1200" spc="-6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dos</a:t>
            </a:r>
            <a:r>
              <a:rPr sz="1200" spc="-4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itens</a:t>
            </a:r>
            <a:r>
              <a:rPr sz="1200" spc="-25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ou</a:t>
            </a:r>
            <a:r>
              <a:rPr sz="1200" spc="-3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por</a:t>
            </a:r>
            <a:r>
              <a:rPr sz="1200" spc="-4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spc="-1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similaridade;</a:t>
            </a:r>
            <a:endParaRPr sz="1200" dirty="0">
              <a:solidFill>
                <a:schemeClr val="tx2">
                  <a:lumMod val="50000"/>
                </a:schemeClr>
              </a:solidFill>
              <a:latin typeface="Georgia" panose="02040502050405020303" pitchFamily="18" charset="0"/>
              <a:cs typeface="Calibri"/>
            </a:endParaRPr>
          </a:p>
          <a:p>
            <a:pPr marL="304800" indent="-287020" algn="just">
              <a:lnSpc>
                <a:spcPct val="100000"/>
              </a:lnSpc>
              <a:spcBef>
                <a:spcPts val="340"/>
              </a:spcBef>
              <a:buFont typeface="Wingdings"/>
              <a:buChar char=""/>
              <a:tabLst>
                <a:tab pos="304800" algn="l"/>
              </a:tabLst>
            </a:pPr>
            <a:r>
              <a:rPr sz="1200" spc="-10" dirty="0" err="1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Rastreabilidade</a:t>
            </a:r>
            <a:r>
              <a:rPr sz="1200" spc="-65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spc="-1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e</a:t>
            </a:r>
            <a:r>
              <a:rPr sz="1200" spc="-45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gestão</a:t>
            </a:r>
            <a:r>
              <a:rPr sz="1200" spc="-1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de</a:t>
            </a:r>
            <a:r>
              <a:rPr sz="1200" spc="-2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spc="-1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controles</a:t>
            </a:r>
            <a:r>
              <a:rPr sz="1200" spc="-25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exigidos</a:t>
            </a:r>
            <a:r>
              <a:rPr sz="1200" spc="-65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pelas</a:t>
            </a:r>
            <a:r>
              <a:rPr sz="1200" spc="-2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spc="-1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normas</a:t>
            </a:r>
            <a:r>
              <a:rPr sz="1200" spc="-2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spc="-1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regulatórias.</a:t>
            </a:r>
            <a:endParaRPr sz="1200" dirty="0">
              <a:solidFill>
                <a:schemeClr val="tx2">
                  <a:lumMod val="50000"/>
                </a:schemeClr>
              </a:solidFill>
              <a:latin typeface="Georgia" panose="02040502050405020303" pitchFamily="18" charset="0"/>
              <a:cs typeface="Calibri"/>
            </a:endParaRPr>
          </a:p>
          <a:p>
            <a:pPr marL="305435" indent="-287020" algn="just">
              <a:lnSpc>
                <a:spcPct val="100000"/>
              </a:lnSpc>
              <a:spcBef>
                <a:spcPts val="340"/>
              </a:spcBef>
              <a:buFont typeface="Wingdings"/>
              <a:buChar char=""/>
              <a:tabLst>
                <a:tab pos="305435" algn="l"/>
              </a:tabLst>
            </a:pPr>
            <a:r>
              <a:rPr sz="1200" spc="-1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Fotos</a:t>
            </a:r>
            <a:r>
              <a:rPr sz="1200" spc="-8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de</a:t>
            </a:r>
            <a:r>
              <a:rPr sz="1200" spc="-45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cada</a:t>
            </a:r>
            <a:r>
              <a:rPr sz="1200" spc="-45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uma</a:t>
            </a:r>
            <a:r>
              <a:rPr sz="1200" spc="-65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das</a:t>
            </a:r>
            <a:r>
              <a:rPr sz="1200" spc="-4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peças</a:t>
            </a:r>
            <a:r>
              <a:rPr sz="1200" spc="-25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para</a:t>
            </a:r>
            <a:r>
              <a:rPr sz="1200" spc="-2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facilitar</a:t>
            </a:r>
            <a:r>
              <a:rPr sz="1200" spc="-6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e</a:t>
            </a:r>
            <a:r>
              <a:rPr sz="1200" spc="-4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reduzir</a:t>
            </a:r>
            <a:r>
              <a:rPr sz="1200" spc="-6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risco</a:t>
            </a:r>
            <a:r>
              <a:rPr sz="1200" spc="-5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de</a:t>
            </a:r>
            <a:r>
              <a:rPr sz="1200" spc="-65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erros</a:t>
            </a:r>
            <a:r>
              <a:rPr sz="1200" spc="-25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na</a:t>
            </a:r>
            <a:r>
              <a:rPr sz="1200" spc="-2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spc="-1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montagem</a:t>
            </a:r>
            <a:endParaRPr sz="1200" dirty="0">
              <a:solidFill>
                <a:schemeClr val="tx2">
                  <a:lumMod val="50000"/>
                </a:schemeClr>
              </a:solidFill>
              <a:latin typeface="Georgia" panose="02040502050405020303" pitchFamily="18" charset="0"/>
              <a:cs typeface="Calibri"/>
            </a:endParaRPr>
          </a:p>
          <a:p>
            <a:pPr marL="302895" indent="-287020" algn="just">
              <a:lnSpc>
                <a:spcPct val="100000"/>
              </a:lnSpc>
              <a:spcBef>
                <a:spcPts val="340"/>
              </a:spcBef>
              <a:buFont typeface="Wingdings"/>
              <a:buChar char=""/>
              <a:tabLst>
                <a:tab pos="302895" algn="l"/>
              </a:tabLst>
            </a:pPr>
            <a:r>
              <a:rPr sz="1200" spc="-1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Instruções</a:t>
            </a:r>
            <a:r>
              <a:rPr sz="1200" spc="-5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de</a:t>
            </a:r>
            <a:r>
              <a:rPr sz="1200" spc="-3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testes</a:t>
            </a:r>
            <a:r>
              <a:rPr sz="1200" spc="15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lang="pt-BR" sz="1200" spc="-1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de função dos instrumentais.</a:t>
            </a:r>
            <a:endParaRPr sz="1200" dirty="0">
              <a:solidFill>
                <a:schemeClr val="tx2">
                  <a:lumMod val="50000"/>
                </a:schemeClr>
              </a:solidFill>
              <a:latin typeface="Georgia" panose="02040502050405020303" pitchFamily="18" charset="0"/>
              <a:cs typeface="Calibri"/>
            </a:endParaRPr>
          </a:p>
          <a:p>
            <a:pPr marL="302895" indent="-287020" algn="just">
              <a:lnSpc>
                <a:spcPct val="100000"/>
              </a:lnSpc>
              <a:spcBef>
                <a:spcPts val="320"/>
              </a:spcBef>
              <a:buFont typeface="Wingdings"/>
              <a:buChar char=""/>
              <a:tabLst>
                <a:tab pos="302895" algn="l"/>
              </a:tabLst>
            </a:pPr>
            <a:r>
              <a:rPr sz="1200" b="1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Possibilidade</a:t>
            </a:r>
            <a:r>
              <a:rPr sz="1200" b="1" spc="-8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b="1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de</a:t>
            </a:r>
            <a:r>
              <a:rPr sz="1200" b="1" spc="-5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b="1" spc="-1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Redução</a:t>
            </a:r>
            <a:r>
              <a:rPr sz="1200" b="1" spc="-2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b="1" spc="-1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Tributária</a:t>
            </a:r>
            <a:r>
              <a:rPr sz="1200" b="1" spc="-25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b="1" spc="-1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compensando</a:t>
            </a:r>
            <a:r>
              <a:rPr sz="1200" b="1" spc="-45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b="1" spc="-1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valor</a:t>
            </a:r>
            <a:r>
              <a:rPr sz="1200" b="1" spc="-2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b="1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da</a:t>
            </a:r>
            <a:r>
              <a:rPr sz="1200" b="1" spc="-3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1200" b="1" spc="-1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cs typeface="Calibri"/>
              </a:rPr>
              <a:t>locação.</a:t>
            </a:r>
            <a:endParaRPr sz="1200" b="1" dirty="0">
              <a:solidFill>
                <a:schemeClr val="tx2">
                  <a:lumMod val="50000"/>
                </a:schemeClr>
              </a:solidFill>
              <a:latin typeface="Georgia" panose="02040502050405020303" pitchFamily="18" charset="0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2080260" y="8905622"/>
            <a:ext cx="2764790" cy="155812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10" dirty="0">
                <a:solidFill>
                  <a:schemeClr val="tx2">
                    <a:lumMod val="50000"/>
                  </a:schemeClr>
                </a:solidFill>
              </a:rPr>
              <a:t>CMEtK</a:t>
            </a:r>
            <a:r>
              <a:rPr spc="-35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spc="-10" dirty="0">
                <a:solidFill>
                  <a:schemeClr val="tx2">
                    <a:lumMod val="50000"/>
                  </a:schemeClr>
                </a:solidFill>
              </a:rPr>
              <a:t>Soluções</a:t>
            </a:r>
            <a:r>
              <a:rPr spc="-25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spc="-10" dirty="0">
                <a:solidFill>
                  <a:schemeClr val="tx2">
                    <a:lumMod val="50000"/>
                  </a:schemeClr>
                </a:solidFill>
              </a:rPr>
              <a:t>Hospitalares</a:t>
            </a:r>
            <a:r>
              <a:rPr spc="-5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spc="-10" dirty="0">
                <a:solidFill>
                  <a:schemeClr val="tx2">
                    <a:lumMod val="50000"/>
                  </a:schemeClr>
                </a:solidFill>
              </a:rPr>
              <a:t>Ltda</a:t>
            </a:r>
            <a:r>
              <a:rPr spc="-2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spc="-10" dirty="0">
                <a:solidFill>
                  <a:schemeClr val="tx2">
                    <a:lumMod val="50000"/>
                  </a:schemeClr>
                </a:solidFill>
              </a:rPr>
              <a:t>-</a:t>
            </a:r>
            <a:r>
              <a:rPr spc="-3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spc="-10" dirty="0">
                <a:solidFill>
                  <a:schemeClr val="tx2">
                    <a:lumMod val="50000"/>
                  </a:schemeClr>
                </a:solidFill>
              </a:rPr>
              <a:t>Confidencial</a:t>
            </a:r>
          </a:p>
        </p:txBody>
      </p:sp>
      <p:pic>
        <p:nvPicPr>
          <p:cNvPr id="9" name="Imagem 8" descr="Logotipo&#10;&#10;O conteúdo gerado por IA pode estar incorreto.">
            <a:extLst>
              <a:ext uri="{FF2B5EF4-FFF2-40B4-BE49-F238E27FC236}">
                <a16:creationId xmlns:a16="http://schemas.microsoft.com/office/drawing/2014/main" id="{5ECD7283-F311-F03B-C105-94CA6C2C17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8100"/>
            <a:ext cx="2117186" cy="92670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81A71397-AFAF-1AA8-5F2F-939CADFFF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688" y="4996428"/>
            <a:ext cx="5753024" cy="3196124"/>
          </a:xfrm>
          <a:prstGeom prst="rect">
            <a:avLst/>
          </a:prstGeom>
        </p:spPr>
      </p:pic>
      <p:sp>
        <p:nvSpPr>
          <p:cNvPr id="7" name="object 10">
            <a:extLst>
              <a:ext uri="{FF2B5EF4-FFF2-40B4-BE49-F238E27FC236}">
                <a16:creationId xmlns:a16="http://schemas.microsoft.com/office/drawing/2014/main" id="{67419F26-899C-4CCB-51EF-5938208B7362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2046287" y="8686800"/>
            <a:ext cx="3135313" cy="155812"/>
          </a:xfrm>
        </p:spPr>
        <p:txBody>
          <a:bodyPr vert="horz" wrap="square" lIns="0" tIns="1905" rIns="0" bIns="0" rtlCol="0">
            <a:spAutoFit/>
          </a:bodyPr>
          <a:lstStyle/>
          <a:p>
            <a:r>
              <a:rPr lang="pt-BR" dirty="0">
                <a:solidFill>
                  <a:schemeClr val="tx2">
                    <a:lumMod val="50000"/>
                  </a:schemeClr>
                </a:solidFill>
              </a:rPr>
              <a:t>CMEtK Soluções Hospitalares Ltda - Confidencial</a:t>
            </a:r>
          </a:p>
        </p:txBody>
      </p:sp>
      <p:pic>
        <p:nvPicPr>
          <p:cNvPr id="8" name="Imagem 7" descr="Logotipo&#10;&#10;O conteúdo gerado por IA pode estar incorreto.">
            <a:extLst>
              <a:ext uri="{FF2B5EF4-FFF2-40B4-BE49-F238E27FC236}">
                <a16:creationId xmlns:a16="http://schemas.microsoft.com/office/drawing/2014/main" id="{0EE215E8-1FE9-CDA3-A97B-3F3CB146DD2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7760" y="28279"/>
            <a:ext cx="1691640" cy="740441"/>
          </a:xfrm>
          <a:prstGeom prst="rect">
            <a:avLst/>
          </a:prstGeom>
        </p:spPr>
      </p:pic>
      <p:sp>
        <p:nvSpPr>
          <p:cNvPr id="2" name="TextBox 19">
            <a:extLst>
              <a:ext uri="{FF2B5EF4-FFF2-40B4-BE49-F238E27FC236}">
                <a16:creationId xmlns:a16="http://schemas.microsoft.com/office/drawing/2014/main" id="{E37C09C9-B509-FE2C-73A2-8AEFFF2073A7}"/>
              </a:ext>
            </a:extLst>
          </p:cNvPr>
          <p:cNvSpPr txBox="1"/>
          <p:nvPr/>
        </p:nvSpPr>
        <p:spPr>
          <a:xfrm>
            <a:off x="377229" y="591509"/>
            <a:ext cx="2971800" cy="8299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7930"/>
              </a:lnSpc>
              <a:spcBef>
                <a:spcPct val="0"/>
              </a:spcBef>
            </a:pPr>
            <a:r>
              <a:rPr lang="en-US" sz="2400" b="1" u="none" strike="noStrike" dirty="0">
                <a:solidFill>
                  <a:srgbClr val="00659D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NOSSA SOLUÇÃO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CB80AE9-B1D6-6CBC-60DB-73A9FFB33E6A}"/>
              </a:ext>
            </a:extLst>
          </p:cNvPr>
          <p:cNvSpPr txBox="1"/>
          <p:nvPr/>
        </p:nvSpPr>
        <p:spPr>
          <a:xfrm>
            <a:off x="259688" y="1444709"/>
            <a:ext cx="3024319" cy="28281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</a:rPr>
              <a:t>Diante de todas as demandas do setor, a função do sistema de rastreabilidade é assegurar o registro preciso e confiável de cada etapa do processo, implementar barreiras de segurança que previnam falhas humanas, reduzir desperdícios e retrabalho, promovendo maior eficiência operacional. Além disso, o sistema contribui para o cumprimento rigoroso das legislações e normativas vigentes</a:t>
            </a:r>
            <a:r>
              <a:rPr lang="pt-BR" sz="1200" dirty="0">
                <a:solidFill>
                  <a:schemeClr val="tx2">
                    <a:lumMod val="50000"/>
                  </a:schemeClr>
                </a:solidFill>
              </a:rPr>
              <a:t>.</a:t>
            </a:r>
          </a:p>
        </p:txBody>
      </p:sp>
      <p:sp>
        <p:nvSpPr>
          <p:cNvPr id="44" name="object 5">
            <a:extLst>
              <a:ext uri="{FF2B5EF4-FFF2-40B4-BE49-F238E27FC236}">
                <a16:creationId xmlns:a16="http://schemas.microsoft.com/office/drawing/2014/main" id="{6ED1DC59-BE63-1AAF-D1B8-0548FADC0429}"/>
              </a:ext>
            </a:extLst>
          </p:cNvPr>
          <p:cNvSpPr txBox="1"/>
          <p:nvPr/>
        </p:nvSpPr>
        <p:spPr>
          <a:xfrm>
            <a:off x="168814" y="204817"/>
            <a:ext cx="2296795" cy="370551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700" marR="5080">
              <a:lnSpc>
                <a:spcPts val="1360"/>
              </a:lnSpc>
              <a:spcBef>
                <a:spcPts val="210"/>
              </a:spcBef>
            </a:pPr>
            <a:r>
              <a:rPr sz="1000" b="1" spc="-10" dirty="0">
                <a:solidFill>
                  <a:srgbClr val="2B475E"/>
                </a:solidFill>
                <a:latin typeface="Trebuchet MS"/>
                <a:cs typeface="Trebuchet MS"/>
              </a:rPr>
              <a:t>Apresentação</a:t>
            </a:r>
            <a:r>
              <a:rPr sz="1000" b="1" spc="-5" dirty="0">
                <a:solidFill>
                  <a:srgbClr val="2B475E"/>
                </a:solidFill>
                <a:latin typeface="Trebuchet MS"/>
                <a:cs typeface="Trebuchet MS"/>
              </a:rPr>
              <a:t> </a:t>
            </a:r>
            <a:r>
              <a:rPr sz="1000" b="1" spc="-10" dirty="0" err="1">
                <a:solidFill>
                  <a:srgbClr val="2B475E"/>
                </a:solidFill>
                <a:latin typeface="Trebuchet MS"/>
                <a:cs typeface="Trebuchet MS"/>
              </a:rPr>
              <a:t>Institucional</a:t>
            </a:r>
            <a:r>
              <a:rPr sz="1000" b="1" spc="5" dirty="0">
                <a:solidFill>
                  <a:srgbClr val="2B475E"/>
                </a:solidFill>
                <a:latin typeface="Trebuchet MS"/>
                <a:cs typeface="Trebuchet MS"/>
              </a:rPr>
              <a:t> </a:t>
            </a:r>
            <a:r>
              <a:rPr sz="1000" b="1" spc="-20" dirty="0">
                <a:solidFill>
                  <a:srgbClr val="2B475E"/>
                </a:solidFill>
                <a:latin typeface="Trebuchet MS"/>
                <a:cs typeface="Trebuchet MS"/>
              </a:rPr>
              <a:t>202</a:t>
            </a:r>
            <a:r>
              <a:rPr lang="pt-BR" sz="1000" b="1" spc="-20" dirty="0">
                <a:solidFill>
                  <a:srgbClr val="2B475E"/>
                </a:solidFill>
                <a:latin typeface="Trebuchet MS"/>
                <a:cs typeface="Trebuchet MS"/>
              </a:rPr>
              <a:t>5</a:t>
            </a:r>
            <a:r>
              <a:rPr sz="1000" b="1" spc="-20" dirty="0">
                <a:solidFill>
                  <a:srgbClr val="2B475E"/>
                </a:solidFill>
                <a:latin typeface="Trebuchet MS"/>
                <a:cs typeface="Trebuchet MS"/>
              </a:rPr>
              <a:t> </a:t>
            </a:r>
            <a:r>
              <a:rPr sz="1000" b="1" dirty="0">
                <a:solidFill>
                  <a:srgbClr val="2B475E"/>
                </a:solidFill>
                <a:latin typeface="Trebuchet MS"/>
                <a:cs typeface="Trebuchet MS"/>
              </a:rPr>
              <a:t>CMEtK</a:t>
            </a:r>
            <a:r>
              <a:rPr sz="1000" b="1" spc="-60" dirty="0">
                <a:solidFill>
                  <a:srgbClr val="2B475E"/>
                </a:solidFill>
                <a:latin typeface="Trebuchet MS"/>
                <a:cs typeface="Trebuchet MS"/>
              </a:rPr>
              <a:t> </a:t>
            </a:r>
            <a:r>
              <a:rPr sz="1000" b="1" dirty="0">
                <a:solidFill>
                  <a:srgbClr val="2B475E"/>
                </a:solidFill>
                <a:latin typeface="Trebuchet MS"/>
                <a:cs typeface="Trebuchet MS"/>
              </a:rPr>
              <a:t>Soluções</a:t>
            </a:r>
            <a:r>
              <a:rPr sz="1000" b="1" spc="-50" dirty="0">
                <a:solidFill>
                  <a:srgbClr val="2B475E"/>
                </a:solidFill>
                <a:latin typeface="Trebuchet MS"/>
                <a:cs typeface="Trebuchet MS"/>
              </a:rPr>
              <a:t> </a:t>
            </a:r>
            <a:r>
              <a:rPr sz="1000" b="1" spc="-10" dirty="0">
                <a:solidFill>
                  <a:srgbClr val="2B475E"/>
                </a:solidFill>
                <a:latin typeface="Trebuchet MS"/>
                <a:cs typeface="Trebuchet MS"/>
              </a:rPr>
              <a:t>Hospitalares</a:t>
            </a:r>
            <a:endParaRPr sz="1000" dirty="0">
              <a:latin typeface="Trebuchet MS"/>
              <a:cs typeface="Trebuchet MS"/>
            </a:endParaRPr>
          </a:p>
        </p:txBody>
      </p:sp>
      <p:sp>
        <p:nvSpPr>
          <p:cNvPr id="47" name="Freeform 17">
            <a:extLst>
              <a:ext uri="{FF2B5EF4-FFF2-40B4-BE49-F238E27FC236}">
                <a16:creationId xmlns:a16="http://schemas.microsoft.com/office/drawing/2014/main" id="{77440433-A8C1-5745-30CE-8DC163058A8B}"/>
              </a:ext>
            </a:extLst>
          </p:cNvPr>
          <p:cNvSpPr/>
          <p:nvPr/>
        </p:nvSpPr>
        <p:spPr>
          <a:xfrm>
            <a:off x="9596468" y="7360465"/>
            <a:ext cx="1280469" cy="1584125"/>
          </a:xfrm>
          <a:custGeom>
            <a:avLst/>
            <a:gdLst/>
            <a:ahLst/>
            <a:cxnLst/>
            <a:rect l="l" t="t" r="r" b="b"/>
            <a:pathLst>
              <a:path w="1280469" h="1584125">
                <a:moveTo>
                  <a:pt x="0" y="0"/>
                </a:moveTo>
                <a:lnTo>
                  <a:pt x="1280468" y="0"/>
                </a:lnTo>
                <a:lnTo>
                  <a:pt x="1280468" y="1584125"/>
                </a:lnTo>
                <a:lnTo>
                  <a:pt x="0" y="15841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1" name="TextBox 22">
            <a:extLst>
              <a:ext uri="{FF2B5EF4-FFF2-40B4-BE49-F238E27FC236}">
                <a16:creationId xmlns:a16="http://schemas.microsoft.com/office/drawing/2014/main" id="{3A4108BF-C826-E2A3-909F-4E3A194F9539}"/>
              </a:ext>
            </a:extLst>
          </p:cNvPr>
          <p:cNvSpPr txBox="1"/>
          <p:nvPr/>
        </p:nvSpPr>
        <p:spPr>
          <a:xfrm>
            <a:off x="11201056" y="8140768"/>
            <a:ext cx="4378605" cy="451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105"/>
              </a:lnSpc>
              <a:spcBef>
                <a:spcPct val="0"/>
              </a:spcBef>
            </a:pPr>
            <a:r>
              <a:rPr lang="en-US" sz="2000" b="1" spc="23" dirty="0">
                <a:solidFill>
                  <a:srgbClr val="00659D"/>
                </a:solidFill>
                <a:latin typeface="Proxima Nova Heavy"/>
                <a:sym typeface="Proxima Nova Heavy"/>
              </a:rPr>
              <a:t>EFICIÊNCIA</a:t>
            </a:r>
          </a:p>
        </p:txBody>
      </p:sp>
      <p:pic>
        <p:nvPicPr>
          <p:cNvPr id="60" name="Imagem 59">
            <a:extLst>
              <a:ext uri="{FF2B5EF4-FFF2-40B4-BE49-F238E27FC236}">
                <a16:creationId xmlns:a16="http://schemas.microsoft.com/office/drawing/2014/main" id="{093EDBB9-0D54-A04B-C2AE-41E01F46EE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6106" y="1444709"/>
            <a:ext cx="612271" cy="501479"/>
          </a:xfrm>
          <a:prstGeom prst="rect">
            <a:avLst/>
          </a:prstGeom>
        </p:spPr>
      </p:pic>
      <p:sp>
        <p:nvSpPr>
          <p:cNvPr id="61" name="TextBox 24">
            <a:extLst>
              <a:ext uri="{FF2B5EF4-FFF2-40B4-BE49-F238E27FC236}">
                <a16:creationId xmlns:a16="http://schemas.microsoft.com/office/drawing/2014/main" id="{2786C646-6FB8-5E09-69D9-4F6B5B8FFD9D}"/>
              </a:ext>
            </a:extLst>
          </p:cNvPr>
          <p:cNvSpPr txBox="1"/>
          <p:nvPr/>
        </p:nvSpPr>
        <p:spPr>
          <a:xfrm flipV="1">
            <a:off x="12496800" y="3025486"/>
            <a:ext cx="2807825" cy="9785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105"/>
              </a:lnSpc>
              <a:spcBef>
                <a:spcPct val="0"/>
              </a:spcBef>
            </a:pPr>
            <a:r>
              <a:rPr lang="en-US" sz="2000" b="1" spc="23" dirty="0">
                <a:solidFill>
                  <a:srgbClr val="00659D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NORMAS REGULATÓRIAS</a:t>
            </a:r>
          </a:p>
        </p:txBody>
      </p:sp>
      <p:pic>
        <p:nvPicPr>
          <p:cNvPr id="62" name="Imagem 61">
            <a:extLst>
              <a:ext uri="{FF2B5EF4-FFF2-40B4-BE49-F238E27FC236}">
                <a16:creationId xmlns:a16="http://schemas.microsoft.com/office/drawing/2014/main" id="{9F1F43D3-74D9-1FBB-5A9E-43F4FC7E196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3399" y="1410068"/>
            <a:ext cx="1877401" cy="457383"/>
          </a:xfrm>
          <a:prstGeom prst="rect">
            <a:avLst/>
          </a:prstGeom>
        </p:spPr>
      </p:pic>
      <p:pic>
        <p:nvPicPr>
          <p:cNvPr id="63" name="Imagem 62">
            <a:extLst>
              <a:ext uri="{FF2B5EF4-FFF2-40B4-BE49-F238E27FC236}">
                <a16:creationId xmlns:a16="http://schemas.microsoft.com/office/drawing/2014/main" id="{1A158BDF-F939-D2F0-6F78-F75462FB92D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46105" y="2192412"/>
            <a:ext cx="612272" cy="638513"/>
          </a:xfrm>
          <a:prstGeom prst="rect">
            <a:avLst/>
          </a:prstGeom>
        </p:spPr>
      </p:pic>
      <p:pic>
        <p:nvPicPr>
          <p:cNvPr id="64" name="Imagem 63">
            <a:extLst>
              <a:ext uri="{FF2B5EF4-FFF2-40B4-BE49-F238E27FC236}">
                <a16:creationId xmlns:a16="http://schemas.microsoft.com/office/drawing/2014/main" id="{1A05FFFD-12EE-7B9C-4908-8E128EE3642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23399" y="2141897"/>
            <a:ext cx="2868001" cy="518205"/>
          </a:xfrm>
          <a:prstGeom prst="rect">
            <a:avLst/>
          </a:prstGeom>
        </p:spPr>
      </p:pic>
      <p:pic>
        <p:nvPicPr>
          <p:cNvPr id="65" name="Imagem 64">
            <a:extLst>
              <a:ext uri="{FF2B5EF4-FFF2-40B4-BE49-F238E27FC236}">
                <a16:creationId xmlns:a16="http://schemas.microsoft.com/office/drawing/2014/main" id="{9B82A47D-46DA-6A71-F6BB-E515CA4CBFF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81970" y="3064684"/>
            <a:ext cx="641429" cy="638514"/>
          </a:xfrm>
          <a:prstGeom prst="rect">
            <a:avLst/>
          </a:prstGeom>
        </p:spPr>
      </p:pic>
      <p:pic>
        <p:nvPicPr>
          <p:cNvPr id="68" name="Imagem 67">
            <a:extLst>
              <a:ext uri="{FF2B5EF4-FFF2-40B4-BE49-F238E27FC236}">
                <a16:creationId xmlns:a16="http://schemas.microsoft.com/office/drawing/2014/main" id="{6A05567F-9081-E9E9-2F19-0F897B5F4EF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46436" y="3064684"/>
            <a:ext cx="1942599" cy="446273"/>
          </a:xfrm>
          <a:prstGeom prst="rect">
            <a:avLst/>
          </a:prstGeom>
        </p:spPr>
      </p:pic>
      <p:pic>
        <p:nvPicPr>
          <p:cNvPr id="69" name="Imagem 68">
            <a:extLst>
              <a:ext uri="{FF2B5EF4-FFF2-40B4-BE49-F238E27FC236}">
                <a16:creationId xmlns:a16="http://schemas.microsoft.com/office/drawing/2014/main" id="{F9066227-383F-F5CF-4C9E-A101BE9947A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76075" y="3949421"/>
            <a:ext cx="618727" cy="766043"/>
          </a:xfrm>
          <a:prstGeom prst="rect">
            <a:avLst/>
          </a:prstGeom>
        </p:spPr>
      </p:pic>
      <p:sp>
        <p:nvSpPr>
          <p:cNvPr id="70" name="TextBox 22">
            <a:extLst>
              <a:ext uri="{FF2B5EF4-FFF2-40B4-BE49-F238E27FC236}">
                <a16:creationId xmlns:a16="http://schemas.microsoft.com/office/drawing/2014/main" id="{895E986B-45E6-78B9-786F-BE83082F1544}"/>
              </a:ext>
            </a:extLst>
          </p:cNvPr>
          <p:cNvSpPr txBox="1"/>
          <p:nvPr/>
        </p:nvSpPr>
        <p:spPr>
          <a:xfrm>
            <a:off x="4668697" y="3998133"/>
            <a:ext cx="1960703" cy="4294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105"/>
              </a:lnSpc>
              <a:spcBef>
                <a:spcPct val="0"/>
              </a:spcBef>
            </a:pPr>
            <a:r>
              <a:rPr lang="en-US" sz="1200" b="1" spc="23" dirty="0">
                <a:solidFill>
                  <a:srgbClr val="00659D"/>
                </a:solidFill>
                <a:latin typeface="Proxima Nova Heavy"/>
                <a:sym typeface="Proxima Nova Heavy"/>
              </a:rPr>
              <a:t>EFICIÊNCIA</a:t>
            </a:r>
          </a:p>
        </p:txBody>
      </p:sp>
    </p:spTree>
    <p:extLst>
      <p:ext uri="{BB962C8B-B14F-4D97-AF65-F5344CB8AC3E}">
        <p14:creationId xmlns:p14="http://schemas.microsoft.com/office/powerpoint/2010/main" val="38947291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5">
            <a:extLst>
              <a:ext uri="{FF2B5EF4-FFF2-40B4-BE49-F238E27FC236}">
                <a16:creationId xmlns:a16="http://schemas.microsoft.com/office/drawing/2014/main" id="{F0013B49-8C87-2112-CDBF-0A8483A3D86F}"/>
              </a:ext>
            </a:extLst>
          </p:cNvPr>
          <p:cNvSpPr txBox="1"/>
          <p:nvPr/>
        </p:nvSpPr>
        <p:spPr>
          <a:xfrm>
            <a:off x="411480" y="726440"/>
            <a:ext cx="3550920" cy="214995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700" marR="5080">
              <a:lnSpc>
                <a:spcPts val="1360"/>
              </a:lnSpc>
              <a:spcBef>
                <a:spcPts val="210"/>
              </a:spcBef>
            </a:pPr>
            <a:r>
              <a:rPr lang="pt-BR" b="1" spc="-10" dirty="0">
                <a:solidFill>
                  <a:srgbClr val="2B475E"/>
                </a:solidFill>
                <a:latin typeface="Georgia" panose="02040502050405020303" pitchFamily="18" charset="0"/>
                <a:cs typeface="Trebuchet MS"/>
              </a:rPr>
              <a:t>Casa de Saúde Santa Rita - SP</a:t>
            </a:r>
            <a:endParaRPr dirty="0">
              <a:latin typeface="Georgia" panose="02040502050405020303" pitchFamily="18" charset="0"/>
              <a:cs typeface="Trebuchet MS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FAF3D78-3701-ECF5-7AE1-9EE8A60F6419}"/>
              </a:ext>
            </a:extLst>
          </p:cNvPr>
          <p:cNvSpPr txBox="1"/>
          <p:nvPr/>
        </p:nvSpPr>
        <p:spPr>
          <a:xfrm>
            <a:off x="317205" y="1519193"/>
            <a:ext cx="6371980" cy="11555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210"/>
              </a:spcBef>
            </a:pPr>
            <a:r>
              <a:rPr lang="pt-BR" sz="1600" b="1" spc="-10" dirty="0">
                <a:solidFill>
                  <a:srgbClr val="2B475E"/>
                </a:solidFill>
                <a:latin typeface="Georgia" panose="02040502050405020303" pitchFamily="18" charset="0"/>
                <a:cs typeface="Trebuchet MS"/>
              </a:rPr>
              <a:t>Proposta de Gestão Automatizada e Rastreabilidade, Manutenções de instrumentais, consignação de insumos do sistema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C0A0C6F-2549-0F18-BC6D-95D356A72788}"/>
              </a:ext>
            </a:extLst>
          </p:cNvPr>
          <p:cNvSpPr txBox="1"/>
          <p:nvPr/>
        </p:nvSpPr>
        <p:spPr>
          <a:xfrm>
            <a:off x="352646" y="2365872"/>
            <a:ext cx="5819553" cy="986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210"/>
              </a:spcBef>
            </a:pPr>
            <a:endParaRPr lang="pt-BR" sz="1400" b="1" spc="-10" dirty="0">
              <a:solidFill>
                <a:srgbClr val="2B475E"/>
              </a:solidFill>
              <a:latin typeface="Trebuchet MS"/>
              <a:cs typeface="Trebuchet MS"/>
            </a:endParaRPr>
          </a:p>
          <a:p>
            <a:pPr marL="12700" marR="5080">
              <a:lnSpc>
                <a:spcPct val="150000"/>
              </a:lnSpc>
              <a:spcBef>
                <a:spcPts val="210"/>
              </a:spcBef>
            </a:pPr>
            <a:endParaRPr lang="pt-BR" sz="1200" b="1" spc="-10" dirty="0">
              <a:solidFill>
                <a:srgbClr val="2B475E"/>
              </a:solidFill>
              <a:latin typeface="Trebuchet MS"/>
              <a:cs typeface="Trebuchet MS"/>
            </a:endParaRPr>
          </a:p>
          <a:p>
            <a:pPr marL="12700" marR="5080">
              <a:lnSpc>
                <a:spcPct val="150000"/>
              </a:lnSpc>
              <a:spcBef>
                <a:spcPts val="210"/>
              </a:spcBef>
            </a:pPr>
            <a:endParaRPr lang="pt-BR" sz="1200" b="1" spc="-10" dirty="0">
              <a:solidFill>
                <a:srgbClr val="2B475E"/>
              </a:solidFill>
              <a:latin typeface="Trebuchet MS"/>
              <a:cs typeface="Trebuchet MS"/>
            </a:endParaRPr>
          </a:p>
        </p:txBody>
      </p:sp>
      <p:pic>
        <p:nvPicPr>
          <p:cNvPr id="10" name="Imagem 9" descr="Logotipo&#10;&#10;O conteúdo gerado por IA pode estar incorreto.">
            <a:extLst>
              <a:ext uri="{FF2B5EF4-FFF2-40B4-BE49-F238E27FC236}">
                <a16:creationId xmlns:a16="http://schemas.microsoft.com/office/drawing/2014/main" id="{0EC85D88-5AEA-732F-DB33-4AEE91DD9EE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1248" y="38100"/>
            <a:ext cx="1827937" cy="800100"/>
          </a:xfrm>
          <a:prstGeom prst="rect">
            <a:avLst/>
          </a:prstGeom>
        </p:spPr>
      </p:pic>
      <p:sp>
        <p:nvSpPr>
          <p:cNvPr id="11" name="object 20">
            <a:extLst>
              <a:ext uri="{FF2B5EF4-FFF2-40B4-BE49-F238E27FC236}">
                <a16:creationId xmlns:a16="http://schemas.microsoft.com/office/drawing/2014/main" id="{BC2C7575-5757-03D1-EF65-F3F583686736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2080260" y="8905622"/>
            <a:ext cx="2764790" cy="155812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10" dirty="0">
                <a:solidFill>
                  <a:schemeClr val="tx2">
                    <a:lumMod val="50000"/>
                  </a:schemeClr>
                </a:solidFill>
              </a:rPr>
              <a:t>CMEtK</a:t>
            </a:r>
            <a:r>
              <a:rPr spc="-35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spc="-10" dirty="0">
                <a:solidFill>
                  <a:schemeClr val="tx2">
                    <a:lumMod val="50000"/>
                  </a:schemeClr>
                </a:solidFill>
              </a:rPr>
              <a:t>Soluções</a:t>
            </a:r>
            <a:r>
              <a:rPr spc="-25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spc="-10" dirty="0">
                <a:solidFill>
                  <a:schemeClr val="tx2">
                    <a:lumMod val="50000"/>
                  </a:schemeClr>
                </a:solidFill>
              </a:rPr>
              <a:t>Hospitalares</a:t>
            </a:r>
            <a:r>
              <a:rPr spc="-5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spc="-10" dirty="0">
                <a:solidFill>
                  <a:schemeClr val="tx2">
                    <a:lumMod val="50000"/>
                  </a:schemeClr>
                </a:solidFill>
              </a:rPr>
              <a:t>Ltda</a:t>
            </a:r>
            <a:r>
              <a:rPr spc="-2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spc="-10" dirty="0">
                <a:solidFill>
                  <a:schemeClr val="tx2">
                    <a:lumMod val="50000"/>
                  </a:schemeClr>
                </a:solidFill>
              </a:rPr>
              <a:t>-</a:t>
            </a:r>
            <a:r>
              <a:rPr spc="-3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spc="-10" dirty="0">
                <a:solidFill>
                  <a:schemeClr val="tx2">
                    <a:lumMod val="50000"/>
                  </a:schemeClr>
                </a:solidFill>
              </a:rPr>
              <a:t>Confidencial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825E64FA-5CFF-ED81-F84E-835A04A55D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0204127"/>
              </p:ext>
            </p:extLst>
          </p:nvPr>
        </p:nvGraphicFramePr>
        <p:xfrm>
          <a:off x="685801" y="2895600"/>
          <a:ext cx="567689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09310">
                  <a:extLst>
                    <a:ext uri="{9D8B030D-6E8A-4147-A177-3AD203B41FA5}">
                      <a16:colId xmlns:a16="http://schemas.microsoft.com/office/drawing/2014/main" val="1900065184"/>
                    </a:ext>
                  </a:extLst>
                </a:gridCol>
                <a:gridCol w="1167589">
                  <a:extLst>
                    <a:ext uri="{9D8B030D-6E8A-4147-A177-3AD203B41FA5}">
                      <a16:colId xmlns:a16="http://schemas.microsoft.com/office/drawing/2014/main" val="1075887613"/>
                    </a:ext>
                  </a:extLst>
                </a:gridCol>
              </a:tblGrid>
              <a:tr h="321724">
                <a:tc>
                  <a:txBody>
                    <a:bodyPr/>
                    <a:lstStyle/>
                    <a:p>
                      <a:r>
                        <a:rPr lang="pt-BR" dirty="0"/>
                        <a:t>Atividade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Proposta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5352808"/>
                  </a:ext>
                </a:extLst>
              </a:tr>
              <a:tr h="321724">
                <a:tc>
                  <a:txBody>
                    <a:bodyPr/>
                    <a:lstStyle/>
                    <a:p>
                      <a:pPr algn="just"/>
                      <a:r>
                        <a:rPr lang="pt-BR" dirty="0"/>
                        <a:t>Manutenção de instrumentais</a:t>
                      </a:r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/>
                      <a:endParaRPr lang="pt-BR" dirty="0"/>
                    </a:p>
                    <a:p>
                      <a:pPr algn="ctr"/>
                      <a:endParaRPr lang="pt-BR" dirty="0"/>
                    </a:p>
                    <a:p>
                      <a:pPr algn="ctr"/>
                      <a:r>
                        <a:rPr lang="pt-BR" dirty="0"/>
                        <a:t>Incluso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9680184"/>
                  </a:ext>
                </a:extLst>
              </a:tr>
              <a:tr h="321724">
                <a:tc>
                  <a:txBody>
                    <a:bodyPr/>
                    <a:lstStyle/>
                    <a:p>
                      <a:r>
                        <a:rPr lang="pt-BR" dirty="0"/>
                        <a:t>Sistema de rastreabilidade para CME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4132984"/>
                  </a:ext>
                </a:extLst>
              </a:tr>
              <a:tr h="321724">
                <a:tc>
                  <a:txBody>
                    <a:bodyPr/>
                    <a:lstStyle/>
                    <a:p>
                      <a:r>
                        <a:rPr lang="pt-BR" dirty="0"/>
                        <a:t>Insumos do sistema rastreabilidade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7257916"/>
                  </a:ext>
                </a:extLst>
              </a:tr>
              <a:tr h="321724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5908761"/>
                  </a:ext>
                </a:extLst>
              </a:tr>
            </a:tbl>
          </a:graphicData>
        </a:graphic>
      </p:graphicFrame>
      <p:sp>
        <p:nvSpPr>
          <p:cNvPr id="8" name="CaixaDeTexto 7">
            <a:extLst>
              <a:ext uri="{FF2B5EF4-FFF2-40B4-BE49-F238E27FC236}">
                <a16:creationId xmlns:a16="http://schemas.microsoft.com/office/drawing/2014/main" id="{B858EF70-C0B5-723D-F08F-04803C5AACFF}"/>
              </a:ext>
            </a:extLst>
          </p:cNvPr>
          <p:cNvSpPr txBox="1"/>
          <p:nvPr/>
        </p:nvSpPr>
        <p:spPr>
          <a:xfrm>
            <a:off x="533400" y="5019422"/>
            <a:ext cx="5562600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50000"/>
                  </a:schemeClr>
                </a:solidFill>
              </a:rPr>
              <a:t>Total mensal: R$ 52.900,00</a:t>
            </a:r>
          </a:p>
          <a:p>
            <a:r>
              <a:rPr lang="pt-BR" b="1" dirty="0">
                <a:solidFill>
                  <a:schemeClr val="tx2">
                    <a:lumMod val="50000"/>
                  </a:schemeClr>
                </a:solidFill>
              </a:rPr>
              <a:t>Taxa de implantação: R$ 42.900,00</a:t>
            </a:r>
          </a:p>
          <a:p>
            <a:endParaRPr lang="pt-BR" dirty="0">
              <a:solidFill>
                <a:schemeClr val="tx2">
                  <a:lumMod val="50000"/>
                </a:schemeClr>
              </a:solidFill>
            </a:endParaRPr>
          </a:p>
          <a:p>
            <a:pPr algn="just"/>
            <a:r>
              <a:rPr lang="pt-BR" sz="1600" dirty="0">
                <a:solidFill>
                  <a:schemeClr val="tx2">
                    <a:lumMod val="50000"/>
                  </a:schemeClr>
                </a:solidFill>
              </a:rPr>
              <a:t>*Valores baseados em até 1000 cirurgias/mês. Excedendo este número em até 1000 cirurgias/mês, será cobrado um acréscimo de 18% no período</a:t>
            </a:r>
          </a:p>
        </p:txBody>
      </p:sp>
    </p:spTree>
    <p:extLst>
      <p:ext uri="{BB962C8B-B14F-4D97-AF65-F5344CB8AC3E}">
        <p14:creationId xmlns:p14="http://schemas.microsoft.com/office/powerpoint/2010/main" val="6543773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71F45CA-E466-720F-3094-B8530C108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5">
            <a:extLst>
              <a:ext uri="{FF2B5EF4-FFF2-40B4-BE49-F238E27FC236}">
                <a16:creationId xmlns:a16="http://schemas.microsoft.com/office/drawing/2014/main" id="{AC311C39-6E2D-2150-5111-858F024AE143}"/>
              </a:ext>
            </a:extLst>
          </p:cNvPr>
          <p:cNvSpPr txBox="1"/>
          <p:nvPr/>
        </p:nvSpPr>
        <p:spPr>
          <a:xfrm>
            <a:off x="411480" y="726440"/>
            <a:ext cx="3550920" cy="214995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700" marR="5080">
              <a:lnSpc>
                <a:spcPts val="1360"/>
              </a:lnSpc>
              <a:spcBef>
                <a:spcPts val="210"/>
              </a:spcBef>
            </a:pPr>
            <a:r>
              <a:rPr lang="pt-BR" b="1" spc="-10" dirty="0">
                <a:solidFill>
                  <a:srgbClr val="2B475E"/>
                </a:solidFill>
                <a:latin typeface="Georgia" panose="02040502050405020303" pitchFamily="18" charset="0"/>
                <a:cs typeface="Trebuchet MS"/>
              </a:rPr>
              <a:t>Casa de Saúde Santa Rita - SP</a:t>
            </a:r>
            <a:endParaRPr dirty="0">
              <a:latin typeface="Georgia" panose="02040502050405020303" pitchFamily="18" charset="0"/>
              <a:cs typeface="Trebuchet MS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83AA3C9-795D-3A46-1CDA-536940175152}"/>
              </a:ext>
            </a:extLst>
          </p:cNvPr>
          <p:cNvSpPr txBox="1"/>
          <p:nvPr/>
        </p:nvSpPr>
        <p:spPr>
          <a:xfrm>
            <a:off x="317205" y="1519193"/>
            <a:ext cx="6371980" cy="11555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210"/>
              </a:spcBef>
            </a:pPr>
            <a:r>
              <a:rPr lang="pt-BR" sz="1600" b="1" spc="-10" dirty="0">
                <a:solidFill>
                  <a:srgbClr val="2B475E"/>
                </a:solidFill>
                <a:latin typeface="Georgia" panose="02040502050405020303" pitchFamily="18" charset="0"/>
                <a:cs typeface="Trebuchet MS"/>
              </a:rPr>
              <a:t>Proposta de Gestão Automatizada e Rastreabilidade, Manutenções de instrumentais, consignação de insumos do sistema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626D556-0070-895A-6578-C80506B072FA}"/>
              </a:ext>
            </a:extLst>
          </p:cNvPr>
          <p:cNvSpPr txBox="1"/>
          <p:nvPr/>
        </p:nvSpPr>
        <p:spPr>
          <a:xfrm>
            <a:off x="352646" y="2365872"/>
            <a:ext cx="5819553" cy="986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210"/>
              </a:spcBef>
            </a:pPr>
            <a:endParaRPr lang="pt-BR" sz="1400" b="1" spc="-10" dirty="0">
              <a:solidFill>
                <a:srgbClr val="2B475E"/>
              </a:solidFill>
              <a:latin typeface="Trebuchet MS"/>
              <a:cs typeface="Trebuchet MS"/>
            </a:endParaRPr>
          </a:p>
          <a:p>
            <a:pPr marL="12700" marR="5080">
              <a:lnSpc>
                <a:spcPct val="150000"/>
              </a:lnSpc>
              <a:spcBef>
                <a:spcPts val="210"/>
              </a:spcBef>
            </a:pPr>
            <a:endParaRPr lang="pt-BR" sz="1200" b="1" spc="-10" dirty="0">
              <a:solidFill>
                <a:srgbClr val="2B475E"/>
              </a:solidFill>
              <a:latin typeface="Trebuchet MS"/>
              <a:cs typeface="Trebuchet MS"/>
            </a:endParaRPr>
          </a:p>
          <a:p>
            <a:pPr marL="12700" marR="5080">
              <a:lnSpc>
                <a:spcPct val="150000"/>
              </a:lnSpc>
              <a:spcBef>
                <a:spcPts val="210"/>
              </a:spcBef>
            </a:pPr>
            <a:endParaRPr lang="pt-BR" sz="1200" b="1" spc="-10" dirty="0">
              <a:solidFill>
                <a:srgbClr val="2B475E"/>
              </a:solidFill>
              <a:latin typeface="Trebuchet MS"/>
              <a:cs typeface="Trebuchet MS"/>
            </a:endParaRPr>
          </a:p>
        </p:txBody>
      </p:sp>
      <p:pic>
        <p:nvPicPr>
          <p:cNvPr id="10" name="Imagem 9" descr="Logotipo&#10;&#10;O conteúdo gerado por IA pode estar incorreto.">
            <a:extLst>
              <a:ext uri="{FF2B5EF4-FFF2-40B4-BE49-F238E27FC236}">
                <a16:creationId xmlns:a16="http://schemas.microsoft.com/office/drawing/2014/main" id="{25196D50-F726-7DE0-78CB-AFF67D6565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1248" y="38100"/>
            <a:ext cx="1827937" cy="800100"/>
          </a:xfrm>
          <a:prstGeom prst="rect">
            <a:avLst/>
          </a:prstGeom>
        </p:spPr>
      </p:pic>
      <p:sp>
        <p:nvSpPr>
          <p:cNvPr id="11" name="object 20">
            <a:extLst>
              <a:ext uri="{FF2B5EF4-FFF2-40B4-BE49-F238E27FC236}">
                <a16:creationId xmlns:a16="http://schemas.microsoft.com/office/drawing/2014/main" id="{1CFB93B7-865A-2180-47C1-B54BAFDF701A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2080260" y="8905622"/>
            <a:ext cx="2764790" cy="155812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10" dirty="0">
                <a:solidFill>
                  <a:schemeClr val="tx2">
                    <a:lumMod val="50000"/>
                  </a:schemeClr>
                </a:solidFill>
              </a:rPr>
              <a:t>CMEtK</a:t>
            </a:r>
            <a:r>
              <a:rPr spc="-35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spc="-10" dirty="0">
                <a:solidFill>
                  <a:schemeClr val="tx2">
                    <a:lumMod val="50000"/>
                  </a:schemeClr>
                </a:solidFill>
              </a:rPr>
              <a:t>Soluções</a:t>
            </a:r>
            <a:r>
              <a:rPr spc="-25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spc="-10" dirty="0">
                <a:solidFill>
                  <a:schemeClr val="tx2">
                    <a:lumMod val="50000"/>
                  </a:schemeClr>
                </a:solidFill>
              </a:rPr>
              <a:t>Hospitalares</a:t>
            </a:r>
            <a:r>
              <a:rPr spc="-5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spc="-10" dirty="0">
                <a:solidFill>
                  <a:schemeClr val="tx2">
                    <a:lumMod val="50000"/>
                  </a:schemeClr>
                </a:solidFill>
              </a:rPr>
              <a:t>Ltda</a:t>
            </a:r>
            <a:r>
              <a:rPr spc="-2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spc="-10" dirty="0">
                <a:solidFill>
                  <a:schemeClr val="tx2">
                    <a:lumMod val="50000"/>
                  </a:schemeClr>
                </a:solidFill>
              </a:rPr>
              <a:t>-</a:t>
            </a:r>
            <a:r>
              <a:rPr spc="-3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spc="-10" dirty="0">
                <a:solidFill>
                  <a:schemeClr val="tx2">
                    <a:lumMod val="50000"/>
                  </a:schemeClr>
                </a:solidFill>
              </a:rPr>
              <a:t>Confidencial</a:t>
            </a:r>
          </a:p>
        </p:txBody>
      </p:sp>
      <p:pic>
        <p:nvPicPr>
          <p:cNvPr id="3074" name="Picture 2" descr="Hospital Santa Rita SP | Hospitais, Melhores planos de saude, Ortopedia ...">
            <a:extLst>
              <a:ext uri="{FF2B5EF4-FFF2-40B4-BE49-F238E27FC236}">
                <a16:creationId xmlns:a16="http://schemas.microsoft.com/office/drawing/2014/main" id="{11BD5189-511E-73CF-74B5-EF9F362C7F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185" y="6617335"/>
            <a:ext cx="6477000" cy="1800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10362CFE-A1AB-A006-30EF-637FAEF17D80}"/>
              </a:ext>
            </a:extLst>
          </p:cNvPr>
          <p:cNvSpPr txBox="1"/>
          <p:nvPr/>
        </p:nvSpPr>
        <p:spPr>
          <a:xfrm>
            <a:off x="533400" y="2895601"/>
            <a:ext cx="541020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2">
                    <a:lumMod val="50000"/>
                  </a:schemeClr>
                </a:solidFill>
              </a:rPr>
              <a:t>Incluso treinamentos em loco durante a implantação do sistema e pronto atendimento Help Desk remoto via Whatsapp.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2">
                    <a:lumMod val="50000"/>
                  </a:schemeClr>
                </a:solidFill>
              </a:rPr>
              <a:t>Equipe técnica fara acompanhamento remoto e esporadicamente no local para acompanhamento.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2">
                    <a:lumMod val="50000"/>
                  </a:schemeClr>
                </a:solidFill>
              </a:rPr>
              <a:t>Será apresentado relatórios mensais e discutidos com a equipe técnica para estudar os dados gerados pelo sistema. Será discutido melhorias no processo no intuito de agilidade e redução de custos.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2">
                    <a:lumMod val="50000"/>
                  </a:schemeClr>
                </a:solidFill>
              </a:rPr>
              <a:t>Nosso objetivo é reduzir o custo da CME em até 20 porcento nos 12 primeiros meses de uso.</a:t>
            </a:r>
          </a:p>
          <a:p>
            <a:pPr algn="just"/>
            <a:endParaRPr lang="pt-BR" sz="1400" dirty="0">
              <a:solidFill>
                <a:schemeClr val="tx2">
                  <a:lumMod val="50000"/>
                </a:schemeClr>
              </a:solidFill>
            </a:endParaRPr>
          </a:p>
          <a:p>
            <a:pPr algn="just"/>
            <a:r>
              <a:rPr lang="pt-BR" sz="1400" dirty="0">
                <a:solidFill>
                  <a:schemeClr val="tx2">
                    <a:lumMod val="50000"/>
                  </a:schemeClr>
                </a:solidFill>
              </a:rPr>
              <a:t>Validade da proposta: 60 dias</a:t>
            </a:r>
          </a:p>
        </p:txBody>
      </p:sp>
    </p:spTree>
    <p:extLst>
      <p:ext uri="{BB962C8B-B14F-4D97-AF65-F5344CB8AC3E}">
        <p14:creationId xmlns:p14="http://schemas.microsoft.com/office/powerpoint/2010/main" val="11089228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26D89366-1B27-22F4-F38E-36C4C74A9667}"/>
              </a:ext>
            </a:extLst>
          </p:cNvPr>
          <p:cNvSpPr txBox="1"/>
          <p:nvPr/>
        </p:nvSpPr>
        <p:spPr>
          <a:xfrm>
            <a:off x="168814" y="795338"/>
            <a:ext cx="4914900" cy="898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210"/>
              </a:spcBef>
            </a:pPr>
            <a:r>
              <a:rPr lang="pt-BR" sz="1800" b="1" spc="-10" dirty="0">
                <a:solidFill>
                  <a:srgbClr val="2B475E"/>
                </a:solidFill>
                <a:latin typeface="Trebuchet MS"/>
                <a:cs typeface="Trebuchet MS"/>
              </a:rPr>
              <a:t>1- Gestão Automatizada e Rastreabilidade</a:t>
            </a:r>
          </a:p>
          <a:p>
            <a:pPr marL="12700" marR="5080">
              <a:lnSpc>
                <a:spcPct val="150000"/>
              </a:lnSpc>
              <a:spcBef>
                <a:spcPts val="210"/>
              </a:spcBef>
            </a:pPr>
            <a:endParaRPr lang="pt-BR" sz="1800" b="1" spc="-10" dirty="0">
              <a:solidFill>
                <a:srgbClr val="2B475E"/>
              </a:solidFill>
              <a:latin typeface="Trebuchet MS"/>
              <a:cs typeface="Trebuchet MS"/>
            </a:endParaRPr>
          </a:p>
        </p:txBody>
      </p:sp>
      <p:pic>
        <p:nvPicPr>
          <p:cNvPr id="10" name="Imagem 9" descr="Logotipo&#10;&#10;O conteúdo gerado por IA pode estar incorreto.">
            <a:extLst>
              <a:ext uri="{FF2B5EF4-FFF2-40B4-BE49-F238E27FC236}">
                <a16:creationId xmlns:a16="http://schemas.microsoft.com/office/drawing/2014/main" id="{2F17E958-9E87-4C51-3480-F9BE79EC4F2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38100"/>
            <a:ext cx="1507586" cy="659880"/>
          </a:xfrm>
          <a:prstGeom prst="rect">
            <a:avLst/>
          </a:prstGeom>
        </p:spPr>
      </p:pic>
      <p:sp>
        <p:nvSpPr>
          <p:cNvPr id="11" name="object 20">
            <a:extLst>
              <a:ext uri="{FF2B5EF4-FFF2-40B4-BE49-F238E27FC236}">
                <a16:creationId xmlns:a16="http://schemas.microsoft.com/office/drawing/2014/main" id="{5902B4C9-23C6-E9F8-D1A0-380D90F0C12E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2080260" y="8905622"/>
            <a:ext cx="2764790" cy="155812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10" dirty="0">
                <a:solidFill>
                  <a:schemeClr val="tx2">
                    <a:lumMod val="50000"/>
                  </a:schemeClr>
                </a:solidFill>
              </a:rPr>
              <a:t>CMEtK</a:t>
            </a:r>
            <a:r>
              <a:rPr spc="-35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spc="-10" dirty="0">
                <a:solidFill>
                  <a:schemeClr val="tx2">
                    <a:lumMod val="50000"/>
                  </a:schemeClr>
                </a:solidFill>
              </a:rPr>
              <a:t>Soluções</a:t>
            </a:r>
            <a:r>
              <a:rPr spc="-25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spc="-10" dirty="0">
                <a:solidFill>
                  <a:schemeClr val="tx2">
                    <a:lumMod val="50000"/>
                  </a:schemeClr>
                </a:solidFill>
              </a:rPr>
              <a:t>Hospitalares</a:t>
            </a:r>
            <a:r>
              <a:rPr spc="-5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spc="-10" dirty="0">
                <a:solidFill>
                  <a:schemeClr val="tx2">
                    <a:lumMod val="50000"/>
                  </a:schemeClr>
                </a:solidFill>
              </a:rPr>
              <a:t>Ltda</a:t>
            </a:r>
            <a:r>
              <a:rPr spc="-2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spc="-10" dirty="0">
                <a:solidFill>
                  <a:schemeClr val="tx2">
                    <a:lumMod val="50000"/>
                  </a:schemeClr>
                </a:solidFill>
              </a:rPr>
              <a:t>-</a:t>
            </a:r>
            <a:r>
              <a:rPr spc="-3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spc="-10" dirty="0">
                <a:solidFill>
                  <a:schemeClr val="tx2">
                    <a:lumMod val="50000"/>
                  </a:schemeClr>
                </a:solidFill>
              </a:rPr>
              <a:t>Confidencial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6409A8A-C551-7F1E-6CB5-65133B461189}"/>
              </a:ext>
            </a:extLst>
          </p:cNvPr>
          <p:cNvSpPr txBox="1"/>
          <p:nvPr/>
        </p:nvSpPr>
        <p:spPr>
          <a:xfrm>
            <a:off x="304800" y="1524000"/>
            <a:ext cx="5638800" cy="71327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200" dirty="0">
                <a:solidFill>
                  <a:schemeClr val="tx2">
                    <a:lumMod val="50000"/>
                  </a:schemeClr>
                </a:solidFill>
              </a:rPr>
              <a:t>A ferramenta tem como objetivo permitir a identificação, gestão e rastreabilidade de insumos, materiais e processos nas Centrais de Materiais Esterilizados (CME). Seu funcionamento ocorre por meio de uma plataforma digital acessível em dispositivos móveis, como tablets, garantindo o registro e a organização de informações essenciais.</a:t>
            </a:r>
          </a:p>
          <a:p>
            <a:pPr algn="just">
              <a:lnSpc>
                <a:spcPct val="150000"/>
              </a:lnSpc>
            </a:pPr>
            <a:r>
              <a:rPr lang="pt-BR" sz="1200" dirty="0">
                <a:solidFill>
                  <a:schemeClr val="tx2">
                    <a:lumMod val="50000"/>
                  </a:schemeClr>
                </a:solidFill>
              </a:rPr>
              <a:t>Para assegurar controle e segurança operacional, cada item ou caixa será identificado por etiquetas específicas e registro fotográfico. A plataforma também possibilita a geração de relatórios sobre perdas, extravios, produtividade, vencimento, arsenal, consertos, planejamento orçamentário e ações preventivas, entre outros, a depender da necessidade da instituição.</a:t>
            </a:r>
          </a:p>
          <a:p>
            <a:pPr algn="just">
              <a:lnSpc>
                <a:spcPct val="150000"/>
              </a:lnSpc>
            </a:pPr>
            <a:endParaRPr lang="pt-BR" sz="500" dirty="0">
              <a:solidFill>
                <a:schemeClr val="tx2">
                  <a:lumMod val="50000"/>
                </a:scheme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pt-BR" sz="1200" dirty="0">
                <a:solidFill>
                  <a:schemeClr val="tx2">
                    <a:lumMod val="50000"/>
                  </a:schemeClr>
                </a:solidFill>
              </a:rPr>
              <a:t>A infraestrutura necessária para o funcionamento adequado do sistema inclui: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2">
                    <a:lumMod val="50000"/>
                  </a:schemeClr>
                </a:solidFill>
              </a:rPr>
              <a:t>Tablets e leitores de QR </a:t>
            </a:r>
            <a:r>
              <a:rPr lang="pt-BR" sz="1200" dirty="0" err="1">
                <a:solidFill>
                  <a:schemeClr val="tx2">
                    <a:lumMod val="50000"/>
                  </a:schemeClr>
                </a:solidFill>
              </a:rPr>
              <a:t>Code</a:t>
            </a:r>
            <a:r>
              <a:rPr lang="pt-BR" sz="1200" dirty="0">
                <a:solidFill>
                  <a:schemeClr val="tx2">
                    <a:lumMod val="50000"/>
                  </a:schemeClr>
                </a:solidFill>
              </a:rPr>
              <a:t>;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2">
                    <a:lumMod val="50000"/>
                  </a:schemeClr>
                </a:solidFill>
              </a:rPr>
              <a:t>Impressoras dedicadas à impressão de etiquetas;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2">
                    <a:lumMod val="50000"/>
                  </a:schemeClr>
                </a:solidFill>
              </a:rPr>
              <a:t>Protocolos de recebimento e retirada de materiais;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2">
                    <a:lumMod val="50000"/>
                  </a:schemeClr>
                </a:solidFill>
              </a:rPr>
              <a:t>Impressoras para geração de relatórios e documentação.</a:t>
            </a:r>
          </a:p>
          <a:p>
            <a:pPr algn="just">
              <a:lnSpc>
                <a:spcPct val="150000"/>
              </a:lnSpc>
            </a:pPr>
            <a:endParaRPr lang="pt-BR" sz="500" dirty="0">
              <a:solidFill>
                <a:schemeClr val="tx2">
                  <a:lumMod val="50000"/>
                </a:scheme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pt-BR" sz="1200" dirty="0">
                <a:solidFill>
                  <a:schemeClr val="tx2">
                    <a:lumMod val="50000"/>
                  </a:schemeClr>
                </a:solidFill>
              </a:rPr>
              <a:t>Todos os dados devem ser armazenados em discos padronizados, garantindo segurança, conformidade e integridade. O backup das informações será mantido por 20 anos, conforme normas do Conselho Federal de Medicina e da LGPD.</a:t>
            </a:r>
          </a:p>
          <a:p>
            <a:pPr algn="just">
              <a:lnSpc>
                <a:spcPct val="150000"/>
              </a:lnSpc>
            </a:pPr>
            <a:r>
              <a:rPr lang="pt-BR" sz="1200" dirty="0">
                <a:solidFill>
                  <a:schemeClr val="tx2">
                    <a:lumMod val="50000"/>
                  </a:schemeClr>
                </a:solidFill>
              </a:rPr>
              <a:t>Além disso, protocolos de conduta e governança operacional devem ser seguidos para garantir desempenho, segurança e disponibilidade. Um dos principais benefícios da ferramenta é permitir a visualização do conteúdo de pacotes esterilizados e do arsenal sem a necessidade de abertura.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1200" dirty="0">
              <a:solidFill>
                <a:schemeClr val="tx2">
                  <a:lumMod val="50000"/>
                </a:schemeClr>
              </a:solidFill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264201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02D102F9-0A78-B77D-7721-F853A54BFFF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5050" y="38100"/>
            <a:ext cx="1844136" cy="807190"/>
          </a:xfrm>
          <a:prstGeom prst="rect">
            <a:avLst/>
          </a:prstGeom>
        </p:spPr>
      </p:pic>
      <p:sp>
        <p:nvSpPr>
          <p:cNvPr id="4" name="object 20">
            <a:extLst>
              <a:ext uri="{FF2B5EF4-FFF2-40B4-BE49-F238E27FC236}">
                <a16:creationId xmlns:a16="http://schemas.microsoft.com/office/drawing/2014/main" id="{B5D552C2-8897-55AF-195F-86F55C3DDC0A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2080260" y="8905622"/>
            <a:ext cx="2764790" cy="155812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10" dirty="0">
                <a:solidFill>
                  <a:schemeClr val="tx2">
                    <a:lumMod val="50000"/>
                  </a:schemeClr>
                </a:solidFill>
              </a:rPr>
              <a:t>CMEtK</a:t>
            </a:r>
            <a:r>
              <a:rPr spc="-35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spc="-10" dirty="0">
                <a:solidFill>
                  <a:schemeClr val="tx2">
                    <a:lumMod val="50000"/>
                  </a:schemeClr>
                </a:solidFill>
              </a:rPr>
              <a:t>Soluções</a:t>
            </a:r>
            <a:r>
              <a:rPr spc="-25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spc="-10" dirty="0">
                <a:solidFill>
                  <a:schemeClr val="tx2">
                    <a:lumMod val="50000"/>
                  </a:schemeClr>
                </a:solidFill>
              </a:rPr>
              <a:t>Hospitalares</a:t>
            </a:r>
            <a:r>
              <a:rPr spc="-5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spc="-10" dirty="0">
                <a:solidFill>
                  <a:schemeClr val="tx2">
                    <a:lumMod val="50000"/>
                  </a:schemeClr>
                </a:solidFill>
              </a:rPr>
              <a:t>Ltda</a:t>
            </a:r>
            <a:r>
              <a:rPr spc="-2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spc="-10" dirty="0">
                <a:solidFill>
                  <a:schemeClr val="tx2">
                    <a:lumMod val="50000"/>
                  </a:schemeClr>
                </a:solidFill>
              </a:rPr>
              <a:t>-</a:t>
            </a:r>
            <a:r>
              <a:rPr spc="-3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spc="-10" dirty="0">
                <a:solidFill>
                  <a:schemeClr val="tx2">
                    <a:lumMod val="50000"/>
                  </a:schemeClr>
                </a:solidFill>
              </a:rPr>
              <a:t>Confidencial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10EED07-0106-E886-6E33-CEB029E1EAD5}"/>
              </a:ext>
            </a:extLst>
          </p:cNvPr>
          <p:cNvSpPr txBox="1"/>
          <p:nvPr/>
        </p:nvSpPr>
        <p:spPr>
          <a:xfrm>
            <a:off x="490855" y="1371600"/>
            <a:ext cx="59436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200" dirty="0">
                <a:solidFill>
                  <a:schemeClr val="tx2">
                    <a:lumMod val="50000"/>
                  </a:schemeClr>
                </a:solidFill>
              </a:rPr>
              <a:t>O sistema garante o controle completo e rastreabilidade, inclusive dos insumos utilizados, em cada etapa do processo, permitindo registros fotográficos em todas as fases. As etapas incluem:</a:t>
            </a:r>
          </a:p>
          <a:p>
            <a:pPr algn="just">
              <a:lnSpc>
                <a:spcPct val="150000"/>
              </a:lnSpc>
            </a:pPr>
            <a:endParaRPr lang="pt-BR" sz="1200" dirty="0">
              <a:solidFill>
                <a:schemeClr val="tx2">
                  <a:lumMod val="50000"/>
                </a:scheme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pt-BR" sz="1200" dirty="0">
                <a:solidFill>
                  <a:schemeClr val="tx2">
                    <a:lumMod val="50000"/>
                  </a:schemeClr>
                </a:solidFill>
              </a:rPr>
              <a:t>Recebimento: Registro dos materiais recebidos, organizados em três categorias: material permanente, material médico e material consignado.</a:t>
            </a:r>
          </a:p>
          <a:p>
            <a:pPr algn="just">
              <a:lnSpc>
                <a:spcPct val="150000"/>
              </a:lnSpc>
            </a:pPr>
            <a:endParaRPr lang="pt-BR" sz="1200" dirty="0">
              <a:solidFill>
                <a:schemeClr val="tx2">
                  <a:lumMod val="50000"/>
                </a:scheme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pt-BR" sz="1200" dirty="0">
                <a:solidFill>
                  <a:schemeClr val="tx2">
                    <a:lumMod val="50000"/>
                  </a:schemeClr>
                </a:solidFill>
              </a:rPr>
              <a:t>Expurgo: Identificação do tipo de lavagem e do equipamento utilizado, podendo ser selecionado manualmente ou via leitura de </a:t>
            </a:r>
            <a:r>
              <a:rPr lang="pt-BR" sz="1200" dirty="0" err="1">
                <a:solidFill>
                  <a:schemeClr val="tx2">
                    <a:lumMod val="50000"/>
                  </a:schemeClr>
                </a:solidFill>
              </a:rPr>
              <a:t>QRCode</a:t>
            </a:r>
            <a:r>
              <a:rPr lang="pt-BR" sz="1200" dirty="0">
                <a:solidFill>
                  <a:schemeClr val="tx2">
                    <a:lumMod val="50000"/>
                  </a:schemeClr>
                </a:solidFill>
              </a:rPr>
              <a:t>.</a:t>
            </a:r>
          </a:p>
          <a:p>
            <a:pPr algn="just">
              <a:lnSpc>
                <a:spcPct val="150000"/>
              </a:lnSpc>
            </a:pPr>
            <a:endParaRPr lang="pt-BR" sz="1200" dirty="0">
              <a:solidFill>
                <a:schemeClr val="tx2">
                  <a:lumMod val="50000"/>
                </a:scheme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pt-BR" sz="1200" dirty="0">
                <a:solidFill>
                  <a:schemeClr val="tx2">
                    <a:lumMod val="50000"/>
                  </a:schemeClr>
                </a:solidFill>
              </a:rPr>
              <a:t>Preparo: Escolha dos materiais necessários para procedimentos cirúrgicos, separados em material médico, hospitalar e consignado.</a:t>
            </a:r>
          </a:p>
          <a:p>
            <a:pPr algn="just">
              <a:lnSpc>
                <a:spcPct val="150000"/>
              </a:lnSpc>
            </a:pPr>
            <a:endParaRPr lang="pt-BR" sz="1200" dirty="0">
              <a:solidFill>
                <a:schemeClr val="tx2">
                  <a:lumMod val="50000"/>
                </a:scheme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pt-BR" sz="1200" dirty="0">
                <a:solidFill>
                  <a:schemeClr val="tx2">
                    <a:lumMod val="50000"/>
                  </a:schemeClr>
                </a:solidFill>
              </a:rPr>
              <a:t>Esterilização: Controle dos pacotes esterilizados, incluindo informações sobre quantidade, lote e registro fotográfico do conteúdo.</a:t>
            </a:r>
          </a:p>
          <a:p>
            <a:pPr algn="just">
              <a:lnSpc>
                <a:spcPct val="150000"/>
              </a:lnSpc>
            </a:pPr>
            <a:endParaRPr lang="pt-BR" sz="1200" dirty="0">
              <a:solidFill>
                <a:schemeClr val="tx2">
                  <a:lumMod val="50000"/>
                </a:scheme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pt-BR" sz="1200" dirty="0">
                <a:solidFill>
                  <a:schemeClr val="tx2">
                    <a:lumMod val="50000"/>
                  </a:schemeClr>
                </a:solidFill>
              </a:rPr>
              <a:t>Arsenal: Gestão do armazenamento dos materiais processados, com etapas de conferência, acondicionamento e liberação para utilização.</a:t>
            </a:r>
          </a:p>
          <a:p>
            <a:pPr algn="just">
              <a:lnSpc>
                <a:spcPct val="150000"/>
              </a:lnSpc>
            </a:pPr>
            <a:endParaRPr lang="pt-BR" sz="1200" dirty="0">
              <a:solidFill>
                <a:schemeClr val="tx2">
                  <a:lumMod val="50000"/>
                </a:schemeClr>
              </a:solidFill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192363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9BEB5F6C-2236-8C17-ABF6-87FEB772274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8100"/>
            <a:ext cx="2117186" cy="926706"/>
          </a:xfrm>
          <a:prstGeom prst="rect">
            <a:avLst/>
          </a:prstGeom>
        </p:spPr>
      </p:pic>
      <p:sp>
        <p:nvSpPr>
          <p:cNvPr id="4" name="object 20">
            <a:extLst>
              <a:ext uri="{FF2B5EF4-FFF2-40B4-BE49-F238E27FC236}">
                <a16:creationId xmlns:a16="http://schemas.microsoft.com/office/drawing/2014/main" id="{1EC3F4DB-FC0A-441B-5255-07B8810A3107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2080260" y="8905622"/>
            <a:ext cx="2764790" cy="155812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10" dirty="0">
                <a:solidFill>
                  <a:schemeClr val="tx2">
                    <a:lumMod val="50000"/>
                  </a:schemeClr>
                </a:solidFill>
              </a:rPr>
              <a:t>CMEtK</a:t>
            </a:r>
            <a:r>
              <a:rPr spc="-35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spc="-10" dirty="0">
                <a:solidFill>
                  <a:schemeClr val="tx2">
                    <a:lumMod val="50000"/>
                  </a:schemeClr>
                </a:solidFill>
              </a:rPr>
              <a:t>Soluções</a:t>
            </a:r>
            <a:r>
              <a:rPr spc="-25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spc="-10" dirty="0">
                <a:solidFill>
                  <a:schemeClr val="tx2">
                    <a:lumMod val="50000"/>
                  </a:schemeClr>
                </a:solidFill>
              </a:rPr>
              <a:t>Hospitalares</a:t>
            </a:r>
            <a:r>
              <a:rPr spc="-5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spc="-10" dirty="0">
                <a:solidFill>
                  <a:schemeClr val="tx2">
                    <a:lumMod val="50000"/>
                  </a:schemeClr>
                </a:solidFill>
              </a:rPr>
              <a:t>Ltda</a:t>
            </a:r>
            <a:r>
              <a:rPr spc="-2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spc="-10" dirty="0">
                <a:solidFill>
                  <a:schemeClr val="tx2">
                    <a:lumMod val="50000"/>
                  </a:schemeClr>
                </a:solidFill>
              </a:rPr>
              <a:t>-</a:t>
            </a:r>
            <a:r>
              <a:rPr spc="-3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spc="-10" dirty="0">
                <a:solidFill>
                  <a:schemeClr val="tx2">
                    <a:lumMod val="50000"/>
                  </a:schemeClr>
                </a:solidFill>
              </a:rPr>
              <a:t>Confidencial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901C1E5-BA7B-988E-69DC-5C0CD8586688}"/>
              </a:ext>
            </a:extLst>
          </p:cNvPr>
          <p:cNvSpPr txBox="1"/>
          <p:nvPr/>
        </p:nvSpPr>
        <p:spPr>
          <a:xfrm>
            <a:off x="762000" y="1447800"/>
            <a:ext cx="5334000" cy="3382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</a:rPr>
              <a:t>O software hospitalar proposto utiliza a tecnologia Plug </a:t>
            </a:r>
            <a:r>
              <a:rPr lang="pt-BR" sz="1200" dirty="0" err="1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</a:rPr>
              <a:t>and</a:t>
            </a:r>
            <a:r>
              <a:rPr lang="pt-BR"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</a:rPr>
              <a:t> Play, permitindo que computadores, sistemas e acessórios reconheçam automaticamente os dispositivos conectados. Essa funcionalidade garante uma integração rápida e segura com a base de dados da instituição.</a:t>
            </a:r>
          </a:p>
          <a:p>
            <a:pPr algn="just">
              <a:lnSpc>
                <a:spcPct val="150000"/>
              </a:lnSpc>
            </a:pPr>
            <a:endParaRPr lang="pt-BR" sz="1200" dirty="0">
              <a:solidFill>
                <a:schemeClr val="tx2">
                  <a:lumMod val="50000"/>
                </a:schemeClr>
              </a:solidFill>
              <a:latin typeface="Georgia" panose="02040502050405020303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pt-BR"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</a:rPr>
              <a:t>O fornecimento e a configuração dos tablets, leitores, servidores, televisores impressoras, em fim toda a infraestrutura para o funcionamento do sistema é padronizado e fornecido por nós. Dessa forma, o hospital não terá nenhum custo referente a esta implantação.</a:t>
            </a:r>
          </a:p>
          <a:p>
            <a:pPr algn="just">
              <a:lnSpc>
                <a:spcPct val="150000"/>
              </a:lnSpc>
            </a:pPr>
            <a:endParaRPr lang="pt-BR" sz="1200" dirty="0">
              <a:solidFill>
                <a:schemeClr val="tx2">
                  <a:lumMod val="50000"/>
                </a:schemeClr>
              </a:solidFill>
              <a:latin typeface="Georgia" panose="02040502050405020303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pt-BR"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</a:rPr>
              <a:t>O número de equipamentos bem como o tipo serão determinados após visita técnica do nosso coordenador de TI.</a:t>
            </a:r>
          </a:p>
        </p:txBody>
      </p:sp>
    </p:spTree>
    <p:extLst>
      <p:ext uri="{BB962C8B-B14F-4D97-AF65-F5344CB8AC3E}">
        <p14:creationId xmlns:p14="http://schemas.microsoft.com/office/powerpoint/2010/main" val="2765627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D8E654E2-8DAF-7F58-E85F-EADC6BD4B91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8100"/>
            <a:ext cx="2117186" cy="926706"/>
          </a:xfrm>
          <a:prstGeom prst="rect">
            <a:avLst/>
          </a:prstGeom>
        </p:spPr>
      </p:pic>
      <p:sp>
        <p:nvSpPr>
          <p:cNvPr id="4" name="object 20">
            <a:extLst>
              <a:ext uri="{FF2B5EF4-FFF2-40B4-BE49-F238E27FC236}">
                <a16:creationId xmlns:a16="http://schemas.microsoft.com/office/drawing/2014/main" id="{6B674DC0-CE8B-6E7B-E4F7-3582C42BDFEC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2080260" y="8905622"/>
            <a:ext cx="2764790" cy="155812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10" dirty="0">
                <a:solidFill>
                  <a:schemeClr val="tx2">
                    <a:lumMod val="50000"/>
                  </a:schemeClr>
                </a:solidFill>
              </a:rPr>
              <a:t>CMEtK</a:t>
            </a:r>
            <a:r>
              <a:rPr spc="-35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spc="-10" dirty="0">
                <a:solidFill>
                  <a:schemeClr val="tx2">
                    <a:lumMod val="50000"/>
                  </a:schemeClr>
                </a:solidFill>
              </a:rPr>
              <a:t>Soluções</a:t>
            </a:r>
            <a:r>
              <a:rPr spc="-25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spc="-10" dirty="0">
                <a:solidFill>
                  <a:schemeClr val="tx2">
                    <a:lumMod val="50000"/>
                  </a:schemeClr>
                </a:solidFill>
              </a:rPr>
              <a:t>Hospitalares</a:t>
            </a:r>
            <a:r>
              <a:rPr spc="-5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spc="-10" dirty="0">
                <a:solidFill>
                  <a:schemeClr val="tx2">
                    <a:lumMod val="50000"/>
                  </a:schemeClr>
                </a:solidFill>
              </a:rPr>
              <a:t>Ltda</a:t>
            </a:r>
            <a:r>
              <a:rPr spc="-2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spc="-10" dirty="0">
                <a:solidFill>
                  <a:schemeClr val="tx2">
                    <a:lumMod val="50000"/>
                  </a:schemeClr>
                </a:solidFill>
              </a:rPr>
              <a:t>-</a:t>
            </a:r>
            <a:r>
              <a:rPr spc="-3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spc="-10" dirty="0">
                <a:solidFill>
                  <a:schemeClr val="tx2">
                    <a:lumMod val="50000"/>
                  </a:schemeClr>
                </a:solidFill>
              </a:rPr>
              <a:t>Confidencial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000E215-58A0-1EA7-2014-4B3499F57E16}"/>
              </a:ext>
            </a:extLst>
          </p:cNvPr>
          <p:cNvSpPr txBox="1"/>
          <p:nvPr/>
        </p:nvSpPr>
        <p:spPr>
          <a:xfrm>
            <a:off x="304800" y="1219200"/>
            <a:ext cx="6019800" cy="7225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6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</a:rPr>
              <a:t>INSUMOS – SISTEMA DE RASTREABILIDADE</a:t>
            </a:r>
          </a:p>
          <a:p>
            <a:pPr>
              <a:lnSpc>
                <a:spcPct val="150000"/>
              </a:lnSpc>
            </a:pPr>
            <a:endParaRPr lang="pt-BR" sz="500" dirty="0">
              <a:solidFill>
                <a:schemeClr val="tx2">
                  <a:lumMod val="50000"/>
                </a:schemeClr>
              </a:solidFill>
              <a:latin typeface="Georgia" panose="02040502050405020303" pitchFamily="18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</a:rPr>
              <a:t>ETIQUETAS</a:t>
            </a:r>
          </a:p>
          <a:p>
            <a:pPr>
              <a:lnSpc>
                <a:spcPct val="150000"/>
              </a:lnSpc>
            </a:pPr>
            <a:endParaRPr lang="pt-BR" sz="500" dirty="0">
              <a:solidFill>
                <a:schemeClr val="tx2">
                  <a:lumMod val="50000"/>
                </a:schemeClr>
              </a:solidFill>
              <a:latin typeface="Georgia" panose="02040502050405020303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pt-BR"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</a:rPr>
              <a:t>As etiquetas são confeccionadas para suportar todos os processos utilizados, tanto na lavagem como na esterilização, inertes aos produtos químicos envolvidos, bem como as condições de temperatura e pressão, envolvidos na esterilização. Estão disponíveis em tamanhos e tipos diferentes para adequação à cada processo. Além dos dados impressos, tem outro sistema de leitura através de um código de barras ou um </a:t>
            </a:r>
            <a:r>
              <a:rPr lang="pt-BR" sz="1200" dirty="0" err="1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</a:rPr>
              <a:t>QRCod</a:t>
            </a:r>
            <a:r>
              <a:rPr lang="pt-BR"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</a:rPr>
              <a:t>, o qual é acessado por um leitor.</a:t>
            </a:r>
          </a:p>
          <a:p>
            <a:pPr algn="just">
              <a:lnSpc>
                <a:spcPct val="150000"/>
              </a:lnSpc>
            </a:pPr>
            <a:r>
              <a:rPr lang="pt-BR"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</a:rPr>
              <a:t>O sistema de etiquetagem do material apresenta como principal característica a redução do tratamento das informações em cada etapa do processo de esterilização, automatizando a inserção de dados, não sendo mais necessário a escrita manual dessas informações.</a:t>
            </a:r>
          </a:p>
          <a:p>
            <a:pPr algn="just">
              <a:lnSpc>
                <a:spcPct val="150000"/>
              </a:lnSpc>
            </a:pPr>
            <a:r>
              <a:rPr lang="pt-BR"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</a:rPr>
              <a:t>Devem conter indicador químico de processo – tipo 1 – tanto para processos de esterilização em autoclaves a vapor como para autoclaves a base de peróxido de hidrogênio e estão disponíveis nas seguintes medidas: 70mm x 35mm; 90mm x 50mm; 102mm x 56mm e nas cores branca, azul, verde, amarela, rosa, entre outras.</a:t>
            </a:r>
          </a:p>
          <a:p>
            <a:pPr algn="just">
              <a:lnSpc>
                <a:spcPct val="150000"/>
              </a:lnSpc>
            </a:pPr>
            <a:r>
              <a:rPr lang="pt-BR"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</a:rPr>
              <a:t>As etiquetas para termos lavadoras são resistentes a água e temperatura e são do tamanho 60mm x 30mm.</a:t>
            </a:r>
          </a:p>
          <a:p>
            <a:pPr algn="just">
              <a:lnSpc>
                <a:spcPct val="150000"/>
              </a:lnSpc>
            </a:pPr>
            <a:r>
              <a:rPr lang="pt-BR"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</a:rPr>
              <a:t>Os campos das etiquetas serão criados conforme os protocolos internos do CME/USUÁRIO, pois as etiquetas devem ser fornecidas em branco. O sistema encarrega-se de preencher a etiqueta conforme o setor e sua aplicação facilitando o trabalho dos colaboradores eliminando o preenchimento manual.</a:t>
            </a:r>
          </a:p>
          <a:p>
            <a:pPr algn="just">
              <a:lnSpc>
                <a:spcPct val="150000"/>
              </a:lnSpc>
            </a:pPr>
            <a:r>
              <a:rPr lang="pt-BR"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</a:rPr>
              <a:t>Vale ressaltar que a identificação do material é item obrigatório pela RDC n°15.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324080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73B49E1-878C-4C93-A8DC-08B5E9361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Logotipo&#10;&#10;O conteúdo gerado por IA pode estar incorreto.">
            <a:extLst>
              <a:ext uri="{FF2B5EF4-FFF2-40B4-BE49-F238E27FC236}">
                <a16:creationId xmlns:a16="http://schemas.microsoft.com/office/drawing/2014/main" id="{8F53E24C-02C3-770B-7125-5F833AA92F8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8100"/>
            <a:ext cx="2117186" cy="926706"/>
          </a:xfrm>
          <a:prstGeom prst="rect">
            <a:avLst/>
          </a:prstGeom>
        </p:spPr>
      </p:pic>
      <p:sp>
        <p:nvSpPr>
          <p:cNvPr id="5" name="object 20">
            <a:extLst>
              <a:ext uri="{FF2B5EF4-FFF2-40B4-BE49-F238E27FC236}">
                <a16:creationId xmlns:a16="http://schemas.microsoft.com/office/drawing/2014/main" id="{B81E7565-31F1-3901-B86E-C80AF4EDCB66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2080260" y="8905622"/>
            <a:ext cx="2764790" cy="170179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10" dirty="0"/>
              <a:t>CMEtK</a:t>
            </a:r>
            <a:r>
              <a:rPr spc="-35" dirty="0"/>
              <a:t> </a:t>
            </a:r>
            <a:r>
              <a:rPr spc="-10" dirty="0"/>
              <a:t>Soluções</a:t>
            </a:r>
            <a:r>
              <a:rPr spc="-25" dirty="0"/>
              <a:t> </a:t>
            </a:r>
            <a:r>
              <a:rPr spc="-10" dirty="0"/>
              <a:t>Hospitalares</a:t>
            </a:r>
            <a:r>
              <a:rPr spc="-5" dirty="0"/>
              <a:t> </a:t>
            </a:r>
            <a:r>
              <a:rPr spc="-10" dirty="0"/>
              <a:t>Ltda</a:t>
            </a:r>
            <a:r>
              <a:rPr spc="-20" dirty="0"/>
              <a:t> </a:t>
            </a:r>
            <a:r>
              <a:rPr spc="-10" dirty="0"/>
              <a:t>-</a:t>
            </a:r>
            <a:r>
              <a:rPr spc="-30" dirty="0"/>
              <a:t> </a:t>
            </a:r>
            <a:r>
              <a:rPr spc="-10" dirty="0"/>
              <a:t>Confidencial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CBDFAEA-C8C1-4162-FF74-FBEE3C6240B0}"/>
              </a:ext>
            </a:extLst>
          </p:cNvPr>
          <p:cNvSpPr txBox="1"/>
          <p:nvPr/>
        </p:nvSpPr>
        <p:spPr>
          <a:xfrm>
            <a:off x="457200" y="1524000"/>
            <a:ext cx="57912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</a:rPr>
              <a:t>RIBBONS</a:t>
            </a:r>
          </a:p>
          <a:p>
            <a:endParaRPr lang="pt-BR" sz="1600" dirty="0">
              <a:solidFill>
                <a:schemeClr val="tx2">
                  <a:lumMod val="50000"/>
                </a:schemeClr>
              </a:solidFill>
              <a:latin typeface="Georgia" panose="02040502050405020303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pt-BR"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</a:rPr>
              <a:t>O  </a:t>
            </a:r>
            <a:r>
              <a:rPr lang="pt-BR" sz="1200" dirty="0" err="1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</a:rPr>
              <a:t>ribbon</a:t>
            </a:r>
            <a:r>
              <a:rPr lang="pt-BR" sz="12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</a:rPr>
              <a:t> fornecido por nós, possui as principais certificações nacionais e internacionais, assim como, boa resistência à abrasão, todos os tipos de lavagens de alto nível e produtos químicos de uso regular, inclusive contato ocasional com sangue, e estabilidade UV. Possibilitando assim a aplicação nos diversos setores envolvidos no reprocessamento dos materiais.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879914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8266" y="1158862"/>
            <a:ext cx="1546860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10" dirty="0">
                <a:solidFill>
                  <a:srgbClr val="424453"/>
                </a:solidFill>
                <a:latin typeface="Georgia"/>
                <a:cs typeface="Georgia"/>
              </a:rPr>
              <a:t>Contatos</a:t>
            </a:r>
            <a:endParaRPr sz="2200" dirty="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1429" y="2671006"/>
            <a:ext cx="2427655" cy="484107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sz="1200" dirty="0">
                <a:solidFill>
                  <a:srgbClr val="1F1F21"/>
                </a:solidFill>
                <a:latin typeface="Georgia"/>
                <a:cs typeface="Georgia"/>
              </a:rPr>
              <a:t>(11)</a:t>
            </a:r>
            <a:r>
              <a:rPr sz="1200" spc="-20" dirty="0">
                <a:solidFill>
                  <a:srgbClr val="1F1F21"/>
                </a:solidFill>
                <a:latin typeface="Georgia"/>
                <a:cs typeface="Georgia"/>
              </a:rPr>
              <a:t> </a:t>
            </a:r>
            <a:r>
              <a:rPr sz="1200" dirty="0">
                <a:solidFill>
                  <a:srgbClr val="1F1F21"/>
                </a:solidFill>
                <a:latin typeface="Georgia"/>
                <a:cs typeface="Georgia"/>
              </a:rPr>
              <a:t>9</a:t>
            </a:r>
            <a:r>
              <a:rPr sz="1200" spc="-30" dirty="0">
                <a:solidFill>
                  <a:srgbClr val="1F1F21"/>
                </a:solidFill>
                <a:latin typeface="Georgia"/>
                <a:cs typeface="Georgia"/>
              </a:rPr>
              <a:t> </a:t>
            </a:r>
            <a:r>
              <a:rPr sz="1200" dirty="0">
                <a:solidFill>
                  <a:srgbClr val="1F1F21"/>
                </a:solidFill>
                <a:latin typeface="Georgia"/>
                <a:cs typeface="Georgia"/>
              </a:rPr>
              <a:t>4060</a:t>
            </a:r>
            <a:r>
              <a:rPr sz="1200" spc="-30" dirty="0">
                <a:solidFill>
                  <a:srgbClr val="1F1F21"/>
                </a:solidFill>
                <a:latin typeface="Georgia"/>
                <a:cs typeface="Georgia"/>
              </a:rPr>
              <a:t> </a:t>
            </a:r>
            <a:r>
              <a:rPr sz="1200" spc="-20" dirty="0">
                <a:solidFill>
                  <a:srgbClr val="1F1F21"/>
                </a:solidFill>
                <a:latin typeface="Georgia"/>
                <a:cs typeface="Georgia"/>
              </a:rPr>
              <a:t>4779</a:t>
            </a:r>
            <a:endParaRPr sz="1200" dirty="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400" u="sng" spc="-10" dirty="0">
                <a:solidFill>
                  <a:srgbClr val="B546B8"/>
                </a:solidFill>
                <a:uFill>
                  <a:solidFill>
                    <a:srgbClr val="B546B8"/>
                  </a:solidFill>
                </a:uFill>
                <a:latin typeface="Georgia"/>
                <a:cs typeface="Georgia"/>
                <a:hlinkClick r:id="rId2"/>
              </a:rPr>
              <a:t>mmergulhao@cmetk.com.br</a:t>
            </a:r>
            <a:endParaRPr sz="1400" dirty="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9735" y="3816858"/>
            <a:ext cx="3321049" cy="1189685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 marR="5080">
              <a:lnSpc>
                <a:spcPct val="119800"/>
              </a:lnSpc>
              <a:spcBef>
                <a:spcPts val="165"/>
              </a:spcBef>
            </a:pPr>
            <a:r>
              <a:rPr sz="1400" b="1" dirty="0">
                <a:latin typeface="Georgia"/>
                <a:cs typeface="Georgia"/>
              </a:rPr>
              <a:t>Escritório</a:t>
            </a:r>
            <a:r>
              <a:rPr sz="1400" b="1" spc="-60" dirty="0">
                <a:latin typeface="Georgia"/>
                <a:cs typeface="Georgia"/>
              </a:rPr>
              <a:t> </a:t>
            </a:r>
            <a:r>
              <a:rPr sz="1400" b="1" spc="-20" dirty="0">
                <a:latin typeface="Georgia"/>
                <a:cs typeface="Georgia"/>
              </a:rPr>
              <a:t>CMEtK </a:t>
            </a:r>
            <a:endParaRPr lang="pt-BR" sz="1400" b="1" spc="-20" dirty="0">
              <a:latin typeface="Georgia"/>
              <a:cs typeface="Georgia"/>
            </a:endParaRPr>
          </a:p>
          <a:p>
            <a:pPr marL="12700" marR="5080">
              <a:lnSpc>
                <a:spcPct val="119800"/>
              </a:lnSpc>
              <a:spcBef>
                <a:spcPts val="165"/>
              </a:spcBef>
            </a:pPr>
            <a:r>
              <a:rPr sz="1200" spc="-10" dirty="0" err="1">
                <a:solidFill>
                  <a:srgbClr val="1F1F21"/>
                </a:solidFill>
                <a:latin typeface="Georgia"/>
                <a:cs typeface="Georgia"/>
              </a:rPr>
              <a:t>Condomínio</a:t>
            </a:r>
            <a:r>
              <a:rPr sz="1200" spc="-65" dirty="0">
                <a:solidFill>
                  <a:srgbClr val="1F1F21"/>
                </a:solidFill>
                <a:latin typeface="Georgia"/>
                <a:cs typeface="Georgia"/>
              </a:rPr>
              <a:t> </a:t>
            </a:r>
            <a:r>
              <a:rPr sz="1200" spc="-10" dirty="0">
                <a:solidFill>
                  <a:srgbClr val="1F1F21"/>
                </a:solidFill>
                <a:latin typeface="Georgia"/>
                <a:cs typeface="Georgia"/>
              </a:rPr>
              <a:t>Villa</a:t>
            </a:r>
            <a:r>
              <a:rPr sz="1200" spc="-55" dirty="0">
                <a:solidFill>
                  <a:srgbClr val="1F1F21"/>
                </a:solidFill>
                <a:latin typeface="Georgia"/>
                <a:cs typeface="Georgia"/>
              </a:rPr>
              <a:t> </a:t>
            </a:r>
            <a:r>
              <a:rPr sz="1200" spc="-10" dirty="0">
                <a:solidFill>
                  <a:srgbClr val="1F1F21"/>
                </a:solidFill>
                <a:latin typeface="Georgia"/>
                <a:cs typeface="Georgia"/>
              </a:rPr>
              <a:t>Lobos</a:t>
            </a:r>
            <a:r>
              <a:rPr sz="1200" spc="-50" dirty="0">
                <a:solidFill>
                  <a:srgbClr val="1F1F21"/>
                </a:solidFill>
                <a:latin typeface="Georgia"/>
                <a:cs typeface="Georgia"/>
              </a:rPr>
              <a:t> </a:t>
            </a:r>
            <a:r>
              <a:rPr sz="1200" dirty="0">
                <a:solidFill>
                  <a:srgbClr val="1F1F21"/>
                </a:solidFill>
                <a:latin typeface="Georgia"/>
                <a:cs typeface="Georgia"/>
              </a:rPr>
              <a:t>Office</a:t>
            </a:r>
            <a:r>
              <a:rPr sz="1200" spc="-75" dirty="0">
                <a:solidFill>
                  <a:srgbClr val="1F1F21"/>
                </a:solidFill>
                <a:latin typeface="Georgia"/>
                <a:cs typeface="Georgia"/>
              </a:rPr>
              <a:t> </a:t>
            </a:r>
            <a:r>
              <a:rPr sz="1200" spc="-20" dirty="0">
                <a:solidFill>
                  <a:srgbClr val="1F1F21"/>
                </a:solidFill>
                <a:latin typeface="Georgia"/>
                <a:cs typeface="Georgia"/>
              </a:rPr>
              <a:t>Park </a:t>
            </a:r>
            <a:r>
              <a:rPr sz="1200" dirty="0">
                <a:solidFill>
                  <a:srgbClr val="1F1F21"/>
                </a:solidFill>
                <a:latin typeface="Georgia"/>
                <a:cs typeface="Georgia"/>
              </a:rPr>
              <a:t>Av.</a:t>
            </a:r>
            <a:r>
              <a:rPr sz="1200" spc="-20" dirty="0">
                <a:solidFill>
                  <a:srgbClr val="1F1F21"/>
                </a:solidFill>
                <a:latin typeface="Georgia"/>
                <a:cs typeface="Georgia"/>
              </a:rPr>
              <a:t> </a:t>
            </a:r>
            <a:r>
              <a:rPr sz="1200" dirty="0">
                <a:solidFill>
                  <a:srgbClr val="1F1F21"/>
                </a:solidFill>
                <a:latin typeface="Georgia"/>
                <a:cs typeface="Georgia"/>
              </a:rPr>
              <a:t>Queiroz</a:t>
            </a:r>
            <a:r>
              <a:rPr sz="1200" spc="-25" dirty="0">
                <a:solidFill>
                  <a:srgbClr val="1F1F21"/>
                </a:solidFill>
                <a:latin typeface="Georgia"/>
                <a:cs typeface="Georgia"/>
              </a:rPr>
              <a:t> </a:t>
            </a:r>
            <a:r>
              <a:rPr sz="1200" dirty="0">
                <a:solidFill>
                  <a:srgbClr val="1F1F21"/>
                </a:solidFill>
                <a:latin typeface="Georgia"/>
                <a:cs typeface="Georgia"/>
              </a:rPr>
              <a:t>Filho,</a:t>
            </a:r>
            <a:r>
              <a:rPr sz="1200" spc="-15" dirty="0">
                <a:solidFill>
                  <a:srgbClr val="1F1F21"/>
                </a:solidFill>
                <a:latin typeface="Georgia"/>
                <a:cs typeface="Georgia"/>
              </a:rPr>
              <a:t> </a:t>
            </a:r>
            <a:r>
              <a:rPr sz="1200" spc="-20" dirty="0">
                <a:solidFill>
                  <a:srgbClr val="1F1F21"/>
                </a:solidFill>
                <a:latin typeface="Georgia"/>
                <a:cs typeface="Georgia"/>
              </a:rPr>
              <a:t>1700</a:t>
            </a:r>
            <a:endParaRPr sz="1200" dirty="0">
              <a:latin typeface="Georgia"/>
              <a:cs typeface="Georgia"/>
            </a:endParaRPr>
          </a:p>
          <a:p>
            <a:pPr marL="12700" marR="1576070">
              <a:lnSpc>
                <a:spcPts val="1739"/>
              </a:lnSpc>
              <a:spcBef>
                <a:spcPts val="85"/>
              </a:spcBef>
            </a:pPr>
            <a:r>
              <a:rPr sz="1200" spc="-20" dirty="0">
                <a:solidFill>
                  <a:srgbClr val="1F1F21"/>
                </a:solidFill>
                <a:latin typeface="Georgia"/>
                <a:cs typeface="Georgia"/>
              </a:rPr>
              <a:t>Torre</a:t>
            </a:r>
            <a:r>
              <a:rPr sz="1200" spc="-80" dirty="0">
                <a:solidFill>
                  <a:srgbClr val="1F1F21"/>
                </a:solidFill>
                <a:latin typeface="Georgia"/>
                <a:cs typeface="Georgia"/>
              </a:rPr>
              <a:t> </a:t>
            </a:r>
            <a:r>
              <a:rPr sz="1200" spc="-10" dirty="0">
                <a:solidFill>
                  <a:srgbClr val="1F1F21"/>
                </a:solidFill>
                <a:latin typeface="Georgia"/>
                <a:cs typeface="Georgia"/>
              </a:rPr>
              <a:t>E</a:t>
            </a:r>
            <a:r>
              <a:rPr sz="1200" spc="-65" dirty="0">
                <a:solidFill>
                  <a:srgbClr val="1F1F21"/>
                </a:solidFill>
                <a:latin typeface="Georgia"/>
                <a:cs typeface="Georgia"/>
              </a:rPr>
              <a:t> </a:t>
            </a:r>
            <a:r>
              <a:rPr sz="1200" spc="-10" dirty="0">
                <a:solidFill>
                  <a:srgbClr val="1F1F21"/>
                </a:solidFill>
                <a:latin typeface="Georgia"/>
                <a:cs typeface="Georgia"/>
              </a:rPr>
              <a:t>-</a:t>
            </a:r>
            <a:r>
              <a:rPr sz="1200" spc="-85" dirty="0">
                <a:solidFill>
                  <a:srgbClr val="1F1F21"/>
                </a:solidFill>
                <a:latin typeface="Georgia"/>
                <a:cs typeface="Georgia"/>
              </a:rPr>
              <a:t> </a:t>
            </a:r>
            <a:r>
              <a:rPr sz="1200" spc="-25" dirty="0">
                <a:solidFill>
                  <a:srgbClr val="1F1F21"/>
                </a:solidFill>
                <a:latin typeface="Georgia"/>
                <a:cs typeface="Georgia"/>
              </a:rPr>
              <a:t>511 </a:t>
            </a:r>
            <a:r>
              <a:rPr sz="1200" dirty="0">
                <a:solidFill>
                  <a:srgbClr val="1F1F21"/>
                </a:solidFill>
                <a:latin typeface="Georgia"/>
                <a:cs typeface="Georgia"/>
              </a:rPr>
              <a:t>São</a:t>
            </a:r>
            <a:r>
              <a:rPr sz="1200" spc="-10" dirty="0">
                <a:solidFill>
                  <a:srgbClr val="1F1F21"/>
                </a:solidFill>
                <a:latin typeface="Georgia"/>
                <a:cs typeface="Georgia"/>
              </a:rPr>
              <a:t> Paulo</a:t>
            </a:r>
            <a:endParaRPr sz="1200" dirty="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200" dirty="0">
                <a:solidFill>
                  <a:srgbClr val="1F1F21"/>
                </a:solidFill>
                <a:latin typeface="Georgia"/>
                <a:cs typeface="Georgia"/>
              </a:rPr>
              <a:t>(11)</a:t>
            </a:r>
            <a:r>
              <a:rPr sz="1200" spc="-30" dirty="0">
                <a:solidFill>
                  <a:srgbClr val="1F1F21"/>
                </a:solidFill>
                <a:latin typeface="Georgia"/>
                <a:cs typeface="Georgia"/>
              </a:rPr>
              <a:t> </a:t>
            </a:r>
            <a:r>
              <a:rPr sz="1200" spc="-10" dirty="0">
                <a:solidFill>
                  <a:srgbClr val="1F1F21"/>
                </a:solidFill>
                <a:latin typeface="Georgia"/>
                <a:cs typeface="Georgia"/>
              </a:rPr>
              <a:t>3644-</a:t>
            </a:r>
            <a:r>
              <a:rPr sz="1200" spc="-20" dirty="0">
                <a:solidFill>
                  <a:srgbClr val="1F1F21"/>
                </a:solidFill>
                <a:latin typeface="Georgia"/>
                <a:cs typeface="Georgia"/>
              </a:rPr>
              <a:t>9090</a:t>
            </a:r>
            <a:endParaRPr sz="1200" dirty="0">
              <a:latin typeface="Georgia"/>
              <a:cs typeface="Georgi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10" dirty="0"/>
              <a:t>CMEtK</a:t>
            </a:r>
            <a:r>
              <a:rPr spc="-35" dirty="0"/>
              <a:t> </a:t>
            </a:r>
            <a:r>
              <a:rPr spc="-10" dirty="0"/>
              <a:t>Soluções</a:t>
            </a:r>
            <a:r>
              <a:rPr spc="-25" dirty="0"/>
              <a:t> </a:t>
            </a:r>
            <a:r>
              <a:rPr spc="-10" dirty="0"/>
              <a:t>Hospitalares</a:t>
            </a:r>
            <a:r>
              <a:rPr spc="-5" dirty="0"/>
              <a:t> </a:t>
            </a:r>
            <a:r>
              <a:rPr spc="-10" dirty="0"/>
              <a:t>Ltda</a:t>
            </a:r>
            <a:r>
              <a:rPr spc="-20" dirty="0"/>
              <a:t> </a:t>
            </a:r>
            <a:r>
              <a:rPr spc="-10" dirty="0"/>
              <a:t>-</a:t>
            </a:r>
            <a:r>
              <a:rPr spc="-30" dirty="0"/>
              <a:t> </a:t>
            </a:r>
            <a:r>
              <a:rPr spc="-10" dirty="0"/>
              <a:t>Confidencial</a:t>
            </a:r>
          </a:p>
        </p:txBody>
      </p:sp>
      <p:sp>
        <p:nvSpPr>
          <p:cNvPr id="23" name="object 3">
            <a:extLst>
              <a:ext uri="{FF2B5EF4-FFF2-40B4-BE49-F238E27FC236}">
                <a16:creationId xmlns:a16="http://schemas.microsoft.com/office/drawing/2014/main" id="{C32227C6-4E8C-ACB8-8BEE-BD67725A573D}"/>
              </a:ext>
            </a:extLst>
          </p:cNvPr>
          <p:cNvSpPr txBox="1"/>
          <p:nvPr/>
        </p:nvSpPr>
        <p:spPr>
          <a:xfrm>
            <a:off x="3203753" y="2059941"/>
            <a:ext cx="2840228" cy="10951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400" b="1" spc="-10" dirty="0">
                <a:latin typeface="Georgia"/>
                <a:cs typeface="Georgia"/>
              </a:rPr>
              <a:t>Diretora Técnica</a:t>
            </a:r>
            <a:endParaRPr sz="14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endParaRPr sz="800" dirty="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pt-BR" sz="1200" spc="-20" dirty="0">
                <a:solidFill>
                  <a:srgbClr val="1F1F21"/>
                </a:solidFill>
                <a:latin typeface="Georgia"/>
                <a:cs typeface="Georgia"/>
              </a:rPr>
              <a:t>Camila Cadamuro</a:t>
            </a:r>
            <a:endParaRPr sz="1200" dirty="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1200" dirty="0">
                <a:solidFill>
                  <a:srgbClr val="1F1F21"/>
                </a:solidFill>
                <a:latin typeface="Georgia"/>
                <a:cs typeface="Georgia"/>
              </a:rPr>
              <a:t>(</a:t>
            </a:r>
            <a:r>
              <a:rPr lang="pt-BR" sz="1200" dirty="0">
                <a:solidFill>
                  <a:srgbClr val="1F1F21"/>
                </a:solidFill>
                <a:latin typeface="Georgia"/>
                <a:cs typeface="Georgia"/>
              </a:rPr>
              <a:t>61</a:t>
            </a:r>
            <a:r>
              <a:rPr sz="1200" dirty="0">
                <a:solidFill>
                  <a:srgbClr val="1F1F21"/>
                </a:solidFill>
                <a:latin typeface="Georgia"/>
                <a:cs typeface="Georgia"/>
              </a:rPr>
              <a:t>)</a:t>
            </a:r>
            <a:r>
              <a:rPr lang="pt-BR" sz="1200" dirty="0">
                <a:solidFill>
                  <a:srgbClr val="1F1F21"/>
                </a:solidFill>
                <a:latin typeface="Georgia"/>
                <a:cs typeface="Georgia"/>
              </a:rPr>
              <a:t>98230-2858</a:t>
            </a:r>
            <a:endParaRPr sz="1200" dirty="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lang="pt-BR" sz="1400" u="sng" spc="-10" dirty="0" err="1">
                <a:solidFill>
                  <a:srgbClr val="0000FF"/>
                </a:solidFill>
                <a:uFill>
                  <a:solidFill>
                    <a:srgbClr val="000000"/>
                  </a:solidFill>
                </a:uFill>
                <a:latin typeface="Georgia"/>
                <a:cs typeface="Georgia"/>
                <a:hlinkClick r:id="rId3"/>
              </a:rPr>
              <a:t>camila</a:t>
            </a:r>
            <a:r>
              <a:rPr sz="1400" u="sng" spc="-10" dirty="0">
                <a:solidFill>
                  <a:srgbClr val="0000FF"/>
                </a:solidFill>
                <a:uFill>
                  <a:solidFill>
                    <a:srgbClr val="000000"/>
                  </a:solidFill>
                </a:uFill>
                <a:latin typeface="Georgia"/>
                <a:cs typeface="Georgia"/>
                <a:hlinkClick r:id="rId3"/>
              </a:rPr>
              <a:t>@cmetk.com.br</a:t>
            </a:r>
            <a:endParaRPr sz="1400" dirty="0">
              <a:latin typeface="Georgia"/>
              <a:cs typeface="Georgia"/>
            </a:endParaRPr>
          </a:p>
        </p:txBody>
      </p:sp>
      <p:sp>
        <p:nvSpPr>
          <p:cNvPr id="21" name="object 4"/>
          <p:cNvSpPr txBox="1"/>
          <p:nvPr/>
        </p:nvSpPr>
        <p:spPr>
          <a:xfrm>
            <a:off x="390164" y="2434172"/>
            <a:ext cx="1798371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1F1F21"/>
                </a:solidFill>
                <a:latin typeface="Georgia"/>
                <a:cs typeface="Georgia"/>
              </a:rPr>
              <a:t>Marcelo </a:t>
            </a:r>
            <a:r>
              <a:rPr lang="pt-BR" sz="1200" spc="-10" dirty="0">
                <a:solidFill>
                  <a:srgbClr val="1F1F21"/>
                </a:solidFill>
                <a:latin typeface="Georgia"/>
                <a:cs typeface="Georgia"/>
              </a:rPr>
              <a:t>Mergulhão</a:t>
            </a:r>
            <a:endParaRPr sz="1200" dirty="0">
              <a:latin typeface="Georgia"/>
              <a:cs typeface="Georgia"/>
            </a:endParaRPr>
          </a:p>
        </p:txBody>
      </p:sp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0D361708-782B-7C0D-D282-0EB4BC80F73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8100"/>
            <a:ext cx="2117186" cy="926706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5FA11292-0FBC-DB4B-3119-693CEF301196}"/>
              </a:ext>
            </a:extLst>
          </p:cNvPr>
          <p:cNvSpPr txBox="1"/>
          <p:nvPr/>
        </p:nvSpPr>
        <p:spPr>
          <a:xfrm>
            <a:off x="265247" y="2059941"/>
            <a:ext cx="18781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pt-BR" sz="1400" b="1" spc="-10" dirty="0">
                <a:latin typeface="Georgia"/>
              </a:rPr>
              <a:t>Diretor Comercial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3971</TotalTime>
  <Words>1827</Words>
  <Application>Microsoft Office PowerPoint</Application>
  <PresentationFormat>Apresentação na tela (4:3)</PresentationFormat>
  <Paragraphs>159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21" baseType="lpstr">
      <vt:lpstr>Arial</vt:lpstr>
      <vt:lpstr>Calibri</vt:lpstr>
      <vt:lpstr>Georgia</vt:lpstr>
      <vt:lpstr>Proxima Nova Heavy</vt:lpstr>
      <vt:lpstr>Trebuchet MS</vt:lpstr>
      <vt:lpstr>Wingdings</vt:lpstr>
      <vt:lpstr>Office Theme</vt:lpstr>
      <vt:lpstr>Apresentação  e Proposta Comercial   Gestão Automatizada da CME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Marcelo HB</dc:creator>
  <cp:lastModifiedBy>Marcelo R Mergulhao</cp:lastModifiedBy>
  <cp:revision>14</cp:revision>
  <dcterms:created xsi:type="dcterms:W3CDTF">2024-12-06T18:50:39Z</dcterms:created>
  <dcterms:modified xsi:type="dcterms:W3CDTF">2026-02-03T20:44:06Z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2024-12-06T00:00:00Z</vt:filetime>
  </property>
  <property fmtid="{D5CDD505-2E9C-101B-9397-08002B2CF9AE}" pid="3" name="Creator">
    <vt:lpwstr>Acrobat PDFMaker 24 para Word</vt:lpwstr>
  </property>
  <property fmtid="{D5CDD505-2E9C-101B-9397-08002B2CF9AE}" pid="4" name="LastSaved">
    <vt:filetime>2024-12-06T00:00:00Z</vt:filetime>
  </property>
  <property fmtid="{D5CDD505-2E9C-101B-9397-08002B2CF9AE}" pid="5" name="Producer">
    <vt:lpwstr>Adobe PDF Library 24.4.48</vt:lpwstr>
  </property>
  <property fmtid="{D5CDD505-2E9C-101B-9397-08002B2CF9AE}" pid="6" name="SourceModified">
    <vt:lpwstr>D:20231012132143</vt:lpwstr>
  </property>
</Properties>
</file>