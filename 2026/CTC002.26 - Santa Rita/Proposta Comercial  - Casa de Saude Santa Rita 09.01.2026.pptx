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305" r:id="rId3"/>
    <p:sldId id="304" r:id="rId4"/>
    <p:sldId id="262" r:id="rId5"/>
  </p:sldIdLst>
  <p:sldSz cx="6858000" cy="9144000" type="screen4x3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337" autoAdjust="0"/>
  </p:normalViewPr>
  <p:slideViewPr>
    <p:cSldViewPr>
      <p:cViewPr varScale="1">
        <p:scale>
          <a:sx n="71" d="100"/>
          <a:sy n="71" d="100"/>
        </p:scale>
        <p:origin x="5052" y="2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EC637-F426-4D0F-B648-3508330F02AA}" type="datetimeFigureOut">
              <a:rPr lang="pt-BR" smtClean="0"/>
              <a:t>03/02/2026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0BD06-8F31-473C-88CF-76EC2999A62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8223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56379" y="5080000"/>
            <a:ext cx="2801620" cy="121920"/>
          </a:xfrm>
          <a:custGeom>
            <a:avLst/>
            <a:gdLst/>
            <a:ahLst/>
            <a:cxnLst/>
            <a:rect l="l" t="t" r="r" b="b"/>
            <a:pathLst>
              <a:path w="2801620" h="121920">
                <a:moveTo>
                  <a:pt x="2801620" y="0"/>
                </a:moveTo>
                <a:lnTo>
                  <a:pt x="0" y="0"/>
                </a:lnTo>
                <a:lnTo>
                  <a:pt x="0" y="121920"/>
                </a:lnTo>
                <a:lnTo>
                  <a:pt x="2801620" y="121920"/>
                </a:lnTo>
                <a:lnTo>
                  <a:pt x="2801620" y="0"/>
                </a:lnTo>
                <a:close/>
              </a:path>
            </a:pathLst>
          </a:custGeom>
          <a:solidFill>
            <a:srgbClr val="43808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4058920" y="5196840"/>
            <a:ext cx="2799080" cy="254000"/>
          </a:xfrm>
          <a:custGeom>
            <a:avLst/>
            <a:gdLst/>
            <a:ahLst/>
            <a:cxnLst/>
            <a:rect l="l" t="t" r="r" b="b"/>
            <a:pathLst>
              <a:path w="2799079" h="254000">
                <a:moveTo>
                  <a:pt x="2799079" y="0"/>
                </a:moveTo>
                <a:lnTo>
                  <a:pt x="0" y="0"/>
                </a:lnTo>
                <a:lnTo>
                  <a:pt x="0" y="254000"/>
                </a:lnTo>
                <a:lnTo>
                  <a:pt x="2799079" y="254000"/>
                </a:lnTo>
                <a:lnTo>
                  <a:pt x="2799079" y="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4058920" y="5486400"/>
            <a:ext cx="2799080" cy="12700"/>
          </a:xfrm>
          <a:custGeom>
            <a:avLst/>
            <a:gdLst/>
            <a:ahLst/>
            <a:cxnLst/>
            <a:rect l="l" t="t" r="r" b="b"/>
            <a:pathLst>
              <a:path w="2799079" h="12700">
                <a:moveTo>
                  <a:pt x="2799079" y="0"/>
                </a:moveTo>
                <a:lnTo>
                  <a:pt x="0" y="0"/>
                </a:lnTo>
                <a:lnTo>
                  <a:pt x="0" y="12700"/>
                </a:lnTo>
                <a:lnTo>
                  <a:pt x="2799079" y="12700"/>
                </a:lnTo>
                <a:lnTo>
                  <a:pt x="2799079" y="0"/>
                </a:lnTo>
                <a:close/>
              </a:path>
            </a:pathLst>
          </a:custGeom>
          <a:solidFill>
            <a:srgbClr val="438085">
              <a:alpha val="650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g object 19"/>
          <p:cNvSpPr/>
          <p:nvPr/>
        </p:nvSpPr>
        <p:spPr>
          <a:xfrm>
            <a:off x="4056380" y="5283200"/>
            <a:ext cx="2674620" cy="180340"/>
          </a:xfrm>
          <a:custGeom>
            <a:avLst/>
            <a:gdLst/>
            <a:ahLst/>
            <a:cxnLst/>
            <a:rect l="l" t="t" r="r" b="b"/>
            <a:pathLst>
              <a:path w="2674620" h="180339">
                <a:moveTo>
                  <a:pt x="2296160" y="2667"/>
                </a:moveTo>
                <a:lnTo>
                  <a:pt x="2293493" y="0"/>
                </a:lnTo>
                <a:lnTo>
                  <a:pt x="2667" y="0"/>
                </a:lnTo>
                <a:lnTo>
                  <a:pt x="0" y="2667"/>
                </a:lnTo>
                <a:lnTo>
                  <a:pt x="0" y="32893"/>
                </a:lnTo>
                <a:lnTo>
                  <a:pt x="2667" y="35560"/>
                </a:lnTo>
                <a:lnTo>
                  <a:pt x="2293493" y="35560"/>
                </a:lnTo>
                <a:lnTo>
                  <a:pt x="2296160" y="32893"/>
                </a:lnTo>
                <a:lnTo>
                  <a:pt x="2296160" y="2667"/>
                </a:lnTo>
                <a:close/>
              </a:path>
              <a:path w="2674620" h="180339">
                <a:moveTo>
                  <a:pt x="2674620" y="133350"/>
                </a:moveTo>
                <a:lnTo>
                  <a:pt x="2670810" y="129540"/>
                </a:lnTo>
                <a:lnTo>
                  <a:pt x="1477010" y="129540"/>
                </a:lnTo>
                <a:lnTo>
                  <a:pt x="1473200" y="133350"/>
                </a:lnTo>
                <a:lnTo>
                  <a:pt x="1473200" y="176530"/>
                </a:lnTo>
                <a:lnTo>
                  <a:pt x="1477010" y="180340"/>
                </a:lnTo>
                <a:lnTo>
                  <a:pt x="2670810" y="180340"/>
                </a:lnTo>
                <a:lnTo>
                  <a:pt x="2674620" y="176530"/>
                </a:lnTo>
                <a:lnTo>
                  <a:pt x="2674620" y="133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g object 20"/>
          <p:cNvSpPr/>
          <p:nvPr/>
        </p:nvSpPr>
        <p:spPr>
          <a:xfrm>
            <a:off x="0" y="5087620"/>
            <a:ext cx="6858000" cy="104139"/>
          </a:xfrm>
          <a:custGeom>
            <a:avLst/>
            <a:gdLst/>
            <a:ahLst/>
            <a:cxnLst/>
            <a:rect l="l" t="t" r="r" b="b"/>
            <a:pathLst>
              <a:path w="6858000" h="104139">
                <a:moveTo>
                  <a:pt x="6858000" y="0"/>
                </a:moveTo>
                <a:lnTo>
                  <a:pt x="0" y="0"/>
                </a:lnTo>
                <a:lnTo>
                  <a:pt x="0" y="104139"/>
                </a:lnTo>
                <a:lnTo>
                  <a:pt x="6858000" y="104139"/>
                </a:lnTo>
                <a:lnTo>
                  <a:pt x="6858000" y="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g object 21"/>
          <p:cNvSpPr/>
          <p:nvPr/>
        </p:nvSpPr>
        <p:spPr>
          <a:xfrm>
            <a:off x="0" y="4935245"/>
            <a:ext cx="6858000" cy="254000"/>
          </a:xfrm>
          <a:custGeom>
            <a:avLst/>
            <a:gdLst/>
            <a:ahLst/>
            <a:cxnLst/>
            <a:rect l="l" t="t" r="r" b="b"/>
            <a:pathLst>
              <a:path w="6858000" h="254000">
                <a:moveTo>
                  <a:pt x="6858000" y="0"/>
                </a:moveTo>
                <a:lnTo>
                  <a:pt x="0" y="0"/>
                </a:lnTo>
                <a:lnTo>
                  <a:pt x="0" y="152400"/>
                </a:lnTo>
                <a:lnTo>
                  <a:pt x="4810760" y="152400"/>
                </a:lnTo>
                <a:lnTo>
                  <a:pt x="4810760" y="254000"/>
                </a:lnTo>
                <a:lnTo>
                  <a:pt x="6858000" y="254000"/>
                </a:lnTo>
                <a:lnTo>
                  <a:pt x="6858000" y="152400"/>
                </a:lnTo>
                <a:lnTo>
                  <a:pt x="6858000" y="0"/>
                </a:lnTo>
                <a:close/>
              </a:path>
            </a:pathLst>
          </a:custGeom>
          <a:solidFill>
            <a:srgbClr val="43808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g object 22"/>
          <p:cNvSpPr/>
          <p:nvPr/>
        </p:nvSpPr>
        <p:spPr>
          <a:xfrm>
            <a:off x="0" y="0"/>
            <a:ext cx="6858000" cy="4935220"/>
          </a:xfrm>
          <a:custGeom>
            <a:avLst/>
            <a:gdLst/>
            <a:ahLst/>
            <a:cxnLst/>
            <a:rect l="l" t="t" r="r" b="b"/>
            <a:pathLst>
              <a:path w="6858000" h="4935220">
                <a:moveTo>
                  <a:pt x="6858000" y="0"/>
                </a:moveTo>
                <a:lnTo>
                  <a:pt x="0" y="0"/>
                </a:lnTo>
                <a:lnTo>
                  <a:pt x="0" y="4935220"/>
                </a:lnTo>
                <a:lnTo>
                  <a:pt x="6858000" y="4935220"/>
                </a:lnTo>
                <a:lnTo>
                  <a:pt x="6858000" y="0"/>
                </a:lnTo>
                <a:close/>
              </a:path>
            </a:pathLst>
          </a:custGeom>
          <a:solidFill>
            <a:srgbClr val="42445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3" name="bg 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4439" y="1833879"/>
            <a:ext cx="4567171" cy="80543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5539" y="3863352"/>
            <a:ext cx="4734810" cy="470139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87879" y="4259592"/>
            <a:ext cx="2850121" cy="470127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4058920" y="5549900"/>
            <a:ext cx="1473200" cy="25400"/>
          </a:xfrm>
          <a:custGeom>
            <a:avLst/>
            <a:gdLst/>
            <a:ahLst/>
            <a:cxnLst/>
            <a:rect l="l" t="t" r="r" b="b"/>
            <a:pathLst>
              <a:path w="1473200" h="25400">
                <a:moveTo>
                  <a:pt x="1473200" y="0"/>
                </a:moveTo>
                <a:lnTo>
                  <a:pt x="0" y="0"/>
                </a:lnTo>
                <a:lnTo>
                  <a:pt x="0" y="25120"/>
                </a:lnTo>
                <a:lnTo>
                  <a:pt x="1473200" y="25120"/>
                </a:lnTo>
                <a:lnTo>
                  <a:pt x="1473200" y="0"/>
                </a:lnTo>
                <a:close/>
              </a:path>
            </a:pathLst>
          </a:custGeom>
          <a:solidFill>
            <a:srgbClr val="438085">
              <a:alpha val="5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g object 27"/>
          <p:cNvSpPr/>
          <p:nvPr/>
        </p:nvSpPr>
        <p:spPr>
          <a:xfrm>
            <a:off x="4058920" y="5595124"/>
            <a:ext cx="1473200" cy="12700"/>
          </a:xfrm>
          <a:custGeom>
            <a:avLst/>
            <a:gdLst/>
            <a:ahLst/>
            <a:cxnLst/>
            <a:rect l="l" t="t" r="r" b="b"/>
            <a:pathLst>
              <a:path w="1473200" h="12700">
                <a:moveTo>
                  <a:pt x="1473200" y="0"/>
                </a:moveTo>
                <a:lnTo>
                  <a:pt x="0" y="0"/>
                </a:lnTo>
                <a:lnTo>
                  <a:pt x="0" y="12560"/>
                </a:lnTo>
                <a:lnTo>
                  <a:pt x="1473200" y="12560"/>
                </a:lnTo>
                <a:lnTo>
                  <a:pt x="1473200" y="0"/>
                </a:lnTo>
                <a:close/>
              </a:path>
            </a:pathLst>
          </a:custGeom>
          <a:solidFill>
            <a:srgbClr val="438085">
              <a:alpha val="650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8" name="bg 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2805" y="6939280"/>
            <a:ext cx="2725699" cy="1849118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31920" y="7303148"/>
            <a:ext cx="2542942" cy="1247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32980"/>
            <a:ext cx="4056379" cy="68580"/>
          </a:xfrm>
          <a:custGeom>
            <a:avLst/>
            <a:gdLst/>
            <a:ahLst/>
            <a:cxnLst/>
            <a:rect l="l" t="t" r="r" b="b"/>
            <a:pathLst>
              <a:path w="4056379" h="68579">
                <a:moveTo>
                  <a:pt x="4056379" y="0"/>
                </a:moveTo>
                <a:lnTo>
                  <a:pt x="0" y="0"/>
                </a:lnTo>
                <a:lnTo>
                  <a:pt x="0" y="68529"/>
                </a:lnTo>
                <a:lnTo>
                  <a:pt x="4056379" y="68529"/>
                </a:lnTo>
                <a:lnTo>
                  <a:pt x="4056379" y="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6858000" cy="414020"/>
          </a:xfrm>
          <a:custGeom>
            <a:avLst/>
            <a:gdLst/>
            <a:ahLst/>
            <a:cxnLst/>
            <a:rect l="l" t="t" r="r" b="b"/>
            <a:pathLst>
              <a:path w="6858000" h="414020">
                <a:moveTo>
                  <a:pt x="6858000" y="0"/>
                </a:moveTo>
                <a:lnTo>
                  <a:pt x="0" y="0"/>
                </a:lnTo>
                <a:lnTo>
                  <a:pt x="0" y="413715"/>
                </a:lnTo>
                <a:lnTo>
                  <a:pt x="6858000" y="413715"/>
                </a:lnTo>
                <a:lnTo>
                  <a:pt x="6858000" y="0"/>
                </a:lnTo>
                <a:close/>
              </a:path>
            </a:pathLst>
          </a:custGeom>
          <a:solidFill>
            <a:srgbClr val="42445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0" y="411174"/>
            <a:ext cx="6858000" cy="190500"/>
          </a:xfrm>
          <a:custGeom>
            <a:avLst/>
            <a:gdLst/>
            <a:ahLst/>
            <a:cxnLst/>
            <a:rect l="l" t="t" r="r" b="b"/>
            <a:pathLst>
              <a:path w="6858000" h="190500">
                <a:moveTo>
                  <a:pt x="6858000" y="0"/>
                </a:moveTo>
                <a:lnTo>
                  <a:pt x="0" y="0"/>
                </a:lnTo>
                <a:lnTo>
                  <a:pt x="0" y="121920"/>
                </a:lnTo>
                <a:lnTo>
                  <a:pt x="4056380" y="121920"/>
                </a:lnTo>
                <a:lnTo>
                  <a:pt x="4056380" y="190500"/>
                </a:lnTo>
                <a:lnTo>
                  <a:pt x="6858000" y="190500"/>
                </a:lnTo>
                <a:lnTo>
                  <a:pt x="6858000" y="121920"/>
                </a:lnTo>
                <a:lnTo>
                  <a:pt x="6858000" y="0"/>
                </a:lnTo>
                <a:close/>
              </a:path>
            </a:pathLst>
          </a:custGeom>
          <a:solidFill>
            <a:srgbClr val="43808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g object 19"/>
          <p:cNvSpPr/>
          <p:nvPr/>
        </p:nvSpPr>
        <p:spPr>
          <a:xfrm>
            <a:off x="4058920" y="586295"/>
            <a:ext cx="2799080" cy="241300"/>
          </a:xfrm>
          <a:custGeom>
            <a:avLst/>
            <a:gdLst/>
            <a:ahLst/>
            <a:cxnLst/>
            <a:rect l="l" t="t" r="r" b="b"/>
            <a:pathLst>
              <a:path w="2799079" h="241300">
                <a:moveTo>
                  <a:pt x="2799079" y="0"/>
                </a:moveTo>
                <a:lnTo>
                  <a:pt x="0" y="0"/>
                </a:lnTo>
                <a:lnTo>
                  <a:pt x="0" y="241122"/>
                </a:lnTo>
                <a:lnTo>
                  <a:pt x="2799079" y="241122"/>
                </a:lnTo>
                <a:lnTo>
                  <a:pt x="2799079" y="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g object 20"/>
          <p:cNvSpPr/>
          <p:nvPr/>
        </p:nvSpPr>
        <p:spPr>
          <a:xfrm>
            <a:off x="4056380" y="662444"/>
            <a:ext cx="2674620" cy="170180"/>
          </a:xfrm>
          <a:custGeom>
            <a:avLst/>
            <a:gdLst/>
            <a:ahLst/>
            <a:cxnLst/>
            <a:rect l="l" t="t" r="r" b="b"/>
            <a:pathLst>
              <a:path w="2674620" h="170180">
                <a:moveTo>
                  <a:pt x="2296160" y="2794"/>
                </a:moveTo>
                <a:lnTo>
                  <a:pt x="2293366" y="0"/>
                </a:lnTo>
                <a:lnTo>
                  <a:pt x="2794" y="0"/>
                </a:lnTo>
                <a:lnTo>
                  <a:pt x="0" y="2794"/>
                </a:lnTo>
                <a:lnTo>
                  <a:pt x="0" y="35280"/>
                </a:lnTo>
                <a:lnTo>
                  <a:pt x="2794" y="38074"/>
                </a:lnTo>
                <a:lnTo>
                  <a:pt x="2293366" y="38074"/>
                </a:lnTo>
                <a:lnTo>
                  <a:pt x="2296160" y="35280"/>
                </a:lnTo>
                <a:lnTo>
                  <a:pt x="2296160" y="2794"/>
                </a:lnTo>
                <a:close/>
              </a:path>
              <a:path w="2674620" h="170180">
                <a:moveTo>
                  <a:pt x="2674620" y="125374"/>
                </a:moveTo>
                <a:lnTo>
                  <a:pt x="2671064" y="121818"/>
                </a:lnTo>
                <a:lnTo>
                  <a:pt x="1476756" y="121818"/>
                </a:lnTo>
                <a:lnTo>
                  <a:pt x="1473200" y="125374"/>
                </a:lnTo>
                <a:lnTo>
                  <a:pt x="1473200" y="166497"/>
                </a:lnTo>
                <a:lnTo>
                  <a:pt x="1476756" y="170040"/>
                </a:lnTo>
                <a:lnTo>
                  <a:pt x="2671064" y="170040"/>
                </a:lnTo>
                <a:lnTo>
                  <a:pt x="2674620" y="166497"/>
                </a:lnTo>
                <a:lnTo>
                  <a:pt x="2674620" y="1253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g object 21"/>
          <p:cNvSpPr/>
          <p:nvPr/>
        </p:nvSpPr>
        <p:spPr>
          <a:xfrm>
            <a:off x="6814819" y="0"/>
            <a:ext cx="43180" cy="824865"/>
          </a:xfrm>
          <a:custGeom>
            <a:avLst/>
            <a:gdLst/>
            <a:ahLst/>
            <a:cxnLst/>
            <a:rect l="l" t="t" r="r" b="b"/>
            <a:pathLst>
              <a:path w="43179" h="824865">
                <a:moveTo>
                  <a:pt x="43179" y="0"/>
                </a:moveTo>
                <a:lnTo>
                  <a:pt x="0" y="0"/>
                </a:lnTo>
                <a:lnTo>
                  <a:pt x="0" y="824865"/>
                </a:lnTo>
                <a:lnTo>
                  <a:pt x="43179" y="824865"/>
                </a:lnTo>
                <a:lnTo>
                  <a:pt x="43179" y="0"/>
                </a:lnTo>
                <a:close/>
              </a:path>
            </a:pathLst>
          </a:custGeom>
          <a:solidFill>
            <a:srgbClr val="FFFFFF">
              <a:alpha val="650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g object 22"/>
          <p:cNvSpPr/>
          <p:nvPr/>
        </p:nvSpPr>
        <p:spPr>
          <a:xfrm>
            <a:off x="6769100" y="0"/>
            <a:ext cx="7620" cy="824865"/>
          </a:xfrm>
          <a:custGeom>
            <a:avLst/>
            <a:gdLst/>
            <a:ahLst/>
            <a:cxnLst/>
            <a:rect l="l" t="t" r="r" b="b"/>
            <a:pathLst>
              <a:path w="7620" h="824865">
                <a:moveTo>
                  <a:pt x="7620" y="0"/>
                </a:moveTo>
                <a:lnTo>
                  <a:pt x="0" y="0"/>
                </a:lnTo>
                <a:lnTo>
                  <a:pt x="0" y="824865"/>
                </a:lnTo>
                <a:lnTo>
                  <a:pt x="7620" y="824865"/>
                </a:lnTo>
                <a:lnTo>
                  <a:pt x="7620" y="0"/>
                </a:lnTo>
                <a:close/>
              </a:path>
            </a:pathLst>
          </a:custGeom>
          <a:solidFill>
            <a:srgbClr val="FFFFFF">
              <a:alpha val="5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g object 23"/>
          <p:cNvSpPr/>
          <p:nvPr/>
        </p:nvSpPr>
        <p:spPr>
          <a:xfrm>
            <a:off x="6731000" y="0"/>
            <a:ext cx="20320" cy="824865"/>
          </a:xfrm>
          <a:custGeom>
            <a:avLst/>
            <a:gdLst/>
            <a:ahLst/>
            <a:cxnLst/>
            <a:rect l="l" t="t" r="r" b="b"/>
            <a:pathLst>
              <a:path w="20320" h="824865">
                <a:moveTo>
                  <a:pt x="20320" y="0"/>
                </a:moveTo>
                <a:lnTo>
                  <a:pt x="0" y="0"/>
                </a:lnTo>
                <a:lnTo>
                  <a:pt x="0" y="824865"/>
                </a:lnTo>
                <a:lnTo>
                  <a:pt x="20320" y="824865"/>
                </a:lnTo>
                <a:lnTo>
                  <a:pt x="20320" y="0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g object 24"/>
          <p:cNvSpPr/>
          <p:nvPr/>
        </p:nvSpPr>
        <p:spPr>
          <a:xfrm>
            <a:off x="6654800" y="0"/>
            <a:ext cx="7620" cy="779780"/>
          </a:xfrm>
          <a:custGeom>
            <a:avLst/>
            <a:gdLst/>
            <a:ahLst/>
            <a:cxnLst/>
            <a:rect l="l" t="t" r="r" b="b"/>
            <a:pathLst>
              <a:path w="7620" h="779780">
                <a:moveTo>
                  <a:pt x="7620" y="0"/>
                </a:moveTo>
                <a:lnTo>
                  <a:pt x="0" y="0"/>
                </a:lnTo>
                <a:lnTo>
                  <a:pt x="0" y="779183"/>
                </a:lnTo>
                <a:lnTo>
                  <a:pt x="7620" y="779183"/>
                </a:lnTo>
                <a:lnTo>
                  <a:pt x="7620" y="0"/>
                </a:lnTo>
                <a:close/>
              </a:path>
            </a:pathLst>
          </a:custGeom>
          <a:solidFill>
            <a:srgbClr val="FFFFFF">
              <a:alpha val="30194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3250" y="1930552"/>
            <a:ext cx="407035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03120"/>
            <a:ext cx="61722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80260" y="8905622"/>
            <a:ext cx="2764790" cy="17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CMEtK</a:t>
            </a:r>
            <a:r>
              <a:rPr spc="-35" dirty="0"/>
              <a:t> </a:t>
            </a:r>
            <a:r>
              <a:rPr spc="-10" dirty="0"/>
              <a:t>Soluções</a:t>
            </a:r>
            <a:r>
              <a:rPr spc="-25" dirty="0"/>
              <a:t> </a:t>
            </a:r>
            <a:r>
              <a:rPr spc="-10" dirty="0"/>
              <a:t>Hospitalares</a:t>
            </a:r>
            <a:r>
              <a:rPr spc="-5" dirty="0"/>
              <a:t> </a:t>
            </a:r>
            <a:r>
              <a:rPr spc="-10" dirty="0"/>
              <a:t>Ltda</a:t>
            </a:r>
            <a:r>
              <a:rPr spc="-20" dirty="0"/>
              <a:t> </a:t>
            </a:r>
            <a:r>
              <a:rPr spc="-10" dirty="0"/>
              <a:t>-</a:t>
            </a:r>
            <a:r>
              <a:rPr spc="-30" dirty="0"/>
              <a:t> </a:t>
            </a:r>
            <a:r>
              <a:rPr spc="-10" dirty="0"/>
              <a:t>Confidencial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vinicius@cmetk.com.br" TargetMode="External"/><Relationship Id="rId2" Type="http://schemas.openxmlformats.org/officeDocument/2006/relationships/hyperlink" Target="mailto:info@fentex.us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mailto:comercial@allforpro.com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19A5292-9B70-C329-4F32-E664884AEF7D}"/>
              </a:ext>
            </a:extLst>
          </p:cNvPr>
          <p:cNvSpPr txBox="1"/>
          <p:nvPr/>
        </p:nvSpPr>
        <p:spPr>
          <a:xfrm>
            <a:off x="0" y="0"/>
            <a:ext cx="6858000" cy="513676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1441227"/>
            <a:ext cx="5486401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pt-BR" sz="3000" spc="-10" dirty="0"/>
              <a:t>Proposta Comercial </a:t>
            </a:r>
            <a:br>
              <a:rPr lang="pt-BR" sz="3000" spc="-10" dirty="0"/>
            </a:br>
            <a:br>
              <a:rPr lang="pt-BR" sz="3000" spc="-10" dirty="0"/>
            </a:br>
            <a:r>
              <a:rPr lang="pt-BR" sz="3000" spc="-10" dirty="0"/>
              <a:t>Rastreabilidade e Gestão Automatizada dos Processos da CME </a:t>
            </a:r>
            <a:br>
              <a:rPr lang="pt-BR" sz="3000" spc="-10" dirty="0"/>
            </a:br>
            <a:r>
              <a:rPr lang="pt-BR" sz="3000" spc="-10" dirty="0"/>
              <a:t>Hospital Santa Rita</a:t>
            </a:r>
            <a:br>
              <a:rPr lang="pt-BR" sz="3000" spc="-10" dirty="0"/>
            </a:br>
            <a:br>
              <a:rPr lang="pt-BR" sz="3000" spc="-10" dirty="0"/>
            </a:br>
            <a:endParaRPr sz="3000" spc="-10" dirty="0"/>
          </a:p>
        </p:txBody>
      </p:sp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F3AC87A2-B5AF-2DD4-A07D-9725CB208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" y="6872985"/>
            <a:ext cx="4587240" cy="8297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3A6855-1E5A-FF81-2198-0D05D2093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07C7BA4-3951-B832-DE38-071818518742}"/>
              </a:ext>
            </a:extLst>
          </p:cNvPr>
          <p:cNvSpPr txBox="1"/>
          <p:nvPr/>
        </p:nvSpPr>
        <p:spPr>
          <a:xfrm>
            <a:off x="609600" y="446034"/>
            <a:ext cx="3886200" cy="579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210"/>
              </a:spcBef>
            </a:pPr>
            <a:r>
              <a:rPr lang="pt-BR" sz="2400" b="1" spc="-10" dirty="0">
                <a:solidFill>
                  <a:srgbClr val="2B475E"/>
                </a:solidFill>
                <a:latin typeface="Georgia" panose="02040502050405020303" pitchFamily="18" charset="0"/>
              </a:rPr>
              <a:t>Proposta Comercial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D7773E5-F9BA-3592-4385-714E1E3252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4419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E4C4BB4-438E-7B11-1F6F-6A5CD8FB99D6}"/>
              </a:ext>
            </a:extLst>
          </p:cNvPr>
          <p:cNvSpPr txBox="1"/>
          <p:nvPr/>
        </p:nvSpPr>
        <p:spPr>
          <a:xfrm>
            <a:off x="609600" y="3733801"/>
            <a:ext cx="57531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50000"/>
                  </a:schemeClr>
                </a:solidFill>
              </a:rPr>
              <a:t>Total mensal: R$ 52.900,00</a:t>
            </a:r>
          </a:p>
          <a:p>
            <a:r>
              <a:rPr lang="pt-BR" b="1" dirty="0">
                <a:solidFill>
                  <a:schemeClr val="tx2">
                    <a:lumMod val="50000"/>
                  </a:schemeClr>
                </a:solidFill>
              </a:rPr>
              <a:t>Taxa de implantação: R$ 42.900,00</a:t>
            </a:r>
          </a:p>
          <a:p>
            <a:endParaRPr lang="pt-BR" dirty="0">
              <a:solidFill>
                <a:schemeClr val="tx2">
                  <a:lumMod val="50000"/>
                </a:schemeClr>
              </a:solidFill>
            </a:endParaRPr>
          </a:p>
          <a:p>
            <a:pPr algn="just"/>
            <a:r>
              <a:rPr lang="pt-BR" sz="1400" dirty="0">
                <a:solidFill>
                  <a:schemeClr val="tx2">
                    <a:lumMod val="50000"/>
                  </a:schemeClr>
                </a:solidFill>
              </a:rPr>
              <a:t>*Valores baseados em até 1000 cirurgias/mês. Excedendo este número em até 1000 cirurgias/mês, será cobrado um acréscimo de 18% no período</a:t>
            </a:r>
          </a:p>
          <a:p>
            <a:pPr algn="just"/>
            <a:endParaRPr lang="pt-BR" sz="1400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2">
                    <a:lumMod val="50000"/>
                  </a:schemeClr>
                </a:solidFill>
              </a:rPr>
              <a:t>Incluso treinamentos em loco durante a implantação do sistema e pronto atendimento Help Desk remoto via Whatsapp.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2">
                    <a:lumMod val="50000"/>
                  </a:schemeClr>
                </a:solidFill>
              </a:rPr>
              <a:t>Equipe técnica fara acompanhamento remoto e esporadicamente no local para acompanhamento.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2">
                    <a:lumMod val="50000"/>
                  </a:schemeClr>
                </a:solidFill>
              </a:rPr>
              <a:t>Será apresentado relatórios mensais e discutidos com a equipe técnica para estudar os dados gerados pelo sistema. Será discutido melhorias no processo no intuito de agilidade e redução de custos.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2">
                    <a:lumMod val="50000"/>
                  </a:schemeClr>
                </a:solidFill>
              </a:rPr>
              <a:t>Nosso objetivo é reduzir o custo da CME em até 20 porcento nos 12 primeiros meses de uso.</a:t>
            </a:r>
          </a:p>
          <a:p>
            <a:pPr algn="just"/>
            <a:endParaRPr lang="pt-BR" sz="1400" dirty="0">
              <a:solidFill>
                <a:schemeClr val="tx2">
                  <a:lumMod val="50000"/>
                </a:schemeClr>
              </a:solidFill>
            </a:endParaRPr>
          </a:p>
          <a:p>
            <a:pPr algn="just"/>
            <a:endParaRPr lang="pt-BR" sz="1400" dirty="0">
              <a:solidFill>
                <a:schemeClr val="tx2">
                  <a:lumMod val="50000"/>
                </a:schemeClr>
              </a:solidFill>
            </a:endParaRPr>
          </a:p>
          <a:p>
            <a:pPr algn="just"/>
            <a:r>
              <a:rPr lang="pt-BR" sz="1600" dirty="0">
                <a:solidFill>
                  <a:schemeClr val="tx2">
                    <a:lumMod val="50000"/>
                  </a:schemeClr>
                </a:solidFill>
              </a:rPr>
              <a:t>Validade da proposta: 60 dias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F32825E-948F-ED46-E14F-6374CE973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560815"/>
              </p:ext>
            </p:extLst>
          </p:nvPr>
        </p:nvGraphicFramePr>
        <p:xfrm>
          <a:off x="990600" y="1578141"/>
          <a:ext cx="53721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190006518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075887613"/>
                    </a:ext>
                  </a:extLst>
                </a:gridCol>
              </a:tblGrid>
              <a:tr h="339907">
                <a:tc>
                  <a:txBody>
                    <a:bodyPr/>
                    <a:lstStyle/>
                    <a:p>
                      <a:r>
                        <a:rPr lang="pt-BR" dirty="0"/>
                        <a:t>Atividade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Proposta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352808"/>
                  </a:ext>
                </a:extLst>
              </a:tr>
              <a:tr h="338831">
                <a:tc>
                  <a:txBody>
                    <a:bodyPr/>
                    <a:lstStyle/>
                    <a:p>
                      <a:pPr algn="just"/>
                      <a:r>
                        <a:rPr lang="pt-BR" dirty="0"/>
                        <a:t>Manutenção de instrumentais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r>
                        <a:rPr lang="pt-BR" dirty="0"/>
                        <a:t>Incluso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680184"/>
                  </a:ext>
                </a:extLst>
              </a:tr>
              <a:tr h="339907">
                <a:tc>
                  <a:txBody>
                    <a:bodyPr/>
                    <a:lstStyle/>
                    <a:p>
                      <a:r>
                        <a:rPr lang="pt-BR" dirty="0"/>
                        <a:t>Sistema de rastreabilidade para CME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132984"/>
                  </a:ext>
                </a:extLst>
              </a:tr>
              <a:tr h="339907">
                <a:tc>
                  <a:txBody>
                    <a:bodyPr/>
                    <a:lstStyle/>
                    <a:p>
                      <a:r>
                        <a:rPr lang="pt-BR" dirty="0"/>
                        <a:t>Insumos do sistema rastreabilidade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257916"/>
                  </a:ext>
                </a:extLst>
              </a:tr>
              <a:tr h="33990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908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872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ADF9DCE-DA28-EA56-D5E3-1857CE654B62}"/>
              </a:ext>
            </a:extLst>
          </p:cNvPr>
          <p:cNvSpPr txBox="1"/>
          <p:nvPr/>
        </p:nvSpPr>
        <p:spPr>
          <a:xfrm>
            <a:off x="228600" y="304800"/>
            <a:ext cx="5486400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210"/>
              </a:spcBef>
            </a:pPr>
            <a:r>
              <a:rPr lang="pt-BR" sz="2000" b="1" spc="-10" dirty="0">
                <a:solidFill>
                  <a:srgbClr val="2B475E"/>
                </a:solidFill>
                <a:latin typeface="Georgia" panose="02040502050405020303" pitchFamily="18" charset="0"/>
                <a:cs typeface="Trebuchet MS"/>
              </a:rPr>
              <a:t>Manutenções de Instrumentais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E9F200D-CF95-BBBF-CF96-E42E58F663CD}"/>
              </a:ext>
            </a:extLst>
          </p:cNvPr>
          <p:cNvSpPr txBox="1"/>
          <p:nvPr/>
        </p:nvSpPr>
        <p:spPr>
          <a:xfrm>
            <a:off x="366784" y="1295400"/>
            <a:ext cx="6172200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pt-BR" sz="80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14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Tipo: Instrumentais para cirurgia aberta</a:t>
            </a:r>
          </a:p>
          <a:p>
            <a:pPr algn="just">
              <a:lnSpc>
                <a:spcPct val="150000"/>
              </a:lnSpc>
            </a:pPr>
            <a:endParaRPr lang="pt-BR" sz="140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14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Número de instrumentais enviados mensalmente: 15 unidades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664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7997" y="877890"/>
            <a:ext cx="154686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solidFill>
                  <a:schemeClr val="accent1">
                    <a:lumMod val="75000"/>
                  </a:schemeClr>
                </a:solidFill>
                <a:latin typeface="Georgia"/>
                <a:cs typeface="Georgia"/>
              </a:rPr>
              <a:t>Contatos</a:t>
            </a:r>
            <a:endParaRPr sz="2200" b="1" dirty="0">
              <a:solidFill>
                <a:schemeClr val="accent1">
                  <a:lumMod val="75000"/>
                </a:schemeClr>
              </a:solidFill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7997" y="2665785"/>
            <a:ext cx="2427655" cy="1006558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355"/>
              </a:spcBef>
            </a:pP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(11)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9</a:t>
            </a:r>
            <a:r>
              <a:rPr sz="1200" spc="-3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4060</a:t>
            </a:r>
            <a:r>
              <a:rPr sz="1200" spc="-3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sz="1200" spc="-2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4779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/>
              <a:cs typeface="Georgia"/>
            </a:endParaRPr>
          </a:p>
          <a:p>
            <a:pPr marL="12700">
              <a:lnSpc>
                <a:spcPct val="150000"/>
              </a:lnSpc>
              <a:spcBef>
                <a:spcPts val="300"/>
              </a:spcBef>
            </a:pPr>
            <a:r>
              <a:rPr lang="pt-BR" sz="1400" u="sng" spc="-10" dirty="0" err="1">
                <a:solidFill>
                  <a:srgbClr val="B546B8"/>
                </a:solidFill>
                <a:uFill>
                  <a:solidFill>
                    <a:srgbClr val="B546B8"/>
                  </a:solidFill>
                </a:uFill>
                <a:latin typeface="Georgia"/>
                <a:cs typeface="Georgia"/>
                <a:hlinkClick r:id="rId2"/>
              </a:rPr>
              <a:t>info@fentex</a:t>
            </a:r>
            <a:r>
              <a:rPr sz="1400" u="sng" spc="-10" dirty="0">
                <a:solidFill>
                  <a:srgbClr val="B546B8"/>
                </a:solidFill>
                <a:uFill>
                  <a:solidFill>
                    <a:srgbClr val="B546B8"/>
                  </a:solidFill>
                </a:uFill>
                <a:latin typeface="Georgia"/>
                <a:cs typeface="Georgia"/>
                <a:hlinkClick r:id="rId2"/>
              </a:rPr>
              <a:t>.</a:t>
            </a:r>
            <a:r>
              <a:rPr lang="pt-BR" sz="1400" u="sng" spc="-10" dirty="0" err="1">
                <a:solidFill>
                  <a:srgbClr val="B546B8"/>
                </a:solidFill>
                <a:uFill>
                  <a:solidFill>
                    <a:srgbClr val="B546B8"/>
                  </a:solidFill>
                </a:uFill>
                <a:latin typeface="Georgia"/>
                <a:cs typeface="Georgia"/>
                <a:hlinkClick r:id="rId2"/>
              </a:rPr>
              <a:t>us</a:t>
            </a:r>
            <a:endParaRPr lang="pt-BR" sz="1400" u="sng" spc="-10" dirty="0">
              <a:solidFill>
                <a:srgbClr val="B546B8"/>
              </a:solidFill>
              <a:uFill>
                <a:solidFill>
                  <a:srgbClr val="B546B8"/>
                </a:solidFill>
              </a:uFill>
              <a:latin typeface="Georgia"/>
              <a:cs typeface="Georgia"/>
            </a:endParaRPr>
          </a:p>
          <a:p>
            <a:pPr marL="12700">
              <a:lnSpc>
                <a:spcPct val="150000"/>
              </a:lnSpc>
              <a:spcBef>
                <a:spcPts val="300"/>
              </a:spcBef>
            </a:pPr>
            <a:endParaRPr sz="1400" dirty="0">
              <a:latin typeface="Georgia"/>
              <a:cs typeface="Georgia"/>
            </a:endParaRPr>
          </a:p>
        </p:txBody>
      </p:sp>
      <p:sp>
        <p:nvSpPr>
          <p:cNvPr id="23" name="object 3">
            <a:extLst>
              <a:ext uri="{FF2B5EF4-FFF2-40B4-BE49-F238E27FC236}">
                <a16:creationId xmlns:a16="http://schemas.microsoft.com/office/drawing/2014/main" id="{C32227C6-4E8C-ACB8-8BEE-BD67725A573D}"/>
              </a:ext>
            </a:extLst>
          </p:cNvPr>
          <p:cNvSpPr txBox="1"/>
          <p:nvPr/>
        </p:nvSpPr>
        <p:spPr>
          <a:xfrm>
            <a:off x="407997" y="4012255"/>
            <a:ext cx="2840228" cy="1317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400" b="1" spc="-1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Diretora Técnica</a:t>
            </a:r>
            <a:endParaRPr sz="1400" dirty="0">
              <a:solidFill>
                <a:schemeClr val="tx2">
                  <a:lumMod val="50000"/>
                </a:schemeClr>
              </a:solidFill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800" dirty="0">
              <a:latin typeface="Georgia"/>
              <a:cs typeface="Georgia"/>
            </a:endParaRPr>
          </a:p>
          <a:p>
            <a:pPr marL="12700">
              <a:lnSpc>
                <a:spcPct val="150000"/>
              </a:lnSpc>
              <a:spcBef>
                <a:spcPts val="5"/>
              </a:spcBef>
            </a:pPr>
            <a:r>
              <a:rPr lang="pt-BR" sz="1200" spc="-2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Camila Cadamuro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/>
              <a:cs typeface="Georgia"/>
            </a:endParaRPr>
          </a:p>
          <a:p>
            <a:pPr marL="12700">
              <a:lnSpc>
                <a:spcPct val="150000"/>
              </a:lnSpc>
              <a:spcBef>
                <a:spcPts val="275"/>
              </a:spcBef>
            </a:pP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(</a:t>
            </a: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61</a:t>
            </a:r>
            <a:r>
              <a:rPr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)</a:t>
            </a:r>
            <a:r>
              <a:rPr lang="pt-BR" sz="120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98230-2858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/>
              <a:cs typeface="Georgia"/>
            </a:endParaRPr>
          </a:p>
          <a:p>
            <a:pPr marL="12700">
              <a:lnSpc>
                <a:spcPct val="150000"/>
              </a:lnSpc>
              <a:spcBef>
                <a:spcPts val="305"/>
              </a:spcBef>
            </a:pPr>
            <a:r>
              <a:rPr lang="pt-BR" sz="1400" u="sng" spc="-10" dirty="0" err="1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Georgia"/>
                <a:cs typeface="Georgia"/>
                <a:hlinkClick r:id="rId3"/>
              </a:rPr>
              <a:t>camila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Georgia"/>
                <a:cs typeface="Georgia"/>
                <a:hlinkClick r:id="rId3"/>
              </a:rPr>
              <a:t>@</a:t>
            </a:r>
            <a:r>
              <a:rPr lang="pt-BR" sz="1400" u="sng" spc="-1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fentex.us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21" name="object 4"/>
          <p:cNvSpPr txBox="1"/>
          <p:nvPr/>
        </p:nvSpPr>
        <p:spPr>
          <a:xfrm>
            <a:off x="390164" y="2434172"/>
            <a:ext cx="179837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Marcelo </a:t>
            </a:r>
            <a:r>
              <a:rPr lang="pt-BR" sz="1200" spc="-10" dirty="0">
                <a:solidFill>
                  <a:schemeClr val="tx2">
                    <a:lumMod val="50000"/>
                  </a:schemeClr>
                </a:solidFill>
                <a:latin typeface="Georgia"/>
                <a:cs typeface="Georgia"/>
              </a:rPr>
              <a:t>Mergulhão</a:t>
            </a:r>
            <a:endParaRPr sz="1200" dirty="0">
              <a:solidFill>
                <a:schemeClr val="tx2">
                  <a:lumMod val="50000"/>
                </a:schemeClr>
              </a:solidFill>
              <a:latin typeface="Georgia"/>
              <a:cs typeface="Georgia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A11292-0FBC-DB4B-3119-693CEF301196}"/>
              </a:ext>
            </a:extLst>
          </p:cNvPr>
          <p:cNvSpPr txBox="1"/>
          <p:nvPr/>
        </p:nvSpPr>
        <p:spPr>
          <a:xfrm>
            <a:off x="304799" y="2018096"/>
            <a:ext cx="1878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sz="1400" b="1" spc="-10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Diretor Comercial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3639B0B-B668-830B-38C1-7EEFAE170D10}"/>
              </a:ext>
            </a:extLst>
          </p:cNvPr>
          <p:cNvSpPr txBox="1"/>
          <p:nvPr/>
        </p:nvSpPr>
        <p:spPr>
          <a:xfrm>
            <a:off x="3682849" y="2018096"/>
            <a:ext cx="2764790" cy="1602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spc="-10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Representante Comercial</a:t>
            </a:r>
          </a:p>
          <a:p>
            <a:endParaRPr lang="pt-BR" sz="800" b="1" spc="-10" dirty="0">
              <a:solidFill>
                <a:schemeClr val="tx2">
                  <a:lumMod val="50000"/>
                </a:schemeClr>
              </a:solidFill>
              <a:latin typeface="Georgia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pt-BR" sz="1200" spc="-10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Vinicius </a:t>
            </a:r>
            <a:r>
              <a:rPr lang="pt-BR" sz="1200" spc="-10" dirty="0" err="1">
                <a:solidFill>
                  <a:schemeClr val="tx2">
                    <a:lumMod val="50000"/>
                  </a:schemeClr>
                </a:solidFill>
                <a:latin typeface="Georgia"/>
              </a:rPr>
              <a:t>Franchescinni</a:t>
            </a:r>
            <a:endParaRPr lang="pt-BR" sz="1200" spc="-10" dirty="0">
              <a:solidFill>
                <a:schemeClr val="tx2">
                  <a:lumMod val="50000"/>
                </a:schemeClr>
              </a:solidFill>
              <a:latin typeface="Georgia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pt-BR" sz="1200" spc="-10" dirty="0">
                <a:solidFill>
                  <a:schemeClr val="tx2">
                    <a:lumMod val="50000"/>
                  </a:schemeClr>
                </a:solidFill>
                <a:latin typeface="Georgia"/>
              </a:rPr>
              <a:t>(11) 99960 3317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pt-BR" sz="1400" spc="-10" dirty="0">
                <a:solidFill>
                  <a:schemeClr val="tx2">
                    <a:lumMod val="50000"/>
                  </a:schemeClr>
                </a:solidFill>
                <a:latin typeface="Georgia"/>
                <a:hlinkClick r:id="rId4"/>
              </a:rPr>
              <a:t>comercial@allforpro.com.br</a:t>
            </a:r>
            <a:endParaRPr lang="pt-BR" sz="1400" spc="-10" dirty="0">
              <a:solidFill>
                <a:schemeClr val="tx2">
                  <a:lumMod val="50000"/>
                </a:schemeClr>
              </a:solidFill>
              <a:latin typeface="Georgia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pt-BR" sz="1200" spc="-10" dirty="0">
              <a:solidFill>
                <a:schemeClr val="tx2">
                  <a:lumMod val="50000"/>
                </a:schemeClr>
              </a:solidFill>
              <a:latin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1948</TotalTime>
  <Words>226</Words>
  <Application>Microsoft Office PowerPoint</Application>
  <PresentationFormat>Apresentação na tela (4:3)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Georgia</vt:lpstr>
      <vt:lpstr>Office Theme</vt:lpstr>
      <vt:lpstr>Proposta Comercial   Rastreabilidade e Gestão Automatizada dos Processos da CME  Hospital Santa Rita  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Marcelo HB</dc:creator>
  <cp:lastModifiedBy>Marcelo R Mergulhao</cp:lastModifiedBy>
  <cp:revision>22</cp:revision>
  <dcterms:created xsi:type="dcterms:W3CDTF">2024-12-06T18:50:39Z</dcterms:created>
  <dcterms:modified xsi:type="dcterms:W3CDTF">2026-02-03T20:46:21Z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2024-12-06T00:00:00Z</vt:filetime>
  </property>
  <property fmtid="{D5CDD505-2E9C-101B-9397-08002B2CF9AE}" pid="3" name="Creator">
    <vt:lpwstr>Acrobat PDFMaker 24 para Word</vt:lpwstr>
  </property>
  <property fmtid="{D5CDD505-2E9C-101B-9397-08002B2CF9AE}" pid="4" name="LastSaved">
    <vt:filetime>2024-12-06T00:00:00Z</vt:filetime>
  </property>
  <property fmtid="{D5CDD505-2E9C-101B-9397-08002B2CF9AE}" pid="5" name="Producer">
    <vt:lpwstr>Adobe PDF Library 24.4.48</vt:lpwstr>
  </property>
  <property fmtid="{D5CDD505-2E9C-101B-9397-08002B2CF9AE}" pid="6" name="SourceModified">
    <vt:lpwstr>D:20231012132143</vt:lpwstr>
  </property>
</Properties>
</file>